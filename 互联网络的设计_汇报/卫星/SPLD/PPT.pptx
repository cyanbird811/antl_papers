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492" r:id="rId3"/>
    <p:sldId id="910" r:id="rId5"/>
    <p:sldId id="977" r:id="rId6"/>
    <p:sldId id="779" r:id="rId7"/>
    <p:sldId id="961" r:id="rId8"/>
    <p:sldId id="978" r:id="rId9"/>
    <p:sldId id="963" r:id="rId10"/>
    <p:sldId id="992" r:id="rId11"/>
    <p:sldId id="993" r:id="rId12"/>
    <p:sldId id="960" r:id="rId13"/>
    <p:sldId id="964" r:id="rId14"/>
    <p:sldId id="972" r:id="rId15"/>
    <p:sldId id="967" r:id="rId16"/>
    <p:sldId id="966" r:id="rId17"/>
    <p:sldId id="968" r:id="rId18"/>
    <p:sldId id="979" r:id="rId19"/>
    <p:sldId id="980" r:id="rId20"/>
    <p:sldId id="529" r:id="rId21"/>
  </p:sldIdLst>
  <p:sldSz cx="9144000" cy="6858000" type="screen4x3"/>
  <p:notesSz cx="6797675" cy="9928225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B7"/>
    <a:srgbClr val="C7E6A4"/>
    <a:srgbClr val="FFA3A3"/>
    <a:srgbClr val="053CAF"/>
    <a:srgbClr val="FEE599"/>
    <a:srgbClr val="FFF6DB"/>
    <a:srgbClr val="FFF1C5"/>
    <a:srgbClr val="FFC000"/>
    <a:srgbClr val="F2F2F2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5" autoAdjust="0"/>
    <p:restoredTop sz="54086" autoAdjust="0"/>
  </p:normalViewPr>
  <p:slideViewPr>
    <p:cSldViewPr snapToGrid="0" showGuides="1">
      <p:cViewPr varScale="1">
        <p:scale>
          <a:sx n="60" d="100"/>
          <a:sy n="60" d="100"/>
        </p:scale>
        <p:origin x="2200" y="28"/>
      </p:cViewPr>
      <p:guideLst>
        <p:guide orient="horz" pos="215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3348"/>
    </p:cViewPr>
  </p:sorterViewPr>
  <p:notesViewPr>
    <p:cSldViewPr snapToGrid="0">
      <p:cViewPr varScale="1">
        <p:scale>
          <a:sx n="80" d="100"/>
          <a:sy n="80" d="100"/>
        </p:scale>
        <p:origin x="393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25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5CDEEC3-AA86-4C2E-BEE7-0C127A0CF13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wrap="square" lIns="91001" tIns="45501" rIns="91001" bIns="45501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3D7DEF6-35DE-4652-9850-A5B0D6DBBE1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2DF95E5-03E1-46AB-8A3B-FBE93B88DE3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001" tIns="45501" rIns="91001" bIns="4550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4813" cy="498475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wrap="square" lIns="91001" tIns="45501" rIns="91001" bIns="45501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78FAFC-6330-462F-9E09-54827C8D4DB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D4C0733-09B8-4133-A88A-73B616E8B6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汇报共分为四个部分：</a:t>
            </a:r>
            <a:endParaRPr lang="en-US" altLang="zh-CN" dirty="0"/>
          </a:p>
          <a:p>
            <a:pPr eaLnBrk="1" hangingPunct="1">
              <a:spcBef>
                <a:spcPct val="0"/>
              </a:spcBef>
            </a:pPr>
            <a:br>
              <a:rPr lang="zh-CN" altLang="en-US" dirty="0"/>
            </a:br>
            <a:r>
              <a:rPr lang="zh-CN" altLang="en-US" dirty="0"/>
              <a:t>第一部分介绍</a:t>
            </a:r>
            <a:r>
              <a:rPr lang="zh-CN" altLang="en-US" b="1" dirty="0"/>
              <a:t>研究背景与问题分析；</a:t>
            </a:r>
            <a:br>
              <a:rPr lang="zh-CN" altLang="en-US" b="1" dirty="0"/>
            </a:br>
            <a:r>
              <a:rPr lang="zh-CN" altLang="en-US" dirty="0"/>
              <a:t>第二部分讲解</a:t>
            </a:r>
            <a:r>
              <a:rPr lang="zh-CN" altLang="en-US" b="1" dirty="0"/>
              <a:t>该论文提出的 </a:t>
            </a:r>
            <a:r>
              <a:rPr lang="en-US" altLang="zh-CN" b="1" dirty="0"/>
              <a:t>DoTD </a:t>
            </a:r>
            <a:r>
              <a:rPr lang="zh-CN" altLang="en-US" b="1" dirty="0"/>
              <a:t>算法的建模与设计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第三部分展示</a:t>
            </a:r>
            <a:r>
              <a:rPr lang="zh-CN" altLang="en-US" b="1" dirty="0"/>
              <a:t>实验结果与性能分析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最后一部分给出</a:t>
            </a:r>
            <a:r>
              <a:rPr lang="zh-CN" altLang="en-US" b="1" dirty="0"/>
              <a:t>研究结论与未来展望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BCF9862-74F5-4192-835B-D554A7E516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/>
              <a:t>随着 </a:t>
            </a:r>
            <a:r>
              <a:rPr lang="en-US" altLang="zh-CN" dirty="0"/>
              <a:t>SpaceX </a:t>
            </a:r>
            <a:r>
              <a:rPr lang="zh-CN" altLang="en-US" dirty="0"/>
              <a:t>的 </a:t>
            </a:r>
            <a:r>
              <a:rPr lang="en-US" altLang="zh-CN" dirty="0"/>
              <a:t>Starlink </a:t>
            </a:r>
            <a:r>
              <a:rPr lang="zh-CN" altLang="en-US" dirty="0"/>
              <a:t>为首的星座系统发展，低轨卫星网络（</a:t>
            </a:r>
            <a:r>
              <a:rPr lang="en-US" altLang="zh-CN" dirty="0"/>
              <a:t>LEO</a:t>
            </a:r>
            <a:r>
              <a:rPr lang="zh-CN" altLang="en-US" dirty="0"/>
              <a:t>）正成为全球互联网覆盖的重要基础设施。</a:t>
            </a:r>
            <a:br>
              <a:rPr lang="zh-CN" altLang="en-US" dirty="0"/>
            </a:br>
            <a:r>
              <a:rPr lang="zh-CN" altLang="en-US" dirty="0"/>
              <a:t>当前，</a:t>
            </a:r>
            <a:r>
              <a:rPr lang="en-US" altLang="zh-CN" dirty="0"/>
              <a:t>Starlink</a:t>
            </a:r>
            <a:r>
              <a:rPr lang="zh-CN" altLang="en-US" dirty="0"/>
              <a:t>已部署约</a:t>
            </a:r>
            <a:r>
              <a:rPr lang="en-US" altLang="zh-CN" dirty="0"/>
              <a:t>8000</a:t>
            </a:r>
            <a:r>
              <a:rPr lang="zh-CN" altLang="en-US" dirty="0"/>
              <a:t>颗卫星，计划扩展至</a:t>
            </a:r>
            <a:r>
              <a:rPr lang="en-US" altLang="zh-CN" dirty="0"/>
              <a:t>42000</a:t>
            </a:r>
            <a:r>
              <a:rPr lang="zh-CN" altLang="en-US" dirty="0"/>
              <a:t>颗。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相较于地面</a:t>
            </a:r>
            <a:r>
              <a:rPr lang="en-US" altLang="zh-CN" dirty="0"/>
              <a:t>5G</a:t>
            </a:r>
            <a:r>
              <a:rPr lang="zh-CN" altLang="en-US" dirty="0"/>
              <a:t>，</a:t>
            </a:r>
            <a:r>
              <a:rPr lang="en-US" altLang="zh-CN" dirty="0"/>
              <a:t>LEO</a:t>
            </a:r>
            <a:r>
              <a:rPr lang="zh-CN" altLang="en-US" dirty="0"/>
              <a:t>具备三大优势：全球覆盖、成本较低、灵活组网，</a:t>
            </a:r>
            <a:br>
              <a:rPr lang="zh-CN" altLang="en-US" dirty="0"/>
            </a:br>
            <a:r>
              <a:rPr lang="zh-CN" altLang="en-US" dirty="0"/>
              <a:t>能有效解决偏远地区、海洋和极端环境的通信盲区。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但与此同时，</a:t>
            </a:r>
            <a:r>
              <a:rPr lang="en-US" altLang="zh-CN" dirty="0"/>
              <a:t>LEO</a:t>
            </a:r>
            <a:r>
              <a:rPr lang="zh-CN" altLang="en-US" dirty="0"/>
              <a:t>网络面临四大挑战：</a:t>
            </a:r>
            <a:br>
              <a:rPr lang="zh-CN" altLang="en-US" dirty="0"/>
            </a:b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b="1" dirty="0"/>
              <a:t>卫星高速运动导致拓扑高度动态化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b="1" dirty="0"/>
              <a:t>轨道参数不均让静态拓扑设计难以发挥全部效果</a:t>
            </a:r>
            <a:endParaRPr lang="en-US" altLang="zh-CN" b="1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链路几何和信道随时间变化，性能高度不确定。</a:t>
            </a:r>
            <a:endParaRPr lang="en-US" altLang="zh-CN" b="0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庞大星座规模使全局优化极其复杂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因此，如何在高速时变环境中，实现</a:t>
            </a:r>
            <a:r>
              <a:rPr lang="zh-CN" altLang="en-US" b="1" dirty="0"/>
              <a:t>实时、稳定且高性能</a:t>
            </a:r>
            <a:r>
              <a:rPr lang="zh-CN" altLang="en-US" dirty="0"/>
              <a:t>的动态拓扑优化，成为业界亟待解决的问题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55ED90-F719-4D30-A46D-BE985117B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dirty="0"/>
              <a:t>本文旨在同时实现三项优化目标：</a:t>
            </a:r>
            <a:br>
              <a:rPr lang="zh-CN" altLang="en-US" dirty="0"/>
            </a:br>
            <a:endParaRPr lang="en-US" altLang="zh-CN" dirty="0"/>
          </a:p>
          <a:p>
            <a:r>
              <a:rPr lang="zh-CN" altLang="en-US" b="1" dirty="0"/>
              <a:t>最大化网络容量、最小化端到端时延、降低链路波动率。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为此，我们提出 </a:t>
            </a:r>
            <a:r>
              <a:rPr lang="zh-CN" altLang="en-US" b="1" dirty="0"/>
              <a:t>基于动态时间扩展图（</a:t>
            </a:r>
            <a:r>
              <a:rPr lang="en-US" altLang="zh-CN" b="1" dirty="0"/>
              <a:t>DTEG</a:t>
            </a:r>
            <a:r>
              <a:rPr lang="zh-CN" altLang="en-US" b="1" dirty="0"/>
              <a:t>）的最优拓扑设计算法 </a:t>
            </a:r>
            <a:r>
              <a:rPr lang="en-US" altLang="zh-CN" b="1" dirty="0"/>
              <a:t>DoTD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通过时间域建模实现跨时隙的动态优化。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该论文的创新点主要集中在三个方面：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建立了多目标优化模型；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提出基于 </a:t>
            </a:r>
            <a:r>
              <a:rPr lang="en-US" altLang="zh-CN" dirty="0"/>
              <a:t>DTEG </a:t>
            </a:r>
            <a:r>
              <a:rPr lang="zh-CN" altLang="en-US" dirty="0"/>
              <a:t>的 </a:t>
            </a:r>
            <a:r>
              <a:rPr lang="en-US" altLang="zh-CN" dirty="0"/>
              <a:t>DoTD </a:t>
            </a:r>
            <a:r>
              <a:rPr lang="zh-CN" altLang="en-US" dirty="0"/>
              <a:t>算法；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将多目标函数转化为时间依赖的综合得分函数，实现拓扑的连续优化。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55ED90-F719-4D30-A46D-BE985117B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091" name="备注占位符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numCol="1" anchor="t" anchorCtr="0" compatLnSpc="1"/>
              <a:lstStyle/>
              <a:p>
                <a:r>
                  <a:rPr lang="zh-CN" altLang="en-US" dirty="0"/>
                  <a:t>我们首先根据核心目标，综合考虑容量、时延与链路波动，构建优化函数。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在这里，我们分别用蓝色，绿色和红色表示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因此，优化函数可以表示为，</a:t>
                </a:r>
                <a:endParaRPr lang="en-US" altLang="zh-CN" dirty="0"/>
              </a:p>
              <a:p>
                <a:r>
                  <a:rPr lang="zh-CN" altLang="en-US" dirty="0"/>
                  <a:t>对任意一颗卫星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，在其所有可能的邻接节点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中，选择能够带来最大综合收益的链路。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这里，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200" dirty="0"/>
                  <a:t> 表示两卫星在当前时刻的连接状态</a:t>
                </a:r>
                <a:r>
                  <a:rPr lang="en-US" altLang="zh-CN" sz="1200" dirty="0"/>
                  <a:t>	</a:t>
                </a:r>
                <a:endParaRPr lang="en-US" altLang="zh-CN" sz="12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20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1200" dirty="0"/>
                  <a:t>    表示某颗卫星的所有可能链路选择集合</a:t>
                </a:r>
                <a:endParaRPr lang="zh-CN" altLang="en-US" sz="12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同时，建立四类约束：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链路约束：</a:t>
                </a:r>
                <a:r>
                  <a:rPr lang="zh-CN" altLang="en-US" dirty="0"/>
                  <a:t>每颗卫星最多连接</a:t>
                </a:r>
                <a:r>
                  <a:rPr lang="en-US" altLang="zh-CN" dirty="0"/>
                  <a:t>U</a:t>
                </a:r>
                <a:r>
                  <a:rPr lang="zh-CN" altLang="en-US" dirty="0"/>
                  <a:t>条链路；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对称性约束：</a:t>
                </a:r>
                <a:r>
                  <a:rPr lang="zh-CN" altLang="en-US" dirty="0"/>
                  <a:t>通信链路双向一致，也就是说，可以互通；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可视性约束：</a:t>
                </a:r>
                <a:r>
                  <a:rPr lang="zh-CN" altLang="en-US" dirty="0"/>
                  <a:t>仰角高于大气层遮挡角；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距离约束：</a:t>
                </a:r>
                <a:r>
                  <a:rPr lang="zh-CN" altLang="en-US" dirty="0"/>
                  <a:t>两卫星之间的距离小于最大通信距离。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zh-CN" altLang="en-US" dirty="0"/>
              </a:p>
              <a:p>
                <a:r>
                  <a:rPr lang="zh-CN" altLang="en-US" dirty="0"/>
                  <a:t>这为后续的 </a:t>
                </a:r>
                <a:r>
                  <a:rPr lang="en-US" altLang="zh-CN" dirty="0"/>
                  <a:t>DoTD </a:t>
                </a:r>
                <a:r>
                  <a:rPr lang="zh-CN" altLang="en-US" dirty="0"/>
                  <a:t>算法优化提供了数学基础</a:t>
                </a:r>
                <a:endParaRPr lang="zh-CN" altLang="en-US" dirty="0"/>
              </a:p>
              <a:p>
                <a:pPr eaLnBrk="1" hangingPunct="1">
                  <a:spcBef>
                    <a:spcPct val="0"/>
                  </a:spcBef>
                </a:pPr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9091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blipFill rotWithShape="1">
                <a:blip r:embed="rId3"/>
                <a:stretch>
                  <a:fillRect b="-1254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55ED90-F719-4D30-A46D-BE985117B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091" name="备注占位符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numCol="1" anchor="t" anchorCtr="0" compatLnSpc="1"/>
              <a:lstStyle/>
              <a:p>
                <a:r>
                  <a:rPr lang="zh-CN" altLang="en-US" dirty="0"/>
                  <a:t>我们首先根据核心目标，综合考虑容量、时延与链路波动，构建优化函数。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在这里，我们分别用蓝色，绿色和红色表示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因此，优化函数可以表示为，</a:t>
                </a:r>
                <a:endParaRPr lang="en-US" altLang="zh-CN" dirty="0"/>
              </a:p>
              <a:p>
                <a:r>
                  <a:rPr lang="zh-CN" altLang="en-US" dirty="0"/>
                  <a:t>对任意一颗卫星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，在其所有可能的邻接节点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中，选择能够带来最大综合收益的链路。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这里，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200" dirty="0"/>
                  <a:t> 表示两卫星在当前时刻的连接状态</a:t>
                </a:r>
                <a:r>
                  <a:rPr lang="en-US" altLang="zh-CN" sz="1200" dirty="0"/>
                  <a:t>	</a:t>
                </a:r>
                <a:endParaRPr lang="en-US" altLang="zh-CN" sz="12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20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1200" dirty="0"/>
                  <a:t>    表示某颗卫星的所有可能链路选择集合</a:t>
                </a:r>
                <a:endParaRPr lang="zh-CN" altLang="en-US" sz="12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同时，建立四类约束：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链路约束：</a:t>
                </a:r>
                <a:r>
                  <a:rPr lang="zh-CN" altLang="en-US" dirty="0"/>
                  <a:t>每颗卫星最多连接</a:t>
                </a:r>
                <a:r>
                  <a:rPr lang="en-US" altLang="zh-CN" dirty="0"/>
                  <a:t>U</a:t>
                </a:r>
                <a:r>
                  <a:rPr lang="zh-CN" altLang="en-US" dirty="0"/>
                  <a:t>条链路；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对称性约束：</a:t>
                </a:r>
                <a:r>
                  <a:rPr lang="zh-CN" altLang="en-US" dirty="0"/>
                  <a:t>通信链路双向一致，也就是说，可以互通；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可视性约束：</a:t>
                </a:r>
                <a:r>
                  <a:rPr lang="zh-CN" altLang="en-US" dirty="0"/>
                  <a:t>仰角高于大气层遮挡角；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距离约束：</a:t>
                </a:r>
                <a:r>
                  <a:rPr lang="zh-CN" altLang="en-US" dirty="0"/>
                  <a:t>两卫星之间的距离小于最大通信距离。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zh-CN" altLang="en-US" dirty="0"/>
              </a:p>
              <a:p>
                <a:r>
                  <a:rPr lang="zh-CN" altLang="en-US" dirty="0"/>
                  <a:t>这为后续的 </a:t>
                </a:r>
                <a:r>
                  <a:rPr lang="en-US" altLang="zh-CN" dirty="0"/>
                  <a:t>DoTD </a:t>
                </a:r>
                <a:r>
                  <a:rPr lang="zh-CN" altLang="en-US" dirty="0"/>
                  <a:t>算法优化提供了数学基础</a:t>
                </a:r>
                <a:endParaRPr lang="zh-CN" altLang="en-US" dirty="0"/>
              </a:p>
              <a:p>
                <a:pPr eaLnBrk="1" hangingPunct="1">
                  <a:spcBef>
                    <a:spcPct val="0"/>
                  </a:spcBef>
                </a:pPr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9091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blipFill rotWithShape="1">
                <a:blip r:embed="rId3"/>
                <a:stretch>
                  <a:fillRect b="-1254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55ED90-F719-4D30-A46D-BE985117B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5225" y="1239838"/>
            <a:ext cx="4467225" cy="3351212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091" name="备注占位符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numCol="1" anchor="t" anchorCtr="0" compatLnSpc="1"/>
              <a:lstStyle/>
              <a:p>
                <a:r>
                  <a:rPr lang="zh-CN" altLang="en-US" dirty="0"/>
                  <a:t>我们首先根据核心目标，综合考虑容量、时延与链路波动，构建优化函数。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在这里，我们分别用蓝色，绿色和红色表示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因此，优化函数可以表示为，</a:t>
                </a:r>
                <a:endParaRPr lang="en-US" altLang="zh-CN" dirty="0"/>
              </a:p>
              <a:p>
                <a:r>
                  <a:rPr lang="zh-CN" altLang="en-US" dirty="0"/>
                  <a:t>对任意一颗卫星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，在其所有可能的邻接节点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中，选择能够带来最大综合收益的链路。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这里，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200" dirty="0"/>
                  <a:t> 表示两卫星在当前时刻的连接状态</a:t>
                </a:r>
                <a:r>
                  <a:rPr lang="en-US" altLang="zh-CN" sz="1200" dirty="0"/>
                  <a:t>	</a:t>
                </a:r>
                <a:endParaRPr lang="en-US" altLang="zh-CN" sz="12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20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1200" dirty="0"/>
                  <a:t>    表示某颗卫星的所有可能链路选择集合</a:t>
                </a:r>
                <a:endParaRPr lang="zh-CN" altLang="en-US" sz="1200" dirty="0"/>
              </a:p>
              <a:p>
                <a:endParaRPr lang="en-US" altLang="zh-CN" dirty="0"/>
              </a:p>
              <a:p>
                <a:r>
                  <a:rPr lang="zh-CN" altLang="en-US" dirty="0"/>
                  <a:t>同时，建立四类约束：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链路约束：</a:t>
                </a:r>
                <a:r>
                  <a:rPr lang="zh-CN" altLang="en-US" dirty="0"/>
                  <a:t>每颗卫星最多连接</a:t>
                </a:r>
                <a:r>
                  <a:rPr lang="en-US" altLang="zh-CN" dirty="0"/>
                  <a:t>U</a:t>
                </a:r>
                <a:r>
                  <a:rPr lang="zh-CN" altLang="en-US" dirty="0"/>
                  <a:t>条链路；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对称性约束：</a:t>
                </a:r>
                <a:r>
                  <a:rPr lang="zh-CN" altLang="en-US" dirty="0"/>
                  <a:t>通信链路双向一致，也就是说，可以互通；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可视性约束：</a:t>
                </a:r>
                <a:r>
                  <a:rPr lang="zh-CN" altLang="en-US" dirty="0"/>
                  <a:t>仰角高于大气层遮挡角；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距离约束：</a:t>
                </a:r>
                <a:r>
                  <a:rPr lang="zh-CN" altLang="en-US" dirty="0"/>
                  <a:t>两卫星之间的距离小于最大通信距离。</a:t>
                </a:r>
                <a:endParaRPr lang="en-US" altLang="zh-CN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zh-CN" altLang="en-US" dirty="0"/>
              </a:p>
              <a:p>
                <a:r>
                  <a:rPr lang="zh-CN" altLang="en-US" dirty="0"/>
                  <a:t>这为后续的 </a:t>
                </a:r>
                <a:r>
                  <a:rPr lang="en-US" altLang="zh-CN" dirty="0"/>
                  <a:t>DoTD </a:t>
                </a:r>
                <a:r>
                  <a:rPr lang="zh-CN" altLang="en-US" dirty="0"/>
                  <a:t>算法优化提供了数学基础</a:t>
                </a:r>
                <a:endParaRPr lang="zh-CN" altLang="en-US" dirty="0"/>
              </a:p>
              <a:p>
                <a:pPr eaLnBrk="1" hangingPunct="1">
                  <a:spcBef>
                    <a:spcPct val="0"/>
                  </a:spcBef>
                </a:pPr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9091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blipFill rotWithShape="1">
                <a:blip r:embed="rId3"/>
                <a:stretch>
                  <a:fillRect b="-1254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55ED90-F719-4D30-A46D-BE985117B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由于网络结构随时间变化，本文引入动态时间扩展图（</a:t>
                </a:r>
                <a:r>
                  <a:rPr lang="en-US" altLang="zh-CN" dirty="0"/>
                  <a:t>DTEG</a:t>
                </a:r>
                <a:r>
                  <a:rPr lang="zh-CN" altLang="en-US" dirty="0"/>
                  <a:t>）模型</a:t>
                </a:r>
                <a:endParaRPr lang="en-US" altLang="zh-CN" dirty="0"/>
              </a:p>
              <a:p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在 </a:t>
                </a:r>
                <a:r>
                  <a:rPr lang="en-US" altLang="zh-CN" dirty="0"/>
                  <a:t>DTEG </a:t>
                </a:r>
                <a:r>
                  <a:rPr lang="zh-CN" altLang="en-US" dirty="0"/>
                  <a:t>模型中，我们将每个时刻的卫星网络状态表示为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12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,"/>
                        <m:endChr m:val="}"/>
                        <m:ctrlPr>
                          <a:rPr lang="zh-CN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sSub>
                          <m:sSubPr>
                            <m:ctrlPr>
                              <a:rPr lang="zh-CN" altLang="en-US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，</a:t>
                </a:r>
                <a:br>
                  <a:rPr lang="zh-CN" altLang="en-US" dirty="0"/>
                </a:br>
                <a:r>
                  <a:rPr lang="zh-CN" altLang="en-US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𝑬</m:t>
                        </m:r>
                      </m:e>
                      <m:sub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dirty="0"/>
                  <a:t>​ </a:t>
                </a:r>
                <a:r>
                  <a:rPr lang="zh-CN" altLang="en-US" dirty="0"/>
                  <a:t>表示在时间段 </a:t>
                </a:r>
                <a14:m>
                  <m:oMath xmlns:m="http://schemas.openxmlformats.org/officeDocument/2006/math">
                    <m:r>
                      <a:rPr lang="en-US" altLang="zh-CN" sz="1200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2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τ</m:t>
                    </m:r>
                    <m:r>
                      <a:rPr lang="en-US" altLang="zh-CN" sz="12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dirty="0"/>
                  <a:t> 内可通信的卫星对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br>
                  <a:rPr lang="zh-CN" altLang="en-US" dirty="0"/>
                </a:br>
                <a:r>
                  <a:rPr lang="zh-CN" altLang="en-US" dirty="0"/>
                  <a:t>当我们把这种随时间变化的连接展开到时间轴上时，</a:t>
                </a:r>
                <a:br>
                  <a:rPr lang="zh-CN" altLang="en-US" dirty="0"/>
                </a:br>
                <a:r>
                  <a:rPr lang="zh-CN" altLang="en-US" dirty="0"/>
                  <a:t>卫星节点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的星间链路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就映射为 </a:t>
                </a:r>
                <a:r>
                  <a:rPr lang="en-US" altLang="zh-CN" dirty="0"/>
                  <a:t>DTEG </a:t>
                </a:r>
                <a:r>
                  <a:rPr lang="zh-CN" altLang="en-US" dirty="0"/>
                  <a:t>中一条跨层的空间链路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br>
                  <a:rPr lang="zh-CN" altLang="en-US" dirty="0"/>
                </a:br>
                <a:r>
                  <a:rPr lang="zh-CN" altLang="en-US" dirty="0"/>
                  <a:t>图中红色箭头就代表着这样的空间链路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br>
                  <a:rPr lang="zh-CN" altLang="en-US" dirty="0"/>
                </a:br>
                <a:r>
                  <a:rPr lang="zh-CN" altLang="en-US" dirty="0"/>
                  <a:t>最终，通过把连续时间层堆叠起来，我们得到一个时空联合的 </a:t>
                </a:r>
                <a:r>
                  <a:rPr lang="en-US" altLang="zh-CN" dirty="0"/>
                  <a:t>DTEG </a:t>
                </a:r>
                <a:r>
                  <a:rPr lang="zh-CN" altLang="en-US" dirty="0"/>
                  <a:t>模型，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r>
                  <a:rPr lang="zh-CN" altLang="en-US" dirty="0"/>
                  <a:t>该模型的优势在于：它能在统一框架下刻画拓扑的时间演化，为 </a:t>
                </a:r>
                <a:r>
                  <a:rPr lang="en-US" altLang="zh-CN" dirty="0"/>
                  <a:t>DoTD </a:t>
                </a:r>
                <a:r>
                  <a:rPr lang="zh-CN" altLang="en-US" dirty="0"/>
                  <a:t>的动态优化提供基础。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 </a:t>
                </a:r>
                <a:r>
                  <a:rPr lang="en-US" altLang="zh-CN" dirty="0"/>
                  <a:t>DTEG </a:t>
                </a:r>
                <a:r>
                  <a:rPr lang="zh-CN" altLang="en-US" dirty="0"/>
                  <a:t>建模基础上，</a:t>
                </a:r>
                <a:r>
                  <a:rPr lang="en-US" altLang="zh-CN" dirty="0"/>
                  <a:t>DoTD </a:t>
                </a:r>
                <a:r>
                  <a:rPr lang="zh-CN" altLang="en-US" dirty="0"/>
                  <a:t>将多目标优化问题转化为链路得分问题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以实现在扩展时间域内，通过动态规划优化拓扑</a:t>
                </a:r>
                <a:endParaRPr lang="zh-CN" alt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首先对容量、时延、波动率进行归一化处理，</a:t>
                </a:r>
                <a:endParaRPr lang="en-US" altLang="zh-CN" dirty="0"/>
              </a:p>
              <a:p>
                <a:r>
                  <a:rPr lang="zh-CN" altLang="en-US" dirty="0"/>
                  <a:t>确保不同指标在加权求和的过程中不会因为量纲不同而产生偏差。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这里，最大网络容量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zh-CN" altLang="en-US" sz="120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和最大网络时延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zh-CN" altLang="en-US" sz="120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在每一时刻都会更新</a:t>
                </a:r>
                <a:br>
                  <a:rPr lang="zh-CN" altLang="en-US" dirty="0"/>
                </a:br>
                <a:endParaRPr lang="en-US" altLang="zh-CN" dirty="0"/>
              </a:p>
              <a:p>
                <a:r>
                  <a:rPr lang="zh-CN" altLang="en-US" dirty="0"/>
                  <a:t>接着，我们定义链路得分函数，将原始的多目标优化问题，转化为链路的单一</a:t>
                </a:r>
                <a:r>
                  <a:rPr lang="zh-CN" altLang="en-US" b="1" dirty="0"/>
                  <a:t>得分</a:t>
                </a:r>
                <a:r>
                  <a:rPr lang="zh-CN" altLang="en-US" dirty="0"/>
                  <a:t>问题：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en-US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zh-CN" altLang="en-US" b="1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zh-CN" altLang="en-US" b="1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</m:acc>
                        </m:e>
                        <m:sub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得分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zh-CN" altLang="en-US" b="0" dirty="0">
                    <a:solidFill>
                      <a:schemeClr val="bg1">
                        <a:lumMod val="75000"/>
                      </a:schemeClr>
                    </a:solidFill>
                  </a:rPr>
                  <a:t>越大，则意味着</a:t>
                </a:r>
                <a:r>
                  <a:rPr lang="zh-CN" altLang="en-US" b="0" dirty="0"/>
                  <a:t>链路综合性能越好。</a:t>
                </a:r>
                <a:endParaRPr lang="zh-CN" altLang="en-US" b="0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 </a:t>
                </a:r>
                <a:r>
                  <a:rPr lang="en-US" altLang="zh-CN" dirty="0"/>
                  <a:t>DTEG </a:t>
                </a:r>
                <a:r>
                  <a:rPr lang="zh-CN" altLang="en-US" dirty="0"/>
                  <a:t>建模基础上，</a:t>
                </a:r>
                <a:r>
                  <a:rPr lang="en-US" altLang="zh-CN" dirty="0"/>
                  <a:t>DoTD </a:t>
                </a:r>
                <a:r>
                  <a:rPr lang="zh-CN" altLang="en-US" dirty="0"/>
                  <a:t>将多目标优化问题转化为链路得分问题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以实现在扩展时间域内，通过动态规划优化拓扑</a:t>
                </a:r>
                <a:endParaRPr lang="zh-CN" altLang="en-US" dirty="0"/>
              </a:p>
              <a:p>
                <a:endParaRPr lang="en-US" altLang="zh-CN" dirty="0"/>
              </a:p>
              <a:p>
                <a:r>
                  <a:rPr lang="zh-CN" altLang="en-US" dirty="0"/>
                  <a:t>首先对容量、时延、波动率进行归一化处理，</a:t>
                </a:r>
                <a:endParaRPr lang="en-US" altLang="zh-CN" dirty="0"/>
              </a:p>
              <a:p>
                <a:r>
                  <a:rPr lang="zh-CN" altLang="en-US" dirty="0"/>
                  <a:t>确保不同指标在加权求和的过程中不会因为量纲不同而产生偏差。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这里，最大网络容量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zh-CN" altLang="en-US" sz="120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和最大网络时延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zh-CN" altLang="en-US" sz="120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在每一时刻都会更新</a:t>
                </a:r>
                <a:br>
                  <a:rPr lang="zh-CN" altLang="en-US" dirty="0"/>
                </a:br>
                <a:endParaRPr lang="en-US" altLang="zh-CN" dirty="0"/>
              </a:p>
              <a:p>
                <a:r>
                  <a:rPr lang="zh-CN" altLang="en-US" dirty="0"/>
                  <a:t>接着，我们定义链路得分函数，将原始的多目标优化问题，转化为链路的单一</a:t>
                </a:r>
                <a:r>
                  <a:rPr lang="zh-CN" altLang="en-US" b="1" dirty="0"/>
                  <a:t>得分</a:t>
                </a:r>
                <a:r>
                  <a:rPr lang="zh-CN" altLang="en-US" dirty="0"/>
                  <a:t>问题：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en-US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zh-CN" altLang="en-US" b="1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zh-CN" altLang="en-US" b="1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b="1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b="1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</m:acc>
                        </m:e>
                        <m:sub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b="1" i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得分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  <a:r>
                  <a:rPr lang="zh-CN" altLang="en-US" b="0" dirty="0">
                    <a:solidFill>
                      <a:schemeClr val="bg1">
                        <a:lumMod val="75000"/>
                      </a:schemeClr>
                    </a:solidFill>
                  </a:rPr>
                  <a:t>越大，则意味着</a:t>
                </a:r>
                <a:r>
                  <a:rPr lang="zh-CN" altLang="en-US" b="0" dirty="0"/>
                  <a:t>链路综合性能越好。</a:t>
                </a:r>
                <a:endParaRPr lang="zh-CN" altLang="en-US" b="0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在实验中，我们用红色，黑色和黄色分别代表 </a:t>
            </a:r>
            <a:r>
              <a:rPr lang="en-US" altLang="zh-CN" dirty="0"/>
              <a:t>DoTD</a:t>
            </a:r>
            <a:r>
              <a:rPr lang="zh-CN" altLang="en-US" dirty="0"/>
              <a:t>，</a:t>
            </a:r>
            <a:r>
              <a:rPr lang="en-US" altLang="zh-CN" dirty="0"/>
              <a:t>Greedy</a:t>
            </a:r>
            <a:r>
              <a:rPr lang="zh-CN" altLang="en-US" dirty="0"/>
              <a:t>和</a:t>
            </a:r>
            <a:r>
              <a:rPr lang="en-US" altLang="zh-CN" dirty="0"/>
              <a:t>+Grid</a:t>
            </a:r>
            <a:r>
              <a:rPr lang="zh-CN" altLang="en-US" dirty="0"/>
              <a:t>算法的结果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本页中显示的实验</a:t>
            </a:r>
            <a:r>
              <a:rPr lang="en-US" altLang="zh-CN" dirty="0"/>
              <a:t>1</a:t>
            </a:r>
            <a:r>
              <a:rPr lang="zh-CN" altLang="en-US" dirty="0"/>
              <a:t>和实验</a:t>
            </a:r>
            <a:r>
              <a:rPr lang="en-US" altLang="zh-CN" dirty="0"/>
              <a:t>2</a:t>
            </a:r>
            <a:r>
              <a:rPr lang="zh-CN" altLang="en-US" dirty="0"/>
              <a:t>分别在纽约</a:t>
            </a:r>
            <a:r>
              <a:rPr lang="en-US" altLang="zh-CN" dirty="0"/>
              <a:t>-</a:t>
            </a:r>
            <a:r>
              <a:rPr lang="zh-CN" altLang="en-US" dirty="0"/>
              <a:t>旧金山与全球五组地面站场景下验证算法性能。</a:t>
            </a:r>
            <a:endParaRPr lang="zh-CN" altLang="en-US" dirty="0"/>
          </a:p>
          <a:p>
            <a:endParaRPr lang="en-US" altLang="zh-CN" b="1" dirty="0"/>
          </a:p>
          <a:p>
            <a:r>
              <a:rPr lang="zh-CN" altLang="en-US" b="1" dirty="0"/>
              <a:t>在实验</a:t>
            </a:r>
            <a:r>
              <a:rPr lang="en-US" altLang="zh-CN" b="1" dirty="0"/>
              <a:t>1</a:t>
            </a:r>
            <a:r>
              <a:rPr lang="zh-CN" altLang="en-US" dirty="0"/>
              <a:t>：</a:t>
            </a:r>
            <a:endParaRPr lang="zh-CN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DoTD </a:t>
            </a:r>
            <a:r>
              <a:rPr lang="zh-CN" altLang="en-US" dirty="0"/>
              <a:t>仅用 </a:t>
            </a:r>
            <a:r>
              <a:rPr lang="en-US" altLang="zh-CN" dirty="0"/>
              <a:t>5 </a:t>
            </a:r>
            <a:r>
              <a:rPr lang="zh-CN" altLang="en-US" dirty="0"/>
              <a:t>跳完成传输，</a:t>
            </a:r>
            <a:r>
              <a:rPr lang="en-US" altLang="zh-CN" dirty="0"/>
              <a:t>Greedy </a:t>
            </a:r>
            <a:r>
              <a:rPr lang="zh-CN" altLang="en-US" dirty="0"/>
              <a:t>为</a:t>
            </a:r>
            <a:r>
              <a:rPr lang="en-US" altLang="zh-CN" dirty="0"/>
              <a:t>6</a:t>
            </a:r>
            <a:r>
              <a:rPr lang="zh-CN" altLang="en-US" dirty="0"/>
              <a:t>跳，</a:t>
            </a:r>
            <a:r>
              <a:rPr lang="en-US" altLang="zh-CN" dirty="0"/>
              <a:t>+Grid</a:t>
            </a:r>
            <a:r>
              <a:rPr lang="zh-CN" altLang="en-US" dirty="0"/>
              <a:t>高达</a:t>
            </a:r>
            <a:r>
              <a:rPr lang="en-US" altLang="zh-CN" dirty="0"/>
              <a:t>22</a:t>
            </a:r>
            <a:r>
              <a:rPr lang="zh-CN" altLang="en-US" dirty="0"/>
              <a:t>跳。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这说明 </a:t>
            </a:r>
            <a:r>
              <a:rPr lang="en-US" altLang="zh-CN" dirty="0"/>
              <a:t>DoTD </a:t>
            </a:r>
            <a:r>
              <a:rPr lang="zh-CN" altLang="en-US" dirty="0"/>
              <a:t>能利用时间预测机制提前规划更优路径。</a:t>
            </a:r>
            <a:endParaRPr lang="zh-CN" altLang="en-US" dirty="0"/>
          </a:p>
          <a:p>
            <a:endParaRPr lang="en-US" altLang="zh-CN" b="1" dirty="0"/>
          </a:p>
          <a:p>
            <a:r>
              <a:rPr lang="zh-CN" altLang="en-US" b="1" dirty="0"/>
              <a:t>在实验</a:t>
            </a:r>
            <a:r>
              <a:rPr lang="en-US" altLang="zh-CN" b="1" dirty="0"/>
              <a:t>2</a:t>
            </a:r>
            <a:r>
              <a:rPr lang="zh-CN" altLang="en-US" dirty="0"/>
              <a:t>：</a:t>
            </a:r>
            <a:endParaRPr lang="zh-CN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平均跳数降低 </a:t>
            </a:r>
            <a:r>
              <a:rPr lang="en-US" altLang="zh-CN" dirty="0"/>
              <a:t>10.9% </a:t>
            </a:r>
            <a:r>
              <a:rPr lang="zh-CN" altLang="en-US" dirty="0"/>
              <a:t>以上，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时延降低一半以上（</a:t>
            </a:r>
            <a:r>
              <a:rPr lang="en-US" altLang="zh-CN" dirty="0"/>
              <a:t>4.2ms vs 9.9ms</a:t>
            </a:r>
            <a:r>
              <a:rPr lang="zh-CN" altLang="en-US" dirty="0"/>
              <a:t>），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容量提升约 </a:t>
            </a:r>
            <a:r>
              <a:rPr lang="en-US" altLang="zh-CN" dirty="0"/>
              <a:t>28%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这意味着</a:t>
            </a:r>
            <a:r>
              <a:rPr lang="en-US" altLang="zh-CN" dirty="0"/>
              <a:t>DoTD </a:t>
            </a:r>
            <a:r>
              <a:rPr lang="zh-CN" altLang="en-US" dirty="0"/>
              <a:t>在不同地面站分布下均保持稳定优势，验证了算法的</a:t>
            </a:r>
            <a:r>
              <a:rPr lang="zh-CN" altLang="en-US" b="1" dirty="0"/>
              <a:t>通用性</a:t>
            </a:r>
            <a:r>
              <a:rPr lang="zh-CN" altLang="en-US" dirty="0"/>
              <a:t>与</a:t>
            </a:r>
            <a:r>
              <a:rPr lang="zh-CN" altLang="en-US" b="1" dirty="0"/>
              <a:t>全局优化能力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第三组实验则关注链路稳定性。</a:t>
            </a:r>
            <a:br>
              <a:rPr lang="zh-CN" altLang="en-US" dirty="0"/>
            </a:b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3</a:t>
            </a:r>
            <a:r>
              <a:rPr lang="zh-CN" altLang="en-US" dirty="0"/>
              <a:t>小时</a:t>
            </a:r>
            <a:r>
              <a:rPr lang="en-US" altLang="zh-CN" dirty="0"/>
              <a:t>20</a:t>
            </a:r>
            <a:r>
              <a:rPr lang="zh-CN" altLang="en-US" dirty="0"/>
              <a:t>分钟的动态演化中，</a:t>
            </a:r>
            <a:r>
              <a:rPr lang="en-US" altLang="zh-CN" dirty="0"/>
              <a:t>DoTD </a:t>
            </a:r>
            <a:r>
              <a:rPr lang="zh-CN" altLang="en-US" dirty="0"/>
              <a:t>的链路重配置次数最少，保持时间最长。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相比之下，</a:t>
            </a:r>
            <a:r>
              <a:rPr lang="en-US" altLang="zh-CN" dirty="0"/>
              <a:t>Greedy </a:t>
            </a:r>
            <a:r>
              <a:rPr lang="zh-CN" altLang="en-US" dirty="0"/>
              <a:t>链路频繁断开，</a:t>
            </a:r>
            <a:r>
              <a:rPr lang="en-US" altLang="zh-CN" dirty="0"/>
              <a:t>Grid </a:t>
            </a:r>
            <a:r>
              <a:rPr lang="zh-CN" altLang="en-US" dirty="0"/>
              <a:t>固定连接难以适应时变轨道。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结果表明：</a:t>
            </a:r>
            <a:br>
              <a:rPr lang="zh-CN" altLang="en-US" dirty="0"/>
            </a:br>
            <a:r>
              <a:rPr lang="en-US" altLang="zh-CN" dirty="0"/>
              <a:t>DoTD </a:t>
            </a:r>
            <a:r>
              <a:rPr lang="zh-CN" altLang="en-US" dirty="0"/>
              <a:t>能在长时间演化中保持拓扑的时序连续性，</a:t>
            </a:r>
            <a:br>
              <a:rPr lang="zh-CN" altLang="en-US" dirty="0"/>
            </a:br>
            <a:r>
              <a:rPr lang="zh-CN" altLang="en-US" dirty="0"/>
              <a:t>展现出</a:t>
            </a:r>
            <a:r>
              <a:rPr lang="zh-CN" altLang="en-US" b="1" dirty="0"/>
              <a:t>更高的鲁棒性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综合三组实验：</a:t>
            </a:r>
            <a:endParaRPr lang="zh-CN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b="1" dirty="0"/>
              <a:t>实验</a:t>
            </a:r>
            <a:r>
              <a:rPr lang="en-US" altLang="zh-CN" b="1" dirty="0"/>
              <a:t>1</a:t>
            </a:r>
            <a:r>
              <a:rPr lang="zh-CN" altLang="en-US" b="1" dirty="0"/>
              <a:t>与</a:t>
            </a:r>
            <a:r>
              <a:rPr lang="en-US" altLang="zh-CN" b="1" dirty="0"/>
              <a:t>2</a:t>
            </a:r>
            <a:r>
              <a:rPr lang="zh-CN" altLang="en-US" dirty="0"/>
              <a:t>分别通过单场景和多场景验证 </a:t>
            </a:r>
            <a:r>
              <a:rPr lang="en-US" altLang="zh-CN" dirty="0"/>
              <a:t>DoTD </a:t>
            </a:r>
            <a:r>
              <a:rPr lang="zh-CN" altLang="en-US" b="1" dirty="0"/>
              <a:t>更快、更强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b="1" dirty="0"/>
              <a:t>实验</a:t>
            </a:r>
            <a:r>
              <a:rPr lang="en-US" altLang="zh-CN" b="1" dirty="0"/>
              <a:t>3</a:t>
            </a:r>
            <a:r>
              <a:rPr lang="zh-CN" altLang="en-US" dirty="0"/>
              <a:t>验证 </a:t>
            </a:r>
            <a:r>
              <a:rPr lang="en-US" altLang="zh-CN" dirty="0"/>
              <a:t>DoTD </a:t>
            </a:r>
            <a:r>
              <a:rPr lang="zh-CN" altLang="en-US" b="1" dirty="0"/>
              <a:t>更稳、更好</a:t>
            </a:r>
            <a:r>
              <a:rPr lang="zh-CN" altLang="en-US" dirty="0"/>
              <a:t>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总的来看，</a:t>
            </a:r>
            <a:endParaRPr lang="en-US" altLang="zh-CN" dirty="0"/>
          </a:p>
          <a:p>
            <a:r>
              <a:rPr lang="zh-CN" altLang="en-US" dirty="0"/>
              <a:t>本文提出的 </a:t>
            </a:r>
            <a:r>
              <a:rPr lang="en-US" altLang="zh-CN" dirty="0"/>
              <a:t>DoTD </a:t>
            </a:r>
            <a:r>
              <a:rPr lang="zh-CN" altLang="en-US" dirty="0"/>
              <a:t>算法在动态拓扑优化中实现了时间维度建模，</a:t>
            </a:r>
            <a:br>
              <a:rPr lang="zh-CN" altLang="en-US" dirty="0"/>
            </a:br>
            <a:r>
              <a:rPr lang="zh-CN" altLang="en-US" dirty="0"/>
              <a:t>能同时优化容量、时延与链路稳定性三个目标。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从结果来看，它的表现是“更快、更强、更稳”。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当然，</a:t>
            </a:r>
            <a:r>
              <a:rPr lang="en-US" altLang="zh-CN" dirty="0"/>
              <a:t>DoTD </a:t>
            </a:r>
            <a:r>
              <a:rPr lang="zh-CN" altLang="en-US" dirty="0"/>
              <a:t>也有改进空间：</a:t>
            </a:r>
            <a:br>
              <a:rPr lang="zh-CN" altLang="en-US" dirty="0"/>
            </a:br>
            <a:r>
              <a:rPr lang="zh-CN" altLang="en-US" dirty="0"/>
              <a:t>实时性仍受限于时间展开计算，</a:t>
            </a:r>
            <a:endParaRPr lang="en-US" altLang="zh-CN" dirty="0"/>
          </a:p>
          <a:p>
            <a:r>
              <a:rPr lang="zh-CN" altLang="en-US" dirty="0"/>
              <a:t>对轨道与时间建模依赖较强，</a:t>
            </a:r>
            <a:br>
              <a:rPr lang="zh-CN" altLang="en-US" dirty="0"/>
            </a:br>
            <a:r>
              <a:rPr lang="zh-CN" altLang="en-US" dirty="0"/>
              <a:t>参数调节目前仍为静态配置，尚未实现动态自适应。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因此，我认为未来可以从两方面进行优化：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一是 </a:t>
            </a:r>
            <a:r>
              <a:rPr lang="zh-CN" altLang="en-US" b="1" dirty="0"/>
              <a:t>引入学习型优化模型</a:t>
            </a:r>
            <a:r>
              <a:rPr lang="zh-CN" altLang="en-US" dirty="0"/>
              <a:t>，比如强化学习（</a:t>
            </a:r>
            <a:r>
              <a:rPr lang="en-US" altLang="zh-CN" dirty="0"/>
              <a:t>RL</a:t>
            </a:r>
            <a:r>
              <a:rPr lang="zh-CN" altLang="en-US" dirty="0"/>
              <a:t>）或图神经网络（</a:t>
            </a:r>
            <a:r>
              <a:rPr lang="en-US" altLang="zh-CN" dirty="0"/>
              <a:t>GNN</a:t>
            </a:r>
            <a:r>
              <a:rPr lang="zh-CN" altLang="en-US" dirty="0"/>
              <a:t>），</a:t>
            </a:r>
            <a:br>
              <a:rPr lang="zh-CN" altLang="en-US" dirty="0"/>
            </a:br>
            <a:r>
              <a:rPr lang="zh-CN" altLang="en-US" dirty="0"/>
              <a:t>让算法能够自主预测链路状态、动态调整权重，实现真正的自适应优化；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二是 </a:t>
            </a:r>
            <a:r>
              <a:rPr lang="zh-CN" altLang="en-US" b="1" dirty="0"/>
              <a:t>结合在线优化机制</a:t>
            </a:r>
            <a:r>
              <a:rPr lang="zh-CN" altLang="en-US" dirty="0"/>
              <a:t>，使拓扑结构能在实际运行中实时更新和快速重配置，</a:t>
            </a:r>
            <a:br>
              <a:rPr lang="zh-CN" altLang="en-US" dirty="0"/>
            </a:br>
            <a:r>
              <a:rPr lang="zh-CN" altLang="en-US" dirty="0"/>
              <a:t>提升算法的实用性与鲁棒性。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39838"/>
            <a:ext cx="4467225" cy="33512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我的汇报到此结束，感谢各位老师的聆听。</a:t>
            </a:r>
            <a:br>
              <a:rPr lang="zh-CN" altLang="en-US" dirty="0"/>
            </a:br>
            <a:endParaRPr lang="en-US" altLang="zh-CN" dirty="0"/>
          </a:p>
          <a:p>
            <a:r>
              <a:rPr lang="zh-CN" altLang="en-US" dirty="0"/>
              <a:t>请各位老师批评指正，谢谢！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78FAFC-6330-462F-9E09-54827C8D4D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7B82F0-07CA-419D-BB16-6C77708A8E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5F8D0-B74B-468E-AF70-C8137EBF48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 userDrawn="1"/>
        </p:nvGrpSpPr>
        <p:grpSpPr>
          <a:xfrm>
            <a:off x="2952748" y="6190161"/>
            <a:ext cx="3238504" cy="638606"/>
            <a:chOff x="2823631" y="6012361"/>
            <a:chExt cx="3238504" cy="638606"/>
          </a:xfrm>
        </p:grpSpPr>
        <p:sp>
          <p:nvSpPr>
            <p:cNvPr id="7" name="文本框 6"/>
            <p:cNvSpPr txBox="1"/>
            <p:nvPr userDrawn="1"/>
          </p:nvSpPr>
          <p:spPr>
            <a:xfrm>
              <a:off x="2823631" y="6012361"/>
              <a:ext cx="3238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8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先 进 网 络 技 术 实 验 室</a:t>
              </a:r>
              <a:endParaRPr lang="zh-CN" altLang="en-US" sz="1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8" name="文本框 7"/>
            <p:cNvSpPr txBox="1"/>
            <p:nvPr userDrawn="1"/>
          </p:nvSpPr>
          <p:spPr>
            <a:xfrm>
              <a:off x="2857499" y="6327802"/>
              <a:ext cx="315383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>
                  <a:solidFill>
                    <a:schemeClr val="bg1"/>
                  </a:solidFill>
                  <a:latin typeface="+mj-lt"/>
                  <a:ea typeface="幼圆" panose="02010509060101010101" pitchFamily="49" charset="-122"/>
                </a:rPr>
                <a:t>Advanced Networking</a:t>
              </a:r>
              <a:r>
                <a:rPr lang="en-US" altLang="zh-CN" sz="1500" baseline="0" dirty="0">
                  <a:solidFill>
                    <a:schemeClr val="bg1"/>
                  </a:solidFill>
                  <a:latin typeface="+mj-lt"/>
                  <a:ea typeface="幼圆" panose="02010509060101010101" pitchFamily="49" charset="-122"/>
                </a:rPr>
                <a:t> Technology Lab</a:t>
              </a:r>
              <a:endParaRPr lang="zh-CN" altLang="en-US" sz="1500" dirty="0">
                <a:solidFill>
                  <a:schemeClr val="bg1"/>
                </a:solidFill>
                <a:latin typeface="+mj-lt"/>
                <a:ea typeface="幼圆" panose="020105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4"/>
          <p:cNvSpPr txBox="1">
            <a:spLocks noChangeArrowheads="1"/>
          </p:cNvSpPr>
          <p:nvPr userDrawn="1"/>
        </p:nvSpPr>
        <p:spPr bwMode="auto">
          <a:xfrm>
            <a:off x="8433636" y="6450375"/>
            <a:ext cx="6466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CE710237-4019-4221-AB7E-E10BB3156E60}" type="slidenum">
              <a:rPr lang="en-US" altLang="zh-C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86862"/>
            <a:ext cx="7886700" cy="57695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rgbClr val="053CA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330200" y="963819"/>
            <a:ext cx="8483600" cy="0"/>
          </a:xfrm>
          <a:prstGeom prst="line">
            <a:avLst/>
          </a:prstGeom>
          <a:ln w="38100" cmpd="thickThin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2952748" y="6190161"/>
            <a:ext cx="3238504" cy="638606"/>
            <a:chOff x="2823631" y="6012361"/>
            <a:chExt cx="3238504" cy="638606"/>
          </a:xfrm>
        </p:grpSpPr>
        <p:sp>
          <p:nvSpPr>
            <p:cNvPr id="5" name="文本框 4"/>
            <p:cNvSpPr txBox="1"/>
            <p:nvPr userDrawn="1"/>
          </p:nvSpPr>
          <p:spPr>
            <a:xfrm>
              <a:off x="2823631" y="6012361"/>
              <a:ext cx="3238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8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先 进 网 络 技 术 实 验 室</a:t>
              </a:r>
              <a:endParaRPr lang="zh-CN" altLang="en-US" sz="18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6" name="文本框 5"/>
            <p:cNvSpPr txBox="1"/>
            <p:nvPr userDrawn="1"/>
          </p:nvSpPr>
          <p:spPr>
            <a:xfrm>
              <a:off x="2857499" y="6327802"/>
              <a:ext cx="315383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>
                  <a:solidFill>
                    <a:schemeClr val="bg1"/>
                  </a:solidFill>
                  <a:latin typeface="+mj-lt"/>
                  <a:ea typeface="幼圆" panose="02010509060101010101" pitchFamily="49" charset="-122"/>
                </a:rPr>
                <a:t>Advanced Networking</a:t>
              </a:r>
              <a:r>
                <a:rPr lang="en-US" altLang="zh-CN" sz="1500" baseline="0" dirty="0">
                  <a:solidFill>
                    <a:schemeClr val="bg1"/>
                  </a:solidFill>
                  <a:latin typeface="+mj-lt"/>
                  <a:ea typeface="幼圆" panose="02010509060101010101" pitchFamily="49" charset="-122"/>
                </a:rPr>
                <a:t> Technology Lab</a:t>
              </a:r>
              <a:endParaRPr lang="zh-CN" altLang="en-US" sz="1500" dirty="0">
                <a:solidFill>
                  <a:schemeClr val="bg1"/>
                </a:solidFill>
                <a:latin typeface="+mj-lt"/>
                <a:ea typeface="幼圆" panose="020105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2006204" y="2833689"/>
            <a:ext cx="850106" cy="113347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Freeform 5"/>
          <p:cNvSpPr>
            <a:spLocks noEditPoints="1"/>
          </p:cNvSpPr>
          <p:nvPr userDrawn="1"/>
        </p:nvSpPr>
        <p:spPr bwMode="auto">
          <a:xfrm>
            <a:off x="2119312" y="3144838"/>
            <a:ext cx="614363" cy="581025"/>
          </a:xfrm>
          <a:custGeom>
            <a:avLst/>
            <a:gdLst>
              <a:gd name="T0" fmla="*/ 2147483647 w 73"/>
              <a:gd name="T1" fmla="*/ 2147483647 h 51"/>
              <a:gd name="T2" fmla="*/ 2147483647 w 73"/>
              <a:gd name="T3" fmla="*/ 0 h 51"/>
              <a:gd name="T4" fmla="*/ 2147483647 w 73"/>
              <a:gd name="T5" fmla="*/ 2147483647 h 51"/>
              <a:gd name="T6" fmla="*/ 2147483647 w 73"/>
              <a:gd name="T7" fmla="*/ 2147483647 h 51"/>
              <a:gd name="T8" fmla="*/ 2147483647 w 73"/>
              <a:gd name="T9" fmla="*/ 2147483647 h 51"/>
              <a:gd name="T10" fmla="*/ 2147483647 w 73"/>
              <a:gd name="T11" fmla="*/ 2147483647 h 51"/>
              <a:gd name="T12" fmla="*/ 2147483647 w 73"/>
              <a:gd name="T13" fmla="*/ 2147483647 h 51"/>
              <a:gd name="T14" fmla="*/ 2147483647 w 73"/>
              <a:gd name="T15" fmla="*/ 2147483647 h 51"/>
              <a:gd name="T16" fmla="*/ 2147483647 w 73"/>
              <a:gd name="T17" fmla="*/ 2147483647 h 51"/>
              <a:gd name="T18" fmla="*/ 2147483647 w 73"/>
              <a:gd name="T19" fmla="*/ 2147483647 h 51"/>
              <a:gd name="T20" fmla="*/ 2147483647 w 73"/>
              <a:gd name="T21" fmla="*/ 2147483647 h 51"/>
              <a:gd name="T22" fmla="*/ 2147483647 w 73"/>
              <a:gd name="T23" fmla="*/ 2147483647 h 51"/>
              <a:gd name="T24" fmla="*/ 2147483647 w 73"/>
              <a:gd name="T25" fmla="*/ 2147483647 h 51"/>
              <a:gd name="T26" fmla="*/ 2147483647 w 73"/>
              <a:gd name="T27" fmla="*/ 2147483647 h 51"/>
              <a:gd name="T28" fmla="*/ 2147483647 w 73"/>
              <a:gd name="T29" fmla="*/ 2147483647 h 51"/>
              <a:gd name="T30" fmla="*/ 2147483647 w 73"/>
              <a:gd name="T31" fmla="*/ 2147483647 h 51"/>
              <a:gd name="T32" fmla="*/ 2147483647 w 73"/>
              <a:gd name="T33" fmla="*/ 2147483647 h 51"/>
              <a:gd name="T34" fmla="*/ 2147483647 w 73"/>
              <a:gd name="T35" fmla="*/ 2147483647 h 51"/>
              <a:gd name="T36" fmla="*/ 2147483647 w 73"/>
              <a:gd name="T37" fmla="*/ 2147483647 h 51"/>
              <a:gd name="T38" fmla="*/ 2147483647 w 73"/>
              <a:gd name="T39" fmla="*/ 2147483647 h 51"/>
              <a:gd name="T40" fmla="*/ 2147483647 w 73"/>
              <a:gd name="T41" fmla="*/ 2147483647 h 51"/>
              <a:gd name="T42" fmla="*/ 2147483647 w 73"/>
              <a:gd name="T43" fmla="*/ 2147483647 h 51"/>
              <a:gd name="T44" fmla="*/ 2147483647 w 73"/>
              <a:gd name="T45" fmla="*/ 2147483647 h 51"/>
              <a:gd name="T46" fmla="*/ 2147483647 w 73"/>
              <a:gd name="T47" fmla="*/ 2147483647 h 51"/>
              <a:gd name="T48" fmla="*/ 2147483647 w 73"/>
              <a:gd name="T49" fmla="*/ 2147483647 h 51"/>
              <a:gd name="T50" fmla="*/ 2147483647 w 73"/>
              <a:gd name="T51" fmla="*/ 2147483647 h 51"/>
              <a:gd name="T52" fmla="*/ 2147483647 w 73"/>
              <a:gd name="T53" fmla="*/ 2147483647 h 51"/>
              <a:gd name="T54" fmla="*/ 2147483647 w 73"/>
              <a:gd name="T55" fmla="*/ 2147483647 h 51"/>
              <a:gd name="T56" fmla="*/ 2147483647 w 73"/>
              <a:gd name="T57" fmla="*/ 2147483647 h 51"/>
              <a:gd name="T58" fmla="*/ 2147483647 w 73"/>
              <a:gd name="T59" fmla="*/ 2147483647 h 51"/>
              <a:gd name="T60" fmla="*/ 2147483647 w 73"/>
              <a:gd name="T61" fmla="*/ 2147483647 h 51"/>
              <a:gd name="T62" fmla="*/ 2147483647 w 73"/>
              <a:gd name="T63" fmla="*/ 2147483647 h 51"/>
              <a:gd name="T64" fmla="*/ 2147483647 w 73"/>
              <a:gd name="T65" fmla="*/ 2147483647 h 51"/>
              <a:gd name="T66" fmla="*/ 2147483647 w 73"/>
              <a:gd name="T67" fmla="*/ 2147483647 h 51"/>
              <a:gd name="T68" fmla="*/ 2147483647 w 73"/>
              <a:gd name="T69" fmla="*/ 2147483647 h 51"/>
              <a:gd name="T70" fmla="*/ 2147483647 w 73"/>
              <a:gd name="T71" fmla="*/ 2147483647 h 51"/>
              <a:gd name="T72" fmla="*/ 0 w 73"/>
              <a:gd name="T73" fmla="*/ 2147483647 h 51"/>
              <a:gd name="T74" fmla="*/ 0 w 73"/>
              <a:gd name="T75" fmla="*/ 2147483647 h 51"/>
              <a:gd name="T76" fmla="*/ 2147483647 w 73"/>
              <a:gd name="T77" fmla="*/ 2147483647 h 51"/>
              <a:gd name="T78" fmla="*/ 2147483647 w 73"/>
              <a:gd name="T79" fmla="*/ 2147483647 h 51"/>
              <a:gd name="T80" fmla="*/ 2147483647 w 73"/>
              <a:gd name="T81" fmla="*/ 2147483647 h 51"/>
              <a:gd name="T82" fmla="*/ 2147483647 w 73"/>
              <a:gd name="T83" fmla="*/ 2147483647 h 51"/>
              <a:gd name="T84" fmla="*/ 2147483647 w 73"/>
              <a:gd name="T85" fmla="*/ 2147483647 h 51"/>
              <a:gd name="T86" fmla="*/ 2147483647 w 73"/>
              <a:gd name="T87" fmla="*/ 2147483647 h 51"/>
              <a:gd name="T88" fmla="*/ 2147483647 w 73"/>
              <a:gd name="T89" fmla="*/ 2147483647 h 51"/>
              <a:gd name="T90" fmla="*/ 2147483647 w 73"/>
              <a:gd name="T91" fmla="*/ 2147483647 h 51"/>
              <a:gd name="T92" fmla="*/ 2147483647 w 73"/>
              <a:gd name="T93" fmla="*/ 2147483647 h 51"/>
              <a:gd name="T94" fmla="*/ 2147483647 w 73"/>
              <a:gd name="T95" fmla="*/ 2147483647 h 51"/>
              <a:gd name="T96" fmla="*/ 2147483647 w 73"/>
              <a:gd name="T97" fmla="*/ 2147483647 h 51"/>
              <a:gd name="T98" fmla="*/ 2147483647 w 73"/>
              <a:gd name="T99" fmla="*/ 2147483647 h 51"/>
              <a:gd name="T100" fmla="*/ 2147483647 w 73"/>
              <a:gd name="T101" fmla="*/ 2147483647 h 51"/>
              <a:gd name="T102" fmla="*/ 2147483647 w 73"/>
              <a:gd name="T103" fmla="*/ 2147483647 h 51"/>
              <a:gd name="T104" fmla="*/ 2147483647 w 73"/>
              <a:gd name="T105" fmla="*/ 2147483647 h 51"/>
              <a:gd name="T106" fmla="*/ 2147483647 w 73"/>
              <a:gd name="T107" fmla="*/ 2147483647 h 51"/>
              <a:gd name="T108" fmla="*/ 2147483647 w 73"/>
              <a:gd name="T109" fmla="*/ 2147483647 h 51"/>
              <a:gd name="T110" fmla="*/ 2147483647 w 73"/>
              <a:gd name="T111" fmla="*/ 2147483647 h 51"/>
              <a:gd name="T112" fmla="*/ 2147483647 w 73"/>
              <a:gd name="T113" fmla="*/ 2147483647 h 51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73" h="51">
                <a:moveTo>
                  <a:pt x="9" y="15"/>
                </a:moveTo>
                <a:cubicBezTo>
                  <a:pt x="25" y="10"/>
                  <a:pt x="40" y="5"/>
                  <a:pt x="56" y="0"/>
                </a:cubicBezTo>
                <a:cubicBezTo>
                  <a:pt x="52" y="13"/>
                  <a:pt x="52" y="26"/>
                  <a:pt x="56" y="40"/>
                </a:cubicBezTo>
                <a:cubicBezTo>
                  <a:pt x="24" y="31"/>
                  <a:pt x="24" y="31"/>
                  <a:pt x="24" y="31"/>
                </a:cubicBezTo>
                <a:cubicBezTo>
                  <a:pt x="25" y="37"/>
                  <a:pt x="26" y="42"/>
                  <a:pt x="28" y="48"/>
                </a:cubicBezTo>
                <a:cubicBezTo>
                  <a:pt x="25" y="50"/>
                  <a:pt x="22" y="51"/>
                  <a:pt x="18" y="51"/>
                </a:cubicBezTo>
                <a:cubicBezTo>
                  <a:pt x="15" y="44"/>
                  <a:pt x="13" y="36"/>
                  <a:pt x="13" y="28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3"/>
                  <a:pt x="9" y="19"/>
                  <a:pt x="9" y="15"/>
                </a:cubicBezTo>
                <a:close/>
                <a:moveTo>
                  <a:pt x="71" y="31"/>
                </a:moveTo>
                <a:cubicBezTo>
                  <a:pt x="72" y="32"/>
                  <a:pt x="73" y="34"/>
                  <a:pt x="73" y="35"/>
                </a:cubicBezTo>
                <a:cubicBezTo>
                  <a:pt x="72" y="37"/>
                  <a:pt x="70" y="38"/>
                  <a:pt x="68" y="37"/>
                </a:cubicBezTo>
                <a:cubicBezTo>
                  <a:pt x="61" y="35"/>
                  <a:pt x="61" y="35"/>
                  <a:pt x="61" y="35"/>
                </a:cubicBezTo>
                <a:cubicBezTo>
                  <a:pt x="59" y="34"/>
                  <a:pt x="58" y="32"/>
                  <a:pt x="59" y="31"/>
                </a:cubicBezTo>
                <a:cubicBezTo>
                  <a:pt x="59" y="29"/>
                  <a:pt x="61" y="28"/>
                  <a:pt x="63" y="29"/>
                </a:cubicBezTo>
                <a:cubicBezTo>
                  <a:pt x="71" y="31"/>
                  <a:pt x="71" y="31"/>
                  <a:pt x="71" y="31"/>
                </a:cubicBezTo>
                <a:close/>
                <a:moveTo>
                  <a:pt x="63" y="10"/>
                </a:moveTo>
                <a:cubicBezTo>
                  <a:pt x="61" y="11"/>
                  <a:pt x="59" y="10"/>
                  <a:pt x="59" y="8"/>
                </a:cubicBezTo>
                <a:cubicBezTo>
                  <a:pt x="58" y="6"/>
                  <a:pt x="59" y="4"/>
                  <a:pt x="61" y="4"/>
                </a:cubicBezTo>
                <a:cubicBezTo>
                  <a:pt x="68" y="1"/>
                  <a:pt x="68" y="1"/>
                  <a:pt x="68" y="1"/>
                </a:cubicBezTo>
                <a:cubicBezTo>
                  <a:pt x="70" y="1"/>
                  <a:pt x="72" y="2"/>
                  <a:pt x="73" y="3"/>
                </a:cubicBezTo>
                <a:cubicBezTo>
                  <a:pt x="73" y="5"/>
                  <a:pt x="72" y="7"/>
                  <a:pt x="71" y="8"/>
                </a:cubicBezTo>
                <a:cubicBezTo>
                  <a:pt x="63" y="10"/>
                  <a:pt x="63" y="10"/>
                  <a:pt x="63" y="10"/>
                </a:cubicBezTo>
                <a:close/>
                <a:moveTo>
                  <a:pt x="63" y="23"/>
                </a:moveTo>
                <a:cubicBezTo>
                  <a:pt x="61" y="23"/>
                  <a:pt x="59" y="21"/>
                  <a:pt x="59" y="19"/>
                </a:cubicBezTo>
                <a:cubicBezTo>
                  <a:pt x="59" y="17"/>
                  <a:pt x="61" y="16"/>
                  <a:pt x="63" y="16"/>
                </a:cubicBezTo>
                <a:cubicBezTo>
                  <a:pt x="70" y="16"/>
                  <a:pt x="70" y="16"/>
                  <a:pt x="70" y="16"/>
                </a:cubicBezTo>
                <a:cubicBezTo>
                  <a:pt x="72" y="16"/>
                  <a:pt x="73" y="17"/>
                  <a:pt x="73" y="19"/>
                </a:cubicBezTo>
                <a:cubicBezTo>
                  <a:pt x="73" y="21"/>
                  <a:pt x="72" y="23"/>
                  <a:pt x="70" y="23"/>
                </a:cubicBezTo>
                <a:cubicBezTo>
                  <a:pt x="63" y="23"/>
                  <a:pt x="63" y="23"/>
                  <a:pt x="63" y="23"/>
                </a:cubicBezTo>
                <a:close/>
                <a:moveTo>
                  <a:pt x="1" y="14"/>
                </a:moveTo>
                <a:cubicBezTo>
                  <a:pt x="5" y="14"/>
                  <a:pt x="5" y="14"/>
                  <a:pt x="5" y="14"/>
                </a:cubicBezTo>
                <a:cubicBezTo>
                  <a:pt x="6" y="14"/>
                  <a:pt x="6" y="15"/>
                  <a:pt x="6" y="15"/>
                </a:cubicBezTo>
                <a:cubicBezTo>
                  <a:pt x="6" y="27"/>
                  <a:pt x="6" y="27"/>
                  <a:pt x="6" y="27"/>
                </a:cubicBezTo>
                <a:cubicBezTo>
                  <a:pt x="6" y="28"/>
                  <a:pt x="6" y="28"/>
                  <a:pt x="5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7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4"/>
                  <a:pt x="1" y="14"/>
                </a:cubicBezTo>
                <a:close/>
                <a:moveTo>
                  <a:pt x="20" y="33"/>
                </a:moveTo>
                <a:cubicBezTo>
                  <a:pt x="21" y="35"/>
                  <a:pt x="21" y="38"/>
                  <a:pt x="21" y="40"/>
                </a:cubicBezTo>
                <a:cubicBezTo>
                  <a:pt x="22" y="42"/>
                  <a:pt x="22" y="44"/>
                  <a:pt x="23" y="46"/>
                </a:cubicBezTo>
                <a:cubicBezTo>
                  <a:pt x="23" y="46"/>
                  <a:pt x="24" y="47"/>
                  <a:pt x="25" y="47"/>
                </a:cubicBezTo>
                <a:cubicBezTo>
                  <a:pt x="26" y="46"/>
                  <a:pt x="26" y="45"/>
                  <a:pt x="26" y="45"/>
                </a:cubicBezTo>
                <a:cubicBezTo>
                  <a:pt x="25" y="43"/>
                  <a:pt x="24" y="41"/>
                  <a:pt x="24" y="39"/>
                </a:cubicBezTo>
                <a:cubicBezTo>
                  <a:pt x="24" y="37"/>
                  <a:pt x="23" y="35"/>
                  <a:pt x="23" y="33"/>
                </a:cubicBezTo>
                <a:cubicBezTo>
                  <a:pt x="23" y="32"/>
                  <a:pt x="23" y="32"/>
                  <a:pt x="22" y="32"/>
                </a:cubicBezTo>
                <a:cubicBezTo>
                  <a:pt x="21" y="32"/>
                  <a:pt x="20" y="32"/>
                  <a:pt x="20" y="33"/>
                </a:cubicBezTo>
                <a:close/>
                <a:moveTo>
                  <a:pt x="46" y="7"/>
                </a:moveTo>
                <a:cubicBezTo>
                  <a:pt x="45" y="12"/>
                  <a:pt x="45" y="16"/>
                  <a:pt x="45" y="20"/>
                </a:cubicBezTo>
                <a:cubicBezTo>
                  <a:pt x="45" y="25"/>
                  <a:pt x="45" y="29"/>
                  <a:pt x="46" y="33"/>
                </a:cubicBezTo>
                <a:cubicBezTo>
                  <a:pt x="47" y="34"/>
                  <a:pt x="48" y="35"/>
                  <a:pt x="48" y="34"/>
                </a:cubicBezTo>
                <a:cubicBezTo>
                  <a:pt x="49" y="34"/>
                  <a:pt x="50" y="33"/>
                  <a:pt x="50" y="32"/>
                </a:cubicBezTo>
                <a:cubicBezTo>
                  <a:pt x="49" y="28"/>
                  <a:pt x="48" y="24"/>
                  <a:pt x="48" y="20"/>
                </a:cubicBezTo>
                <a:cubicBezTo>
                  <a:pt x="48" y="16"/>
                  <a:pt x="49" y="12"/>
                  <a:pt x="50" y="8"/>
                </a:cubicBezTo>
                <a:cubicBezTo>
                  <a:pt x="50" y="7"/>
                  <a:pt x="49" y="6"/>
                  <a:pt x="48" y="6"/>
                </a:cubicBezTo>
                <a:cubicBezTo>
                  <a:pt x="48" y="6"/>
                  <a:pt x="47" y="6"/>
                  <a:pt x="46" y="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31" b="21196"/>
          <a:stretch>
            <a:fillRect/>
          </a:stretch>
        </p:blipFill>
        <p:spPr bwMode="auto">
          <a:xfrm>
            <a:off x="0" y="1624014"/>
            <a:ext cx="9144000" cy="361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-30956" y="1624014"/>
            <a:ext cx="9179719" cy="3614737"/>
          </a:xfrm>
          <a:prstGeom prst="rect">
            <a:avLst/>
          </a:prstGeom>
          <a:gradFill flip="none" rotWithShape="1">
            <a:gsLst>
              <a:gs pos="0">
                <a:srgbClr val="053CAF">
                  <a:shade val="30000"/>
                  <a:satMod val="115000"/>
                </a:srgbClr>
              </a:gs>
              <a:gs pos="50000">
                <a:srgbClr val="053CAF">
                  <a:shade val="67500"/>
                  <a:satMod val="115000"/>
                </a:srgbClr>
              </a:gs>
              <a:gs pos="100000">
                <a:srgbClr val="053CAF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8"/>
          <a:stretch>
            <a:fillRect/>
          </a:stretch>
        </p:blipFill>
        <p:spPr bwMode="auto">
          <a:xfrm>
            <a:off x="0" y="6421439"/>
            <a:ext cx="9158288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 userDrawn="1"/>
        </p:nvSpPr>
        <p:spPr>
          <a:xfrm>
            <a:off x="4451747" y="6510339"/>
            <a:ext cx="251222" cy="333375"/>
          </a:xfrm>
          <a:prstGeom prst="ellipse">
            <a:avLst/>
          </a:prstGeom>
          <a:solidFill>
            <a:srgbClr val="075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文本框 4"/>
          <p:cNvSpPr txBox="1">
            <a:spLocks noChangeArrowheads="1"/>
          </p:cNvSpPr>
          <p:nvPr userDrawn="1"/>
        </p:nvSpPr>
        <p:spPr bwMode="auto">
          <a:xfrm>
            <a:off x="4039791" y="6488113"/>
            <a:ext cx="1095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A5019797-2D32-40E8-B7D6-DE3365972C4A}" type="slidenum">
              <a:rPr lang="en-US" altLang="zh-CN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039791" y="6677025"/>
            <a:ext cx="390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4727972" y="6677025"/>
            <a:ext cx="390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" y="582614"/>
            <a:ext cx="350044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623699"/>
            <a:ext cx="7886700" cy="393810"/>
          </a:xfrm>
          <a:prstGeom prst="rect">
            <a:avLst/>
          </a:prstGeom>
        </p:spPr>
        <p:txBody>
          <a:bodyPr/>
          <a:lstStyle>
            <a:lvl1pPr>
              <a:defRPr sz="1650" b="1">
                <a:solidFill>
                  <a:srgbClr val="064ED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28650" y="1569494"/>
            <a:ext cx="7886700" cy="454873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5645859" y="30711"/>
            <a:ext cx="3642078" cy="532149"/>
            <a:chOff x="5645859" y="30711"/>
            <a:chExt cx="3642078" cy="532149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6241522" y="30711"/>
              <a:ext cx="3046415" cy="532149"/>
              <a:chOff x="2857499" y="6054696"/>
              <a:chExt cx="3263903" cy="515292"/>
            </a:xfrm>
          </p:grpSpPr>
          <p:sp>
            <p:nvSpPr>
              <p:cNvPr id="13" name="文本框 12"/>
              <p:cNvSpPr txBox="1"/>
              <p:nvPr userDrawn="1"/>
            </p:nvSpPr>
            <p:spPr>
              <a:xfrm>
                <a:off x="2882898" y="6054696"/>
                <a:ext cx="3238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先 进 网 络 技 术 实 验 室</a:t>
                </a:r>
                <a:endParaRPr lang="zh-CN" altLang="en-US" sz="1600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4" name="文本框 13"/>
              <p:cNvSpPr txBox="1"/>
              <p:nvPr userDrawn="1"/>
            </p:nvSpPr>
            <p:spPr>
              <a:xfrm>
                <a:off x="2857499" y="6262211"/>
                <a:ext cx="315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tx1"/>
                    </a:solidFill>
                    <a:latin typeface="+mj-lt"/>
                    <a:ea typeface="幼圆" panose="02010509060101010101" pitchFamily="49" charset="-122"/>
                  </a:rPr>
                  <a:t>Advanced Networking</a:t>
                </a:r>
                <a:r>
                  <a:rPr lang="en-US" altLang="zh-CN" sz="1400" baseline="0" dirty="0">
                    <a:solidFill>
                      <a:schemeClr val="tx1"/>
                    </a:solidFill>
                    <a:latin typeface="+mj-lt"/>
                    <a:ea typeface="幼圆" panose="02010509060101010101" pitchFamily="49" charset="-122"/>
                  </a:rPr>
                  <a:t> Technology Lab</a:t>
                </a:r>
                <a:endParaRPr lang="zh-CN" altLang="en-US" sz="1400" dirty="0">
                  <a:solidFill>
                    <a:schemeClr val="tx1"/>
                  </a:solidFill>
                  <a:latin typeface="+mj-lt"/>
                  <a:ea typeface="幼圆" panose="02010509060101010101" pitchFamily="49" charset="-122"/>
                </a:endParaRPr>
              </a:p>
            </p:txBody>
          </p:sp>
        </p:grpSp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5859" y="88557"/>
              <a:ext cx="637998" cy="44548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8"/>
          <a:stretch>
            <a:fillRect/>
          </a:stretch>
        </p:blipFill>
        <p:spPr bwMode="auto">
          <a:xfrm>
            <a:off x="0" y="6421439"/>
            <a:ext cx="9158288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椭圆 2"/>
          <p:cNvSpPr/>
          <p:nvPr userDrawn="1"/>
        </p:nvSpPr>
        <p:spPr>
          <a:xfrm>
            <a:off x="4451747" y="6510339"/>
            <a:ext cx="251222" cy="333375"/>
          </a:xfrm>
          <a:prstGeom prst="ellipse">
            <a:avLst/>
          </a:prstGeom>
          <a:solidFill>
            <a:srgbClr val="075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4"/>
          <p:cNvSpPr txBox="1">
            <a:spLocks noChangeArrowheads="1"/>
          </p:cNvSpPr>
          <p:nvPr userDrawn="1"/>
        </p:nvSpPr>
        <p:spPr bwMode="auto">
          <a:xfrm>
            <a:off x="4039791" y="6488113"/>
            <a:ext cx="1095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681F3009-D47D-44AD-8065-D14F30DC0062}" type="slidenum">
              <a:rPr lang="en-US" altLang="zh-CN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039791" y="6677025"/>
            <a:ext cx="390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4727972" y="6677025"/>
            <a:ext cx="390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" y="469901"/>
            <a:ext cx="350044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 userDrawn="1"/>
        </p:nvGrpSpPr>
        <p:grpSpPr>
          <a:xfrm>
            <a:off x="5645859" y="30711"/>
            <a:ext cx="3642078" cy="532149"/>
            <a:chOff x="5645859" y="30711"/>
            <a:chExt cx="3642078" cy="532149"/>
          </a:xfrm>
        </p:grpSpPr>
        <p:grpSp>
          <p:nvGrpSpPr>
            <p:cNvPr id="9" name="组合 8"/>
            <p:cNvGrpSpPr/>
            <p:nvPr userDrawn="1"/>
          </p:nvGrpSpPr>
          <p:grpSpPr>
            <a:xfrm>
              <a:off x="6241522" y="30711"/>
              <a:ext cx="3046415" cy="532149"/>
              <a:chOff x="2857499" y="6054696"/>
              <a:chExt cx="3263903" cy="515292"/>
            </a:xfrm>
          </p:grpSpPr>
          <p:sp>
            <p:nvSpPr>
              <p:cNvPr id="11" name="文本框 10"/>
              <p:cNvSpPr txBox="1"/>
              <p:nvPr userDrawn="1"/>
            </p:nvSpPr>
            <p:spPr>
              <a:xfrm>
                <a:off x="2882898" y="6054696"/>
                <a:ext cx="3238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先 进 网 络 技 术 实 验 室</a:t>
                </a:r>
                <a:endParaRPr lang="zh-CN" altLang="en-US" sz="1600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2" name="文本框 11"/>
              <p:cNvSpPr txBox="1"/>
              <p:nvPr userDrawn="1"/>
            </p:nvSpPr>
            <p:spPr>
              <a:xfrm>
                <a:off x="2857499" y="6262211"/>
                <a:ext cx="315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tx1"/>
                    </a:solidFill>
                    <a:latin typeface="+mj-lt"/>
                    <a:ea typeface="幼圆" panose="02010509060101010101" pitchFamily="49" charset="-122"/>
                  </a:rPr>
                  <a:t>Advanced Networking</a:t>
                </a:r>
                <a:r>
                  <a:rPr lang="en-US" altLang="zh-CN" sz="1400" baseline="0" dirty="0">
                    <a:solidFill>
                      <a:schemeClr val="tx1"/>
                    </a:solidFill>
                    <a:latin typeface="+mj-lt"/>
                    <a:ea typeface="幼圆" panose="02010509060101010101" pitchFamily="49" charset="-122"/>
                  </a:rPr>
                  <a:t> Technology Lab</a:t>
                </a:r>
                <a:endParaRPr lang="zh-CN" altLang="en-US" sz="1400" dirty="0">
                  <a:solidFill>
                    <a:schemeClr val="tx1"/>
                  </a:solidFill>
                  <a:latin typeface="+mj-lt"/>
                  <a:ea typeface="幼圆" panose="02010509060101010101" pitchFamily="49" charset="-122"/>
                </a:endParaRPr>
              </a:p>
            </p:txBody>
          </p:sp>
        </p:grp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5859" y="88557"/>
              <a:ext cx="637998" cy="44548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8"/>
          <a:stretch>
            <a:fillRect/>
          </a:stretch>
        </p:blipFill>
        <p:spPr bwMode="auto">
          <a:xfrm>
            <a:off x="0" y="6421439"/>
            <a:ext cx="9158288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 userDrawn="1"/>
        </p:nvCxnSpPr>
        <p:spPr>
          <a:xfrm>
            <a:off x="-330993" y="6391275"/>
            <a:ext cx="9613106" cy="0"/>
          </a:xfrm>
          <a:prstGeom prst="line">
            <a:avLst/>
          </a:prstGeom>
          <a:ln w="12700">
            <a:solidFill>
              <a:srgbClr val="053C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 userDrawn="1"/>
        </p:nvSpPr>
        <p:spPr>
          <a:xfrm>
            <a:off x="4451747" y="6510339"/>
            <a:ext cx="251222" cy="333375"/>
          </a:xfrm>
          <a:prstGeom prst="ellipse">
            <a:avLst/>
          </a:prstGeom>
          <a:solidFill>
            <a:srgbClr val="075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6"/>
          <p:cNvSpPr txBox="1">
            <a:spLocks noChangeArrowheads="1"/>
          </p:cNvSpPr>
          <p:nvPr userDrawn="1"/>
        </p:nvSpPr>
        <p:spPr bwMode="auto">
          <a:xfrm>
            <a:off x="4039791" y="6488113"/>
            <a:ext cx="1095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E76F25F3-29D7-4A82-910A-2FBF705DD04C}" type="slidenum">
              <a:rPr lang="en-US" altLang="zh-CN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039791" y="6677025"/>
            <a:ext cx="390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727972" y="6677025"/>
            <a:ext cx="390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" y="469901"/>
            <a:ext cx="350044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组合 14"/>
          <p:cNvGrpSpPr/>
          <p:nvPr userDrawn="1"/>
        </p:nvGrpSpPr>
        <p:grpSpPr>
          <a:xfrm>
            <a:off x="5645859" y="30711"/>
            <a:ext cx="3642078" cy="532149"/>
            <a:chOff x="5645859" y="30711"/>
            <a:chExt cx="3642078" cy="53214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241522" y="30711"/>
              <a:ext cx="3046415" cy="532149"/>
              <a:chOff x="2857499" y="6054696"/>
              <a:chExt cx="3263903" cy="515292"/>
            </a:xfrm>
          </p:grpSpPr>
          <p:sp>
            <p:nvSpPr>
              <p:cNvPr id="18" name="文本框 17"/>
              <p:cNvSpPr txBox="1"/>
              <p:nvPr userDrawn="1"/>
            </p:nvSpPr>
            <p:spPr>
              <a:xfrm>
                <a:off x="2882898" y="6054696"/>
                <a:ext cx="32385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先 进 网 络 技 术 实 验 室</a:t>
                </a:r>
                <a:endParaRPr lang="zh-CN" altLang="en-US" sz="1600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9" name="文本框 18"/>
              <p:cNvSpPr txBox="1"/>
              <p:nvPr userDrawn="1"/>
            </p:nvSpPr>
            <p:spPr>
              <a:xfrm>
                <a:off x="2857499" y="6262211"/>
                <a:ext cx="3153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tx1"/>
                    </a:solidFill>
                    <a:latin typeface="+mj-lt"/>
                    <a:ea typeface="幼圆" panose="02010509060101010101" pitchFamily="49" charset="-122"/>
                  </a:rPr>
                  <a:t>Advanced Networking</a:t>
                </a:r>
                <a:r>
                  <a:rPr lang="en-US" altLang="zh-CN" sz="1400" baseline="0" dirty="0">
                    <a:solidFill>
                      <a:schemeClr val="tx1"/>
                    </a:solidFill>
                    <a:latin typeface="+mj-lt"/>
                    <a:ea typeface="幼圆" panose="02010509060101010101" pitchFamily="49" charset="-122"/>
                  </a:rPr>
                  <a:t> Technology Lab</a:t>
                </a:r>
                <a:endParaRPr lang="zh-CN" altLang="en-US" sz="1400" dirty="0">
                  <a:solidFill>
                    <a:schemeClr val="tx1"/>
                  </a:solidFill>
                  <a:latin typeface="+mj-lt"/>
                  <a:ea typeface="幼圆" panose="02010509060101010101" pitchFamily="49" charset="-122"/>
                </a:endParaRPr>
              </a:p>
            </p:txBody>
          </p:sp>
        </p:grp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5859" y="88557"/>
              <a:ext cx="637998" cy="445485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8.wmf"/><Relationship Id="rId13" Type="http://schemas.openxmlformats.org/officeDocument/2006/relationships/notesSlide" Target="../notesSlides/notesSlide5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12.png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8.wmf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16.png"/><Relationship Id="rId1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wmf"/><Relationship Id="rId14" Type="http://schemas.openxmlformats.org/officeDocument/2006/relationships/notesSlide" Target="../notesSlides/notesSlide7.xml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3"/>
          <p:cNvSpPr txBox="1">
            <a:spLocks noChangeArrowheads="1"/>
          </p:cNvSpPr>
          <p:nvPr/>
        </p:nvSpPr>
        <p:spPr bwMode="auto">
          <a:xfrm>
            <a:off x="566794" y="1286190"/>
            <a:ext cx="8010412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大标宋_GBK" pitchFamily="65" charset="-122"/>
                <a:cs typeface="Times New Roman" panose="02020603050405020304" pitchFamily="18" charset="0"/>
              </a:rPr>
              <a:t>Your Mega-Constellations Can Be Slim: </a:t>
            </a:r>
            <a:endParaRPr sz="2800" b="1" dirty="0">
              <a:solidFill>
                <a:schemeClr val="bg1"/>
              </a:solidFill>
              <a:latin typeface="Times New Roman" panose="02020603050405020304" pitchFamily="18" charset="0"/>
              <a:ea typeface="方正大标宋_GBK" pitchFamily="65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</a:pPr>
            <a:r>
              <a:rPr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大标宋_GBK" pitchFamily="65" charset="-122"/>
                <a:cs typeface="Times New Roman" panose="02020603050405020304" pitchFamily="18" charset="0"/>
              </a:rPr>
              <a:t> A Cost-Effective Approach for Constructing Survivable and Performant LEO Satellite Networks</a:t>
            </a:r>
            <a:endParaRPr sz="2800" b="1" dirty="0">
              <a:solidFill>
                <a:schemeClr val="bg1"/>
              </a:solidFill>
              <a:latin typeface="Times New Roman" panose="02020603050405020304" pitchFamily="18" charset="0"/>
              <a:ea typeface="方正大标宋_GBK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243" name="文本框 1"/>
          <p:cNvSpPr txBox="1">
            <a:spLocks noChangeArrowheads="1"/>
          </p:cNvSpPr>
          <p:nvPr/>
        </p:nvSpPr>
        <p:spPr bwMode="auto">
          <a:xfrm>
            <a:off x="898813" y="3848074"/>
            <a:ext cx="7076209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报告人：郑李琦</a:t>
            </a: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2026.10</a:t>
            </a: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西安电子科技大学</a:t>
            </a:r>
            <a:endParaRPr lang="zh-CN" altLang="en-US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80655" y="3617550"/>
            <a:ext cx="671252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080655" y="5001928"/>
            <a:ext cx="671252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28215" y="2971165"/>
            <a:ext cx="6202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你的巨型星座可以更精简：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一种面向可生存和高性能 LEO 卫星网络的低成本构建方法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-15479" y="531591"/>
            <a:ext cx="9159480" cy="5570338"/>
            <a:chOff x="-15479" y="531591"/>
            <a:chExt cx="9159480" cy="5570338"/>
          </a:xfrm>
        </p:grpSpPr>
        <p:pic>
          <p:nvPicPr>
            <p:cNvPr id="11266" name="图片 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06" r="15421"/>
            <a:stretch>
              <a:fillRect/>
            </a:stretch>
          </p:blipFill>
          <p:spPr bwMode="auto">
            <a:xfrm>
              <a:off x="-15479" y="601822"/>
              <a:ext cx="4154091" cy="1021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4242198" y="603012"/>
              <a:ext cx="4901803" cy="101322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269" name="文本框 18"/>
            <p:cNvSpPr txBox="1">
              <a:spLocks noChangeArrowheads="1"/>
            </p:cNvSpPr>
            <p:nvPr/>
          </p:nvSpPr>
          <p:spPr bwMode="auto">
            <a:xfrm>
              <a:off x="4264819" y="848123"/>
              <a:ext cx="3348038" cy="7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4500">
                  <a:solidFill>
                    <a:schemeClr val="bg1"/>
                  </a:solidFill>
                  <a:latin typeface="Impact" panose="020B0806030902050204" pitchFamily="34" charset="0"/>
                  <a:ea typeface="华文中宋" panose="02010600040101010101" pitchFamily="2" charset="-122"/>
                </a:rPr>
                <a:t>CONTENTS</a:t>
              </a:r>
              <a:endParaRPr lang="zh-CN" altLang="en-US" sz="4500">
                <a:solidFill>
                  <a:schemeClr val="bg1"/>
                </a:solidFill>
                <a:latin typeface="Impact" panose="020B080603090205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11273" name="文本框 20"/>
            <p:cNvSpPr txBox="1">
              <a:spLocks noChangeArrowheads="1"/>
            </p:cNvSpPr>
            <p:nvPr/>
          </p:nvSpPr>
          <p:spPr bwMode="auto">
            <a:xfrm>
              <a:off x="1531143" y="531591"/>
              <a:ext cx="2888456" cy="1107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6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录</a:t>
              </a:r>
              <a:endParaRPr lang="zh-CN" altLang="en-US" sz="6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107920" y="1815069"/>
              <a:ext cx="8995494" cy="615147"/>
              <a:chOff x="209520" y="2863454"/>
              <a:chExt cx="8995494" cy="615147"/>
            </a:xfrm>
          </p:grpSpPr>
          <p:sp>
            <p:nvSpPr>
              <p:cNvPr id="11268" name="椭圆 7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09520" y="2863455"/>
                <a:ext cx="803672" cy="611981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en-US" altLang="zh-CN" sz="3600" dirty="0">
                    <a:solidFill>
                      <a:srgbClr val="053CAF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600" dirty="0">
                  <a:solidFill>
                    <a:srgbClr val="053CAF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3080" name="文本框 19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013191" y="2863454"/>
                <a:ext cx="6785267" cy="6119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研究背景与问题分析</a:t>
                </a:r>
                <a:endPara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1032242" y="3478601"/>
                <a:ext cx="8172772" cy="0"/>
              </a:xfrm>
              <a:prstGeom prst="line">
                <a:avLst/>
              </a:prstGeom>
              <a:ln w="19050">
                <a:solidFill>
                  <a:srgbClr val="053CA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/>
            <p:cNvGrpSpPr/>
            <p:nvPr>
              <p:custDataLst>
                <p:tags r:id="rId5"/>
              </p:custDataLst>
            </p:nvPr>
          </p:nvGrpSpPr>
          <p:grpSpPr>
            <a:xfrm>
              <a:off x="107920" y="2962168"/>
              <a:ext cx="8995494" cy="672787"/>
              <a:chOff x="209520" y="3674794"/>
              <a:chExt cx="8995494" cy="672787"/>
            </a:xfrm>
          </p:grpSpPr>
          <p:sp>
            <p:nvSpPr>
              <p:cNvPr id="3081" name="文本框 20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013191" y="3677518"/>
                <a:ext cx="8119301" cy="609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ega</a:t>
                </a:r>
                <a:r>
                  <a:rPr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educe</a:t>
                </a:r>
                <a:r>
                  <a:rPr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算法建模与设计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75" name="椭圆 7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09520" y="3674794"/>
                <a:ext cx="803672" cy="611981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en-US" altLang="zh-CN" sz="3600" dirty="0">
                    <a:solidFill>
                      <a:srgbClr val="053CAF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3600" dirty="0">
                  <a:solidFill>
                    <a:srgbClr val="053CAF"/>
                  </a:solidFill>
                  <a:latin typeface="Impact" panose="020B0806030902050204" pitchFamily="34" charset="0"/>
                </a:endParaRPr>
              </a:p>
            </p:txBody>
          </p:sp>
          <p:cxnSp>
            <p:nvCxnSpPr>
              <p:cNvPr id="22" name="直接连接符 21"/>
              <p:cNvCxnSpPr/>
              <p:nvPr/>
            </p:nvCxnSpPr>
            <p:spPr>
              <a:xfrm>
                <a:off x="1044148" y="4347581"/>
                <a:ext cx="8160866" cy="0"/>
              </a:xfrm>
              <a:prstGeom prst="line">
                <a:avLst/>
              </a:prstGeom>
              <a:ln w="19050">
                <a:solidFill>
                  <a:srgbClr val="053CA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>
              <p:custDataLst>
                <p:tags r:id="rId8"/>
              </p:custDataLst>
            </p:nvPr>
          </p:nvGrpSpPr>
          <p:grpSpPr>
            <a:xfrm>
              <a:off x="107920" y="5374041"/>
              <a:ext cx="9013353" cy="727888"/>
              <a:chOff x="210711" y="4646153"/>
              <a:chExt cx="9013353" cy="727888"/>
            </a:xfrm>
          </p:grpSpPr>
          <p:sp>
            <p:nvSpPr>
              <p:cNvPr id="2" name="文本框 20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013191" y="4648241"/>
                <a:ext cx="8119301" cy="6098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结论与展望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76" name="椭圆 7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10711" y="4646153"/>
                <a:ext cx="802481" cy="611981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en-US" altLang="zh-CN" sz="3600" dirty="0">
                    <a:solidFill>
                      <a:srgbClr val="053CAF"/>
                    </a:solidFill>
                    <a:latin typeface="Impact" panose="020B0806030902050204" pitchFamily="34" charset="0"/>
                  </a:rPr>
                  <a:t>04</a:t>
                </a:r>
                <a:endParaRPr lang="zh-CN" altLang="en-US" sz="3600" dirty="0">
                  <a:solidFill>
                    <a:srgbClr val="053CAF"/>
                  </a:solidFill>
                  <a:latin typeface="Impact" panose="020B0806030902050204" pitchFamily="34" charset="0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1044148" y="5374041"/>
                <a:ext cx="8179916" cy="0"/>
              </a:xfrm>
              <a:prstGeom prst="line">
                <a:avLst/>
              </a:prstGeom>
              <a:ln w="19050">
                <a:solidFill>
                  <a:srgbClr val="053CA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/>
            <p:cNvGrpSpPr/>
            <p:nvPr>
              <p:custDataLst>
                <p:tags r:id="rId11"/>
              </p:custDataLst>
            </p:nvPr>
          </p:nvGrpSpPr>
          <p:grpSpPr>
            <a:xfrm>
              <a:off x="127605" y="4168033"/>
              <a:ext cx="8995494" cy="671517"/>
              <a:chOff x="209520" y="3754804"/>
              <a:chExt cx="8995494" cy="671517"/>
            </a:xfrm>
          </p:grpSpPr>
          <p:sp>
            <p:nvSpPr>
              <p:cNvPr id="9" name="文本框 20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013191" y="3756893"/>
                <a:ext cx="8119301" cy="609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实验结果与分析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椭圆 7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09520" y="3754804"/>
                <a:ext cx="803672" cy="611981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en-US" altLang="zh-CN" sz="3600" dirty="0">
                    <a:solidFill>
                      <a:srgbClr val="053CAF"/>
                    </a:solidFill>
                    <a:latin typeface="Impact" panose="020B0806030902050204" pitchFamily="34" charset="0"/>
                  </a:rPr>
                  <a:t>03</a:t>
                </a:r>
                <a:endParaRPr lang="zh-CN" altLang="en-US" sz="3600" dirty="0">
                  <a:solidFill>
                    <a:srgbClr val="053CAF"/>
                  </a:solidFill>
                  <a:latin typeface="Impact" panose="020B0806030902050204" pitchFamily="34" charset="0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1044148" y="4426321"/>
                <a:ext cx="8160866" cy="0"/>
              </a:xfrm>
              <a:prstGeom prst="line">
                <a:avLst/>
              </a:prstGeom>
              <a:ln w="19050">
                <a:solidFill>
                  <a:srgbClr val="053CA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>
            <a:off x="634365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38810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464550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460105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34365" y="52895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6301105" y="53657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643255" y="619379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6301105" y="618617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68" name="椭圆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46860" y="3006725"/>
            <a:ext cx="1158240" cy="6121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53CAF"/>
                </a:solidFill>
                <a:latin typeface="Impact" panose="020B0806030902050204" pitchFamily="34" charset="0"/>
              </a:rPr>
              <a:t>01</a:t>
            </a:r>
            <a:endParaRPr lang="en-US" altLang="zh-CN" sz="4000" dirty="0">
              <a:solidFill>
                <a:srgbClr val="053CAF"/>
              </a:solidFill>
              <a:latin typeface="Impact" panose="020B0806030902050204" pitchFamily="34" charset="0"/>
            </a:endParaRPr>
          </a:p>
        </p:txBody>
      </p:sp>
      <p:sp>
        <p:nvSpPr>
          <p:cNvPr id="3080" name="文本框 1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08580" y="3006725"/>
            <a:ext cx="4937760" cy="6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研究背景与问题分析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研究背景与</a:t>
            </a:r>
            <a:r>
              <a:rPr lang="zh-CN" altLang="en-US" dirty="0">
                <a:sym typeface="+mn-ea"/>
              </a:rPr>
              <a:t>问题分析</a:t>
            </a:r>
            <a:endParaRPr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394970" y="1536065"/>
            <a:ext cx="8354695" cy="2365375"/>
            <a:chOff x="394686" y="1370966"/>
            <a:chExt cx="8354627" cy="2294561"/>
          </a:xfrm>
        </p:grpSpPr>
        <p:sp>
          <p:nvSpPr>
            <p:cNvPr id="6" name="矩形: 圆角 5"/>
            <p:cNvSpPr/>
            <p:nvPr/>
          </p:nvSpPr>
          <p:spPr>
            <a:xfrm>
              <a:off x="394686" y="1377248"/>
              <a:ext cx="8354627" cy="2288279"/>
            </a:xfrm>
            <a:prstGeom prst="roundRect">
              <a:avLst>
                <a:gd name="adj" fmla="val 10597"/>
              </a:avLst>
            </a:prstGeom>
            <a:solidFill>
              <a:schemeClr val="accent4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495766" y="1370966"/>
              <a:ext cx="8151495" cy="2076131"/>
              <a:chOff x="495728" y="1312502"/>
              <a:chExt cx="8151495" cy="207613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495728" y="1312502"/>
                <a:ext cx="8151495" cy="7518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457200" algn="just">
                  <a:lnSpc>
                    <a:spcPct val="130000"/>
                  </a:lnSpc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SpaceX 的 Starlink 与亚马逊的 Kuiper 项目一期将分别包含约 4,408 颗与 3,236 颗 LEO 卫星；此外，SpaceX 还期望在下一部署阶段把 Starlink 星座规模扩展到 42,000 颗。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457200" algn="just">
                  <a:lnSpc>
                    <a:spcPct val="130000"/>
                  </a:lnSpc>
                </a:pPr>
                <a:endPara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96287" y="2590230"/>
                <a:ext cx="3766310" cy="410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496286" y="2977788"/>
                <a:ext cx="7631713" cy="410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495689" y="1104949"/>
            <a:ext cx="1400339" cy="429895"/>
            <a:chOff x="1699726" y="4275460"/>
            <a:chExt cx="1400339" cy="429895"/>
          </a:xfrm>
        </p:grpSpPr>
        <p:sp>
          <p:nvSpPr>
            <p:cNvPr id="4" name="文本框 3"/>
            <p:cNvSpPr txBox="1"/>
            <p:nvPr/>
          </p:nvSpPr>
          <p:spPr>
            <a:xfrm>
              <a:off x="1799585" y="4275460"/>
              <a:ext cx="13004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496324" y="3935090"/>
            <a:ext cx="1400339" cy="429895"/>
            <a:chOff x="1699726" y="4275460"/>
            <a:chExt cx="1400339" cy="429895"/>
          </a:xfrm>
        </p:grpSpPr>
        <p:sp>
          <p:nvSpPr>
            <p:cNvPr id="51" name="文本框 50"/>
            <p:cNvSpPr txBox="1"/>
            <p:nvPr/>
          </p:nvSpPr>
          <p:spPr>
            <a:xfrm>
              <a:off x="1799585" y="4275460"/>
              <a:ext cx="13004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研究现状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9" name="文本框 58"/>
          <p:cNvSpPr txBox="1"/>
          <p:nvPr/>
        </p:nvSpPr>
        <p:spPr>
          <a:xfrm>
            <a:off x="0" y="6264275"/>
            <a:ext cx="91440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sz="2000" b="1" dirty="0">
                <a:solidFill>
                  <a:srgbClr val="053C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构建一个可生存且性能达标的 LSN，究竟需要多少颗卫星？</a:t>
            </a:r>
            <a:endParaRPr sz="2000" b="1" dirty="0">
              <a:solidFill>
                <a:srgbClr val="053C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6570" y="2167255"/>
            <a:ext cx="8155305" cy="934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 LSN 中部署更多卫星可以提供更多冗余的备份链路与路径，从而有效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提升网络的生存性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。部署更多具备多波束高吞吐点波束的 LEO 卫星，也可以带来更广的服务覆盖以及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更高的星座级网络容量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但是，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大规模部署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LEO 卫星虽然能提升卫星网络的网络生存性与性能，却也会带来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更高的部署成本、卫星交汇风险、空间碎片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84505" y="4342130"/>
            <a:ext cx="8181975" cy="18237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81660" y="4421505"/>
            <a:ext cx="7987665" cy="1529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一些工作专注于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优化通信覆盖、时延、网络容量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，但这些设计方法并未考虑在空间中各种潜在失效因素下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保证网络生存性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一些工作提出了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多层空间网络设计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，引入同步卫星 GEO 来转发 LEO 之间的流量、从而减少所需卫星数。然而，由于轨道高度更高，引入 GEO 会导致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增加网络时延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 GEO 卫星的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服务容量通常有限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，难以支撑数量庞大的宽带用户。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研究目标和创新点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96324" y="1156156"/>
            <a:ext cx="1413039" cy="430887"/>
            <a:chOff x="1699726" y="4275460"/>
            <a:chExt cx="1413039" cy="430887"/>
          </a:xfrm>
        </p:grpSpPr>
        <p:sp>
          <p:nvSpPr>
            <p:cNvPr id="7" name="文本框 6"/>
            <p:cNvSpPr txBox="1"/>
            <p:nvPr/>
          </p:nvSpPr>
          <p:spPr>
            <a:xfrm>
              <a:off x="1799585" y="4275460"/>
              <a:ext cx="13131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核心目标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9" name="矩形: 圆角 48"/>
          <p:cNvSpPr/>
          <p:nvPr/>
        </p:nvSpPr>
        <p:spPr>
          <a:xfrm>
            <a:off x="692785" y="1725295"/>
            <a:ext cx="7613015" cy="40513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满足多项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生存性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要求的前提下，找到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LSN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所需要的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最少卫星数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496324" y="2383967"/>
            <a:ext cx="1413039" cy="430887"/>
            <a:chOff x="1699726" y="4275460"/>
            <a:chExt cx="1413039" cy="430887"/>
          </a:xfrm>
        </p:grpSpPr>
        <p:sp>
          <p:nvSpPr>
            <p:cNvPr id="82" name="文本框 81"/>
            <p:cNvSpPr txBox="1"/>
            <p:nvPr/>
          </p:nvSpPr>
          <p:spPr>
            <a:xfrm>
              <a:off x="1799585" y="4275460"/>
              <a:ext cx="13131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本文提出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07" name="组合 106"/>
          <p:cNvGrpSpPr/>
          <p:nvPr/>
        </p:nvGrpSpPr>
        <p:grpSpPr>
          <a:xfrm>
            <a:off x="521393" y="4283177"/>
            <a:ext cx="1130910" cy="430887"/>
            <a:chOff x="1699726" y="4275460"/>
            <a:chExt cx="1130910" cy="430887"/>
          </a:xfrm>
        </p:grpSpPr>
        <p:sp>
          <p:nvSpPr>
            <p:cNvPr id="108" name="文本框 107"/>
            <p:cNvSpPr txBox="1"/>
            <p:nvPr/>
          </p:nvSpPr>
          <p:spPr>
            <a:xfrm>
              <a:off x="1799585" y="4275460"/>
              <a:ext cx="10310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创新点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6" name="组合 95"/>
          <p:cNvGrpSpPr/>
          <p:nvPr/>
        </p:nvGrpSpPr>
        <p:grpSpPr>
          <a:xfrm>
            <a:off x="848995" y="2862765"/>
            <a:ext cx="7456805" cy="1183005"/>
            <a:chOff x="849097" y="1635120"/>
            <a:chExt cx="7457047" cy="1230213"/>
          </a:xfrm>
        </p:grpSpPr>
        <p:sp>
          <p:nvSpPr>
            <p:cNvPr id="86" name="矩形: 圆角 85"/>
            <p:cNvSpPr/>
            <p:nvPr/>
          </p:nvSpPr>
          <p:spPr>
            <a:xfrm>
              <a:off x="849097" y="1635120"/>
              <a:ext cx="7457047" cy="1230213"/>
            </a:xfrm>
            <a:prstGeom prst="roundRect">
              <a:avLst>
                <a:gd name="adj" fmla="val 8768"/>
              </a:avLst>
            </a:prstGeom>
            <a:solidFill>
              <a:schemeClr val="accent4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1048609" y="1685966"/>
              <a:ext cx="7046782" cy="1053960"/>
              <a:chOff x="1048609" y="1685966"/>
              <a:chExt cx="7046782" cy="1053960"/>
            </a:xfrm>
          </p:grpSpPr>
          <p:sp>
            <p:nvSpPr>
              <p:cNvPr id="79" name="文本框 78"/>
              <p:cNvSpPr txBox="1"/>
              <p:nvPr/>
            </p:nvSpPr>
            <p:spPr>
              <a:xfrm>
                <a:off x="1048609" y="1685966"/>
                <a:ext cx="7046782" cy="575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一种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需求驱动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LSN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优化机制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—— 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MegaReduce</a:t>
                </a:r>
                <a:endPara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1600815" y="2261180"/>
                <a:ext cx="5942370" cy="478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ctr"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实现在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多项式时间内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设计出满足</a:t>
                </a:r>
                <a:r>
                  <a:rPr lang="zh-CN" altLang="en-US" sz="16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生存性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zh-CN" altLang="en-US" sz="16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要求的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LSN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2" name="直接连接符 91"/>
              <p:cNvCxnSpPr/>
              <p:nvPr/>
            </p:nvCxnSpPr>
            <p:spPr>
              <a:xfrm>
                <a:off x="1289665" y="2261180"/>
                <a:ext cx="6409390" cy="0"/>
              </a:xfrm>
              <a:prstGeom prst="line">
                <a:avLst/>
              </a:prstGeom>
              <a:ln w="22225" cmpd="dbl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2" name="文本框 111"/>
          <p:cNvSpPr txBox="1"/>
          <p:nvPr/>
        </p:nvSpPr>
        <p:spPr>
          <a:xfrm>
            <a:off x="634614" y="4777603"/>
            <a:ext cx="8166735" cy="4508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形式化了可生存且高效的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LSN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设计问题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Survivable and Performant LSN Design, SPLD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34614" y="5191947"/>
            <a:ext cx="5764530" cy="4508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提出一种需求驱动的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LSN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优化机制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—— MegaReduce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634614" y="5608816"/>
            <a:ext cx="8012430" cy="4508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为了保证可接受的端到端时延，设计了无向图转换为有向分层图的解决方法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>
            <a:off x="634365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38810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464550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460105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34365" y="52895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6301105" y="53657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643255" y="619379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6301105" y="618617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68" name="椭圆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74190" y="3006725"/>
            <a:ext cx="1158240" cy="6121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53CAF"/>
                </a:solidFill>
                <a:latin typeface="Impact" panose="020B0806030902050204" pitchFamily="34" charset="0"/>
              </a:rPr>
              <a:t>02</a:t>
            </a:r>
            <a:endParaRPr lang="en-US" altLang="zh-CN" sz="4000" dirty="0">
              <a:solidFill>
                <a:srgbClr val="053CAF"/>
              </a:solidFill>
              <a:latin typeface="Impact" panose="020B0806030902050204" pitchFamily="34" charset="0"/>
            </a:endParaRPr>
          </a:p>
        </p:txBody>
      </p:sp>
      <p:sp>
        <p:nvSpPr>
          <p:cNvPr id="3080" name="文本框 1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29585" y="3342005"/>
            <a:ext cx="4937760" cy="6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ega</a:t>
            </a:r>
            <a:r>
              <a:rPr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educe</a:t>
            </a:r>
            <a:r>
              <a:rPr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算法建模与设计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SPLD </a:t>
            </a:r>
            <a:r>
              <a:rPr lang="zh-CN" altLang="en-US" dirty="0"/>
              <a:t>问题建模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 rot="0">
            <a:off x="496570" y="1156335"/>
            <a:ext cx="1400299" cy="429895"/>
            <a:chOff x="1699726" y="4275460"/>
            <a:chExt cx="1400860" cy="429895"/>
          </a:xfrm>
        </p:grpSpPr>
        <p:sp>
          <p:nvSpPr>
            <p:cNvPr id="7" name="文本框 6"/>
            <p:cNvSpPr txBox="1"/>
            <p:nvPr/>
          </p:nvSpPr>
          <p:spPr>
            <a:xfrm>
              <a:off x="1799585" y="4275460"/>
              <a:ext cx="1301001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目标函数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177165" progId="Equation.KSEE3">
                  <p:embed/>
                </p:oleObj>
              </mc:Choice>
              <mc:Fallback>
                <p:oleObj name="" r:id="rId1" imgW="114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14300" imgH="177165" progId="Equation.KSEE3">
                  <p:embed/>
                </p:oleObj>
              </mc:Choice>
              <mc:Fallback>
                <p:oleObj name="" r:id="rId3" imgW="1143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5" imgW="114300" imgH="177165" progId="Equation.KSEE3">
                  <p:embed/>
                </p:oleObj>
              </mc:Choice>
              <mc:Fallback>
                <p:oleObj name="" r:id="rId5" imgW="114300" imgH="1771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 rot="0">
            <a:off x="496570" y="3354705"/>
            <a:ext cx="1959099" cy="429895"/>
            <a:chOff x="1699726" y="4275460"/>
            <a:chExt cx="1959884" cy="429895"/>
          </a:xfrm>
        </p:grpSpPr>
        <p:sp>
          <p:nvSpPr>
            <p:cNvPr id="34" name="文本框 33"/>
            <p:cNvSpPr txBox="1"/>
            <p:nvPr/>
          </p:nvSpPr>
          <p:spPr>
            <a:xfrm>
              <a:off x="1799585" y="4275460"/>
              <a:ext cx="1860025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基础约束条件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3566096" y="1992249"/>
                <a:ext cx="1341120" cy="7080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𝑚𝑖𝑛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096" y="1992249"/>
                <a:ext cx="1341120" cy="708025"/>
              </a:xfrm>
              <a:prstGeom prst="rect">
                <a:avLst/>
              </a:prstGeom>
              <a:blipFill rotWithShape="1">
                <a:blip r:embed="rId6"/>
                <a:stretch>
                  <a:fillRect l="-43" t="-36" r="43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/>
          <p:cNvSpPr txBox="1"/>
          <p:nvPr/>
        </p:nvSpPr>
        <p:spPr>
          <a:xfrm>
            <a:off x="605155" y="1586230"/>
            <a:ext cx="54667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找到一个满足全部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en-US" altLang="zh-CN" sz="1400" b="1" baseline="30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卫星数最少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的子图？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表格 39"/>
              <p:cNvGraphicFramePr/>
              <p:nvPr>
                <p:custDataLst>
                  <p:tags r:id="rId7"/>
                </p:custDataLst>
              </p:nvPr>
            </p:nvGraphicFramePr>
            <p:xfrm>
              <a:off x="753745" y="2697480"/>
              <a:ext cx="5500370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6900"/>
                    <a:gridCol w="4903470"/>
                  </a:tblGrid>
                  <a:tr h="365760">
                    <a:tc>
                      <a:txBody>
                        <a:bodyPr/>
                        <a:p>
                          <a:pPr indent="0" algn="r" fontAlgn="auto">
                            <a:lnSpc>
                              <a:spcPts val="15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altLang="zh-CN" sz="140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p>
                          <a:pPr indent="0" fontAlgn="auto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zh-CN" altLang="en-US"/>
                            <a:t>：</a:t>
                          </a:r>
                          <a:r>
                            <a:rPr lang="zh-CN" altLang="en-US" sz="14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卫星集合</a:t>
                          </a:r>
                          <a:endPara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indent="0" algn="r" fontAlgn="auto">
                            <a:lnSpc>
                              <a:spcPts val="1500"/>
                            </a:lnSpc>
                            <a:buClrTx/>
                            <a:buSzTx/>
                            <a:buFontTx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p>
                          <a:pPr indent="0" fontAlgn="auto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zh-CN" altLang="en-US"/>
                            <a:t>：</a:t>
                          </a:r>
                          <a:r>
                            <a:rPr lang="zh-CN" altLang="en-US" sz="14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二值量，表示卫星</a:t>
                          </a:r>
                          <a: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a:t> i</a:t>
                          </a:r>
                          <a:r>
                            <a:rPr lang="zh-CN" altLang="en-US" sz="14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是否被包含在该子图中</a:t>
                          </a:r>
                          <a:endPara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表格 39"/>
              <p:cNvGraphicFramePr/>
              <p:nvPr>
                <p:custDataLst>
                  <p:tags r:id="rId8"/>
                </p:custDataLst>
              </p:nvPr>
            </p:nvGraphicFramePr>
            <p:xfrm>
              <a:off x="753745" y="2697480"/>
              <a:ext cx="5500370" cy="731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96900"/>
                    <a:gridCol w="490347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p>
                          <a:pPr indent="0" fontAlgn="auto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zh-CN" altLang="en-US"/>
                            <a:t>：</a:t>
                          </a:r>
                          <a:r>
                            <a:rPr lang="zh-CN" altLang="en-US" sz="14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卫星集合</a:t>
                          </a:r>
                          <a:endPara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9"/>
                        </a:blipFill>
                      </a:tcPr>
                    </a:tc>
                    <a:tc>
                      <a:txBody>
                        <a:bodyPr/>
                        <a:p>
                          <a:pPr indent="0" fontAlgn="auto">
                            <a:lnSpc>
                              <a:spcPts val="1500"/>
                            </a:lnSpc>
                            <a:buNone/>
                          </a:pPr>
                          <a:r>
                            <a:rPr lang="zh-CN" altLang="en-US"/>
                            <a:t>：</a:t>
                          </a:r>
                          <a:r>
                            <a:rPr lang="zh-CN" altLang="en-US" sz="14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二值量，表示卫星</a:t>
                          </a:r>
                          <a: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a:t> i</a:t>
                          </a:r>
                          <a:r>
                            <a:rPr lang="zh-CN" altLang="en-US" sz="14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是否被包含在该子图中</a:t>
                          </a:r>
                          <a:endParaRPr lang="zh-CN" altLang="en-US" sz="14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41" name="图片 40" descr="{B77AA453-1013-4C98-B17D-CCF7EB0C1CBF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25" y="3784600"/>
            <a:ext cx="3379470" cy="308356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3750310" y="3759200"/>
            <a:ext cx="5207000" cy="3752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两通信端只有在互相可见、可以连接的时候才能建立连接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卫星只有包含在子图里，才能建立通信链路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被激活的星间链路总数不能超过卫星上可用发射机数量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上行业务需求 不超过 小区上行总可达容量</a:t>
            </a:r>
            <a:endParaRPr lang="en-US" altLang="zh-CN" sz="1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下行业务需求 不超过 小区下行总可达容量</a:t>
            </a:r>
            <a:endParaRPr lang="en-US" altLang="zh-CN" sz="1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卫星的实时上行容量</a:t>
            </a:r>
            <a:r>
              <a:rPr lang="en-US" altLang="zh-CN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卫星最大上行容量</a:t>
            </a:r>
            <a:endParaRPr lang="zh-CN" altLang="en-US" sz="1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卫星的实时下行容量</a:t>
            </a:r>
            <a:r>
              <a:rPr lang="en-US" altLang="zh-CN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不超过</a:t>
            </a:r>
            <a:r>
              <a:rPr lang="en-US" altLang="zh-CN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卫星最大下行容量</a:t>
            </a:r>
            <a:endParaRPr lang="zh-CN" altLang="en-US" sz="14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sz="1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生存性要求（附后）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5374640" y="1764665"/>
            <a:ext cx="3318510" cy="1315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374640" y="1764665"/>
            <a:ext cx="3333750" cy="1464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要求：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容量要求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时延要求（有向分层图，附后）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生存性要求（附后）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/>
      <p:bldP spid="45" grpId="1" animBg="1"/>
      <p:bldP spid="4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生存性要求</a:t>
            </a:r>
            <a:endParaRPr lang="zh-CN" dirty="0"/>
          </a:p>
        </p:txBody>
      </p:sp>
      <p:grpSp>
        <p:nvGrpSpPr>
          <p:cNvPr id="2" name="组合 1"/>
          <p:cNvGrpSpPr/>
          <p:nvPr/>
        </p:nvGrpSpPr>
        <p:grpSpPr>
          <a:xfrm rot="0">
            <a:off x="496570" y="1156335"/>
            <a:ext cx="1400299" cy="429895"/>
            <a:chOff x="1699726" y="4275460"/>
            <a:chExt cx="1400860" cy="429895"/>
          </a:xfrm>
        </p:grpSpPr>
        <p:sp>
          <p:nvSpPr>
            <p:cNvPr id="7" name="文本框 6"/>
            <p:cNvSpPr txBox="1"/>
            <p:nvPr/>
          </p:nvSpPr>
          <p:spPr>
            <a:xfrm>
              <a:off x="1799585" y="4275460"/>
              <a:ext cx="1301001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通信需求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177165" progId="Equation.KSEE3">
                  <p:embed/>
                </p:oleObj>
              </mc:Choice>
              <mc:Fallback>
                <p:oleObj name="" r:id="rId1" imgW="114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14300" imgH="177165" progId="Equation.KSEE3">
                  <p:embed/>
                </p:oleObj>
              </mc:Choice>
              <mc:Fallback>
                <p:oleObj name="" r:id="rId3" imgW="1143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5" imgW="114300" imgH="177165" progId="Equation.KSEE3">
                  <p:embed/>
                </p:oleObj>
              </mc:Choice>
              <mc:Fallback>
                <p:oleObj name="" r:id="rId5" imgW="114300" imgH="1771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/>
              <p:nvPr>
                <p:custDataLst>
                  <p:tags r:id="rId6"/>
                </p:custDataLst>
              </p:nvPr>
            </p:nvGraphicFramePr>
            <p:xfrm>
              <a:off x="892810" y="1778635"/>
              <a:ext cx="7988935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69770"/>
                    <a:gridCol w="6019165"/>
                  </a:tblGrid>
                  <a:tr h="207010">
                    <a:tc>
                      <a:txBody>
                        <a:bodyPr/>
                        <a:p>
                          <a:pPr algn="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={ 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1800" baseline="-250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, 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1800" baseline="-250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 ... 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800" baseline="-250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altLang="zh-CN" sz="180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 }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zh-CN" altLang="en-US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sym typeface="+mn-ea"/>
                            </a:rPr>
                            <a:t>：需求集合，</a:t>
                          </a:r>
                          <a:r>
                            <a:rPr lang="en-US" altLang="zh-CN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sym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600" i="1" baseline="-25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altLang="zh-CN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sym typeface="+mn-ea"/>
                            </a:rPr>
                            <a:t> </a:t>
                          </a:r>
                          <a:r>
                            <a:rPr lang="zh-CN" altLang="en-US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sym typeface="+mn-ea"/>
                            </a:rPr>
                            <a:t>是一个三元组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 [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𝑠𝑟𝑐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600" i="1" baseline="-25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), 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𝑑𝑠𝑡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600" i="1" baseline="-25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), 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𝑠𝑖𝑧𝑒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600" i="1" baseline="-25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)]</m:t>
                              </m:r>
                            </m:oMath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  <a:tr h="365760">
                    <a:tc>
                      <a:txBody>
                        <a:bodyPr/>
                        <a:p>
                          <a:pPr algn="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𝑠𝑟𝑐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 baseline="-25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  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𝑑𝑠𝑡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800" i="1" baseline="-25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p>
                          <a:pPr>
                            <a:buNone/>
                          </a:pPr>
                          <a:r>
                            <a:rPr lang="zh-CN" altLang="en-US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600" i="1" baseline="-25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zh-CN" altLang="en-US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的两端，即源小区与目的小区</a:t>
                          </a:r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  <a:tr h="257175">
                    <a:tc>
                      <a:txBody>
                        <a:bodyPr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𝑠𝑖𝑧𝑒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i="1" baseline="-250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  <a:tc>
                      <a:txBody>
                        <a:bodyPr/>
                        <a:p>
                          <a:pPr algn="l">
                            <a:buClrTx/>
                            <a:buSzTx/>
                            <a:buFontTx/>
                            <a:buNone/>
                          </a:pPr>
                          <a:r>
                            <a:rPr lang="zh-CN" altLang="en-US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600" i="1" baseline="-25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altLang="zh-CN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16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的流量（例如数据速率）</a:t>
                          </a:r>
                          <a:endParaRPr lang="zh-CN" altLang="en-US" sz="16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/>
              <p:nvPr>
                <p:custDataLst>
                  <p:tags r:id="rId7"/>
                </p:custDataLst>
              </p:nvPr>
            </p:nvGraphicFramePr>
            <p:xfrm>
              <a:off x="892810" y="1778635"/>
              <a:ext cx="7988935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69770"/>
                    <a:gridCol w="6019165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8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8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pSp>
        <p:nvGrpSpPr>
          <p:cNvPr id="14" name="组合 13"/>
          <p:cNvGrpSpPr/>
          <p:nvPr/>
        </p:nvGrpSpPr>
        <p:grpSpPr>
          <a:xfrm rot="0">
            <a:off x="496570" y="3068320"/>
            <a:ext cx="1679699" cy="429895"/>
            <a:chOff x="1699726" y="4275460"/>
            <a:chExt cx="1680372" cy="429895"/>
          </a:xfrm>
        </p:grpSpPr>
        <p:sp>
          <p:nvSpPr>
            <p:cNvPr id="15" name="文本框 14"/>
            <p:cNvSpPr txBox="1"/>
            <p:nvPr/>
          </p:nvSpPr>
          <p:spPr>
            <a:xfrm>
              <a:off x="1799585" y="4275460"/>
              <a:ext cx="1580513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生存性要求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63575" y="3640455"/>
                <a:ext cx="8021955" cy="2660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对任意一条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src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i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dst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的需求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i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j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表示一条路径，同时需求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可能存在多条可用路径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如果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没有任何一条边出现在多于一条路径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中，称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i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j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]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为边不相交路径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如果所有时隙中，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i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与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j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之间都至少有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R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条边不相交路径，称该需求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d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为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R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−</m:t>
                    </m:r>
                  </m:oMath>
                </a14:m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边联通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altLang="zh-CN" sz="1600" baseline="-25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ij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是需求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生存性要求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，即所有时隙中需求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d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 </m:t>
                    </m:r>
                  </m:oMath>
                </a14:m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是</a:t>
                </a: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𝐫</m:t>
                    </m:r>
                    <m:r>
                      <a:rPr lang="en-US" altLang="zh-CN" sz="1600" b="1" baseline="-25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𝐢𝐣</m:t>
                    </m:r>
                    <m:r>
                      <a:rPr lang="en-US" altLang="zh-CN" sz="1600" b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−边联通</m:t>
                    </m:r>
                  </m:oMath>
                </a14:m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的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75" y="3640455"/>
                <a:ext cx="8021955" cy="266001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-135255" y="5725795"/>
                <a:ext cx="9144000" cy="450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eaLnBrk="1" hangingPunct="1">
                  <a:lnSpc>
                    <a:spcPct val="130000"/>
                  </a:lnSpc>
                </a:pPr>
                <a:r>
                  <a:rPr lang="en-US" sz="1800" b="1" dirty="0">
                    <a:solidFill>
                      <a:srgbClr val="053CAF"/>
                    </a:solidFill>
                    <a:latin typeface="宋体" panose="02010600030101010101" pitchFamily="2" charset="-122"/>
                    <a:cs typeface="+mj-cs"/>
                  </a:rPr>
                  <a:t>※ </a:t>
                </a:r>
                <a14:m>
                  <m:oMath xmlns:m="http://schemas.openxmlformats.org/officeDocument/2006/math">
                    <m:r>
                      <a:rPr lang="en-US" sz="1800" b="1" dirty="0">
                        <a:solidFill>
                          <a:srgbClr val="053CA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𝐫</m:t>
                    </m:r>
                    <m:r>
                      <a:rPr lang="en-US" sz="1800" b="1" baseline="-25000" dirty="0">
                        <a:solidFill>
                          <a:srgbClr val="053CA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𝐢𝐣</m:t>
                    </m:r>
                  </m:oMath>
                </a14:m>
                <a:r>
                  <a:rPr lang="en-US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 </a:t>
                </a:r>
                <a:r>
                  <a:rPr lang="zh-CN" altLang="en-US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越高，表示冗余路径越多，</a:t>
                </a:r>
                <a14:m>
                  <m:oMath xmlns:m="http://schemas.openxmlformats.org/officeDocument/2006/math">
                    <m:r>
                      <a:rPr lang="en-US" altLang="zh-CN" sz="1800" b="1" dirty="0">
                        <a:solidFill>
                          <a:srgbClr val="053CA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𝐢</m:t>
                    </m:r>
                  </m:oMath>
                </a14:m>
                <a:r>
                  <a:rPr lang="en-US" altLang="zh-CN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 </a:t>
                </a:r>
                <a:r>
                  <a:rPr lang="zh-CN" altLang="en-US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与</a:t>
                </a:r>
                <a:r>
                  <a:rPr lang="en-US" altLang="zh-CN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1" dirty="0">
                        <a:solidFill>
                          <a:srgbClr val="053CA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𝐣</m:t>
                    </m:r>
                  </m:oMath>
                </a14:m>
                <a:r>
                  <a:rPr lang="en-US" altLang="zh-CN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 </a:t>
                </a:r>
                <a:r>
                  <a:rPr lang="zh-CN" altLang="en-US" sz="1800" b="1" dirty="0">
                    <a:solidFill>
                      <a:srgbClr val="053CA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j-cs"/>
                  </a:rPr>
                  <a:t>之间的通信会话就能抵抗更多链路失效</a:t>
                </a:r>
                <a:endParaRPr lang="zh-CN" altLang="en-US" sz="1800" b="1" dirty="0">
                  <a:solidFill>
                    <a:srgbClr val="053CA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endParaRPr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255" y="5725795"/>
                <a:ext cx="9144000" cy="4508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时延要求（有向分层图</a:t>
            </a:r>
            <a:r>
              <a:rPr lang="en-US" altLang="zh-CN" dirty="0"/>
              <a:t> </a:t>
            </a:r>
            <a:r>
              <a:rPr lang="zh-CN" dirty="0"/>
              <a:t>转化）</a:t>
            </a:r>
            <a:endParaRPr lang="zh-CN" dirty="0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" imgH="177165" progId="Equation.KSEE3">
                  <p:embed/>
                </p:oleObj>
              </mc:Choice>
              <mc:Fallback>
                <p:oleObj name="" r:id="rId1" imgW="114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14300" imgH="177165" progId="Equation.KSEE3">
                  <p:embed/>
                </p:oleObj>
              </mc:Choice>
              <mc:Fallback>
                <p:oleObj name="" r:id="rId3" imgW="1143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40100"/>
          <a:ext cx="114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5" imgW="114300" imgH="177165" progId="Equation.KSEE3">
                  <p:embed/>
                </p:oleObj>
              </mc:Choice>
              <mc:Fallback>
                <p:oleObj name="" r:id="rId5" imgW="114300" imgH="1771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3340100"/>
                        <a:ext cx="114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{C4393A25-452D-4DE7-A4B8-4B45CF12359C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01090"/>
            <a:ext cx="9144000" cy="22390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63525" y="3415030"/>
                <a:ext cx="8702675" cy="101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b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时延要求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转换为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b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路径长度要求</a:t>
                </a:r>
                <a:r>
                  <a:rPr lang="en-US" altLang="zh-CN" sz="1600" b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𝐋</m:t>
                    </m:r>
                  </m:oMath>
                </a14:m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（需求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d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的路径不超过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L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有向分层图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一共有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L+1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层，中间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L-1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层都是由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src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以外的所有节点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及其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之间的连接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组成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有向分层图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的转换，保证了从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src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dst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的任何可行路径都满足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60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L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跳约束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25" y="3415030"/>
                <a:ext cx="8702675" cy="10147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 descr="{B8EE363A-16FF-4FFB-80A6-0C67053171F9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35" y="4504690"/>
            <a:ext cx="2880995" cy="1080770"/>
          </a:xfrm>
          <a:prstGeom prst="rect">
            <a:avLst/>
          </a:prstGeom>
        </p:spPr>
      </p:pic>
      <p:pic>
        <p:nvPicPr>
          <p:cNvPr id="21" name="图片 20" descr="{9ACEFDF1-B732-4AFD-A84D-39B258A71A9C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35" y="6069965"/>
            <a:ext cx="2667635" cy="240665"/>
          </a:xfrm>
          <a:prstGeom prst="rect">
            <a:avLst/>
          </a:prstGeom>
        </p:spPr>
      </p:pic>
      <p:pic>
        <p:nvPicPr>
          <p:cNvPr id="22" name="图片 21" descr="{A27077B9-EE9B-4251-904E-D083EB6712AF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6430" y="4634230"/>
            <a:ext cx="2903855" cy="486410"/>
          </a:xfrm>
          <a:prstGeom prst="rect">
            <a:avLst/>
          </a:prstGeom>
        </p:spPr>
      </p:pic>
      <p:pic>
        <p:nvPicPr>
          <p:cNvPr id="23" name="图片 22" descr="{C23B3BFC-61F3-4AD3-840C-EEB017666E47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6430" y="5677535"/>
            <a:ext cx="2908935" cy="73723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381000" y="5690235"/>
            <a:ext cx="4018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分层图每个节点上的流守恒约束，保证了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</a:t>
            </a:r>
            <a:r>
              <a:rPr lang="zh-CN" altLang="en-US" sz="12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生存性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1000" y="6414770"/>
            <a:ext cx="4018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 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避免局部环流路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00195" y="5208905"/>
            <a:ext cx="4018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保证了各路径的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边不相交性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00195" y="6414770"/>
            <a:ext cx="4018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表明每条需求的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链路容量要求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8" grpId="0"/>
      <p:bldP spid="24" grpId="1"/>
      <p:bldP spid="25" grpId="1"/>
      <p:bldP spid="26" grpId="1"/>
      <p:bldP spid="2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模型名称</a:t>
            </a:r>
            <a:r>
              <a:rPr lang="en-US" altLang="zh-CN" dirty="0"/>
              <a:t>&gt;</a:t>
            </a:r>
            <a:r>
              <a:rPr lang="zh-CN" altLang="en-US" dirty="0"/>
              <a:t>模型定义</a:t>
            </a:r>
            <a:endParaRPr lang="zh-CN" altLang="en-US" dirty="0"/>
          </a:p>
        </p:txBody>
      </p:sp>
      <p:grpSp>
        <p:nvGrpSpPr>
          <p:cNvPr id="26" name="组合 25"/>
          <p:cNvGrpSpPr/>
          <p:nvPr/>
        </p:nvGrpSpPr>
        <p:grpSpPr>
          <a:xfrm rot="0">
            <a:off x="394970" y="1157605"/>
            <a:ext cx="4187825" cy="2000250"/>
            <a:chOff x="394686" y="1157654"/>
            <a:chExt cx="4187679" cy="2000412"/>
          </a:xfrm>
        </p:grpSpPr>
        <p:grpSp>
          <p:nvGrpSpPr>
            <p:cNvPr id="7" name="组合 6"/>
            <p:cNvGrpSpPr/>
            <p:nvPr/>
          </p:nvGrpSpPr>
          <p:grpSpPr>
            <a:xfrm>
              <a:off x="496324" y="1157654"/>
              <a:ext cx="1413039" cy="430887"/>
              <a:chOff x="1699726" y="4275460"/>
              <a:chExt cx="1413039" cy="430887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1799585" y="4275460"/>
                <a:ext cx="13131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基本思想</a:t>
                </a:r>
                <a:endPara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1699726" y="4436531"/>
                <a:ext cx="108744" cy="108744"/>
                <a:chOff x="1715911" y="4436533"/>
                <a:chExt cx="108744" cy="108744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715911" y="4436533"/>
                  <a:ext cx="108744" cy="1087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740980" y="4461602"/>
                  <a:ext cx="58605" cy="58605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5" name="组合 24"/>
            <p:cNvGrpSpPr/>
            <p:nvPr/>
          </p:nvGrpSpPr>
          <p:grpSpPr>
            <a:xfrm>
              <a:off x="394686" y="1663817"/>
              <a:ext cx="4187679" cy="1494249"/>
              <a:chOff x="394686" y="1663817"/>
              <a:chExt cx="4187679" cy="1494249"/>
            </a:xfrm>
          </p:grpSpPr>
          <p:sp>
            <p:nvSpPr>
              <p:cNvPr id="12" name="矩形: 圆角 11"/>
              <p:cNvSpPr/>
              <p:nvPr/>
            </p:nvSpPr>
            <p:spPr>
              <a:xfrm>
                <a:off x="394686" y="1663817"/>
                <a:ext cx="4187679" cy="1494249"/>
              </a:xfrm>
              <a:prstGeom prst="roundRect">
                <a:avLst>
                  <a:gd name="adj" fmla="val 10597"/>
                </a:avLst>
              </a:prstGeom>
              <a:solidFill>
                <a:schemeClr val="accent4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94266" y="1740180"/>
                <a:ext cx="3988517" cy="410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4681945" y="1157654"/>
            <a:ext cx="4097260" cy="4678523"/>
            <a:chOff x="4681945" y="1157654"/>
            <a:chExt cx="4097260" cy="4678523"/>
          </a:xfrm>
        </p:grpSpPr>
        <p:sp>
          <p:nvSpPr>
            <p:cNvPr id="17" name="文本框 16"/>
            <p:cNvSpPr txBox="1"/>
            <p:nvPr/>
          </p:nvSpPr>
          <p:spPr>
            <a:xfrm>
              <a:off x="4781804" y="1157654"/>
              <a:ext cx="228473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模型名称</a:t>
              </a:r>
              <a:r>
                <a: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681945" y="1318725"/>
              <a:ext cx="108744" cy="108744"/>
              <a:chOff x="1715911" y="4436533"/>
              <a:chExt cx="108744" cy="108744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4790688" y="5344687"/>
              <a:ext cx="3988517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>
                <a:lnSpc>
                  <a:spcPct val="130000"/>
                </a:lnSpc>
                <a:buFont typeface="Arial" panose="020B0604020202020204" pitchFamily="34" charset="0"/>
                <a:buNone/>
              </a:pPr>
              <a:endPara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4790689" y="1613885"/>
              <a:ext cx="3865417" cy="1520493"/>
              <a:chOff x="4781804" y="1564698"/>
              <a:chExt cx="3865417" cy="1520493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4781804" y="1564698"/>
                <a:ext cx="3082036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157315" y="2354306"/>
                <a:ext cx="3489906" cy="730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4790689" y="3466492"/>
              <a:ext cx="3853388" cy="751743"/>
              <a:chOff x="4765619" y="3742061"/>
              <a:chExt cx="3853388" cy="751743"/>
            </a:xfrm>
          </p:grpSpPr>
          <p:sp>
            <p:nvSpPr>
              <p:cNvPr id="36" name="文本框 35"/>
              <p:cNvSpPr txBox="1"/>
              <p:nvPr/>
            </p:nvSpPr>
            <p:spPr>
              <a:xfrm>
                <a:off x="4765619" y="3742061"/>
                <a:ext cx="3853388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5157316" y="4082959"/>
                <a:ext cx="3461691" cy="410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算法流程</a:t>
            </a:r>
            <a:r>
              <a:rPr lang="en-US" altLang="zh-CN" dirty="0"/>
              <a:t>(I)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496324" y="1157654"/>
            <a:ext cx="1413039" cy="430887"/>
            <a:chOff x="1699726" y="4275460"/>
            <a:chExt cx="1413039" cy="430887"/>
          </a:xfrm>
        </p:grpSpPr>
        <p:sp>
          <p:nvSpPr>
            <p:cNvPr id="4" name="文本框 3"/>
            <p:cNvSpPr txBox="1"/>
            <p:nvPr/>
          </p:nvSpPr>
          <p:spPr>
            <a:xfrm>
              <a:off x="1799585" y="4275460"/>
              <a:ext cx="13131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核心内容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605068" y="1943447"/>
            <a:ext cx="7933864" cy="831920"/>
            <a:chOff x="605068" y="2391620"/>
            <a:chExt cx="7933864" cy="831920"/>
          </a:xfrm>
        </p:grpSpPr>
        <p:sp>
          <p:nvSpPr>
            <p:cNvPr id="11" name="文本框 10"/>
            <p:cNvSpPr txBox="1"/>
            <p:nvPr/>
          </p:nvSpPr>
          <p:spPr>
            <a:xfrm>
              <a:off x="605068" y="2391620"/>
              <a:ext cx="7933864" cy="4508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548618" y="2772690"/>
              <a:ext cx="6870999" cy="4508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96324" y="2782674"/>
            <a:ext cx="1413039" cy="430887"/>
            <a:chOff x="1699726" y="4275460"/>
            <a:chExt cx="1413039" cy="430887"/>
          </a:xfrm>
        </p:grpSpPr>
        <p:sp>
          <p:nvSpPr>
            <p:cNvPr id="18" name="文本框 17"/>
            <p:cNvSpPr txBox="1"/>
            <p:nvPr/>
          </p:nvSpPr>
          <p:spPr>
            <a:xfrm>
              <a:off x="1799585" y="4275460"/>
              <a:ext cx="13131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主要流程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97" name="直接连接符 96"/>
          <p:cNvCxnSpPr/>
          <p:nvPr/>
        </p:nvCxnSpPr>
        <p:spPr>
          <a:xfrm>
            <a:off x="1605225" y="5013593"/>
            <a:ext cx="6409390" cy="0"/>
          </a:xfrm>
          <a:prstGeom prst="line">
            <a:avLst/>
          </a:prstGeom>
          <a:ln w="22225" cmpd="dbl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算法流程</a:t>
            </a:r>
            <a:r>
              <a:rPr lang="en-US" altLang="zh-CN" dirty="0"/>
              <a:t>(II)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605068" y="1943447"/>
            <a:ext cx="7933864" cy="831920"/>
            <a:chOff x="605068" y="2391620"/>
            <a:chExt cx="7933864" cy="831920"/>
          </a:xfrm>
        </p:grpSpPr>
        <p:sp>
          <p:nvSpPr>
            <p:cNvPr id="11" name="文本框 10"/>
            <p:cNvSpPr txBox="1"/>
            <p:nvPr/>
          </p:nvSpPr>
          <p:spPr>
            <a:xfrm>
              <a:off x="605068" y="2391620"/>
              <a:ext cx="7933864" cy="4508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548618" y="2772690"/>
              <a:ext cx="6870999" cy="4508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80754" y="1193904"/>
            <a:ext cx="1413039" cy="430887"/>
            <a:chOff x="1699726" y="4275460"/>
            <a:chExt cx="1413039" cy="430887"/>
          </a:xfrm>
        </p:grpSpPr>
        <p:sp>
          <p:nvSpPr>
            <p:cNvPr id="18" name="文本框 17"/>
            <p:cNvSpPr txBox="1"/>
            <p:nvPr/>
          </p:nvSpPr>
          <p:spPr>
            <a:xfrm>
              <a:off x="1799585" y="4275460"/>
              <a:ext cx="13131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主要流程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实验结果与分析</a:t>
            </a:r>
            <a:r>
              <a:rPr lang="en-US" altLang="zh-CN" dirty="0"/>
              <a:t>(I)</a:t>
            </a:r>
            <a:endParaRPr lang="zh-CN" altLang="en-US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331224" y="1106852"/>
            <a:ext cx="8540650" cy="3110608"/>
            <a:chOff x="331224" y="1157652"/>
            <a:chExt cx="8540650" cy="3110608"/>
          </a:xfrm>
        </p:grpSpPr>
        <p:grpSp>
          <p:nvGrpSpPr>
            <p:cNvPr id="102" name="组合 101"/>
            <p:cNvGrpSpPr/>
            <p:nvPr/>
          </p:nvGrpSpPr>
          <p:grpSpPr>
            <a:xfrm>
              <a:off x="331224" y="1157654"/>
              <a:ext cx="3597434" cy="3110562"/>
              <a:chOff x="331224" y="1157654"/>
              <a:chExt cx="3597434" cy="3110562"/>
            </a:xfrm>
          </p:grpSpPr>
          <p:grpSp>
            <p:nvGrpSpPr>
              <p:cNvPr id="100" name="组合 99"/>
              <p:cNvGrpSpPr/>
              <p:nvPr/>
            </p:nvGrpSpPr>
            <p:grpSpPr>
              <a:xfrm>
                <a:off x="331224" y="1157654"/>
                <a:ext cx="1096809" cy="429895"/>
                <a:chOff x="331224" y="1157654"/>
                <a:chExt cx="1096809" cy="429895"/>
              </a:xfrm>
            </p:grpSpPr>
            <p:sp>
              <p:nvSpPr>
                <p:cNvPr id="7" name="文本框 6"/>
                <p:cNvSpPr txBox="1"/>
                <p:nvPr/>
              </p:nvSpPr>
              <p:spPr>
                <a:xfrm>
                  <a:off x="431083" y="1157654"/>
                  <a:ext cx="996950" cy="4298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实验</a:t>
                  </a:r>
                  <a:r>
                    <a:rPr lang="en-US" altLang="zh-CN" sz="2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</a:t>
                  </a:r>
                  <a:endParaRPr lang="zh-CN" altLang="en-US" sz="22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8" name="组合 7"/>
                <p:cNvGrpSpPr/>
                <p:nvPr/>
              </p:nvGrpSpPr>
              <p:grpSpPr>
                <a:xfrm>
                  <a:off x="331224" y="1318725"/>
                  <a:ext cx="108744" cy="108744"/>
                  <a:chOff x="1715911" y="4436533"/>
                  <a:chExt cx="108744" cy="108744"/>
                </a:xfrm>
              </p:grpSpPr>
              <p:sp>
                <p:nvSpPr>
                  <p:cNvPr id="9" name="矩形 8"/>
                  <p:cNvSpPr/>
                  <p:nvPr/>
                </p:nvSpPr>
                <p:spPr>
                  <a:xfrm>
                    <a:off x="1715911" y="4436533"/>
                    <a:ext cx="108744" cy="10874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矩形 9"/>
                  <p:cNvSpPr/>
                  <p:nvPr/>
                </p:nvSpPr>
                <p:spPr>
                  <a:xfrm>
                    <a:off x="1740980" y="4461602"/>
                    <a:ext cx="58605" cy="5860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101" name="组合 100"/>
              <p:cNvGrpSpPr/>
              <p:nvPr/>
            </p:nvGrpSpPr>
            <p:grpSpPr>
              <a:xfrm>
                <a:off x="380913" y="1680466"/>
                <a:ext cx="3547745" cy="2587750"/>
                <a:chOff x="380913" y="1680466"/>
                <a:chExt cx="3547745" cy="2587750"/>
              </a:xfrm>
            </p:grpSpPr>
            <p:sp>
              <p:nvSpPr>
                <p:cNvPr id="32" name="矩形: 圆角 31"/>
                <p:cNvSpPr/>
                <p:nvPr/>
              </p:nvSpPr>
              <p:spPr>
                <a:xfrm>
                  <a:off x="380913" y="1680466"/>
                  <a:ext cx="3547745" cy="2095500"/>
                </a:xfrm>
                <a:prstGeom prst="roundRect">
                  <a:avLst>
                    <a:gd name="adj" fmla="val 10597"/>
                  </a:avLst>
                </a:prstGeom>
                <a:solidFill>
                  <a:schemeClr val="accent4">
                    <a:lumMod val="20000"/>
                    <a:lumOff val="8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507594" y="1753756"/>
                  <a:ext cx="13388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实验结果：</a:t>
                  </a:r>
                  <a:endPara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440284" y="3898884"/>
                  <a:ext cx="13388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实验表明：</a:t>
                  </a:r>
                  <a:endPara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04" name="组合 103"/>
            <p:cNvGrpSpPr/>
            <p:nvPr/>
          </p:nvGrpSpPr>
          <p:grpSpPr>
            <a:xfrm>
              <a:off x="3928185" y="1157652"/>
              <a:ext cx="4943689" cy="3110608"/>
              <a:chOff x="3928185" y="1157652"/>
              <a:chExt cx="4943689" cy="3110608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928185" y="1157652"/>
                <a:ext cx="1096809" cy="429895"/>
                <a:chOff x="1699726" y="4275460"/>
                <a:chExt cx="1096809" cy="429895"/>
              </a:xfrm>
            </p:grpSpPr>
            <p:sp>
              <p:nvSpPr>
                <p:cNvPr id="44" name="文本框 43"/>
                <p:cNvSpPr txBox="1"/>
                <p:nvPr/>
              </p:nvSpPr>
              <p:spPr>
                <a:xfrm>
                  <a:off x="1799585" y="4275460"/>
                  <a:ext cx="996950" cy="4298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实验</a:t>
                  </a:r>
                  <a:r>
                    <a:rPr lang="en-US" altLang="zh-CN" sz="22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 </a:t>
                  </a:r>
                  <a:endParaRPr lang="zh-CN" altLang="en-US" sz="22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5" name="组合 44"/>
                <p:cNvGrpSpPr/>
                <p:nvPr/>
              </p:nvGrpSpPr>
              <p:grpSpPr>
                <a:xfrm>
                  <a:off x="1699726" y="4436531"/>
                  <a:ext cx="108744" cy="108744"/>
                  <a:chOff x="1715911" y="4436533"/>
                  <a:chExt cx="108744" cy="108744"/>
                </a:xfrm>
              </p:grpSpPr>
              <p:sp>
                <p:nvSpPr>
                  <p:cNvPr id="46" name="矩形 45"/>
                  <p:cNvSpPr/>
                  <p:nvPr/>
                </p:nvSpPr>
                <p:spPr>
                  <a:xfrm>
                    <a:off x="1715911" y="4436533"/>
                    <a:ext cx="108744" cy="10874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" name="矩形 46"/>
                  <p:cNvSpPr/>
                  <p:nvPr/>
                </p:nvSpPr>
                <p:spPr>
                  <a:xfrm>
                    <a:off x="1740980" y="4461602"/>
                    <a:ext cx="58605" cy="58605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98" name="组合 97"/>
              <p:cNvGrpSpPr/>
              <p:nvPr/>
            </p:nvGrpSpPr>
            <p:grpSpPr>
              <a:xfrm rot="0">
                <a:off x="4051299" y="1671079"/>
                <a:ext cx="4820575" cy="2597181"/>
                <a:chOff x="4051299" y="3867406"/>
                <a:chExt cx="4820575" cy="2597181"/>
              </a:xfrm>
            </p:grpSpPr>
            <p:sp>
              <p:nvSpPr>
                <p:cNvPr id="70" name="矩形: 圆角 69"/>
                <p:cNvSpPr/>
                <p:nvPr/>
              </p:nvSpPr>
              <p:spPr>
                <a:xfrm>
                  <a:off x="4051299" y="3867406"/>
                  <a:ext cx="4820575" cy="2167216"/>
                </a:xfrm>
                <a:prstGeom prst="roundRect">
                  <a:avLst>
                    <a:gd name="adj" fmla="val 7960"/>
                  </a:avLst>
                </a:prstGeom>
                <a:solidFill>
                  <a:schemeClr val="accent4">
                    <a:lumMod val="20000"/>
                    <a:lumOff val="80000"/>
                    <a:alpha val="7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文本框 71"/>
                <p:cNvSpPr txBox="1"/>
                <p:nvPr/>
              </p:nvSpPr>
              <p:spPr>
                <a:xfrm>
                  <a:off x="4151229" y="3950138"/>
                  <a:ext cx="13388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实验结果：</a:t>
                  </a:r>
                  <a:endPara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4051299" y="6095255"/>
                  <a:ext cx="13388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实验表明：</a:t>
                  </a:r>
                  <a:endPara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实验结果与分析</a:t>
            </a:r>
            <a:r>
              <a:rPr lang="en-US" altLang="zh-CN" dirty="0"/>
              <a:t>(II)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331224" y="1106854"/>
            <a:ext cx="1106866" cy="430887"/>
            <a:chOff x="331224" y="1157654"/>
            <a:chExt cx="1106866" cy="430887"/>
          </a:xfrm>
        </p:grpSpPr>
        <p:sp>
          <p:nvSpPr>
            <p:cNvPr id="9" name="文本框 8"/>
            <p:cNvSpPr txBox="1"/>
            <p:nvPr/>
          </p:nvSpPr>
          <p:spPr>
            <a:xfrm>
              <a:off x="431083" y="1157654"/>
              <a:ext cx="100700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</a:t>
              </a:r>
              <a:r>
                <a: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31224" y="1318725"/>
              <a:ext cx="108744" cy="108744"/>
              <a:chOff x="1715911" y="4436533"/>
              <a:chExt cx="108744" cy="10874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404799" y="1588540"/>
            <a:ext cx="3891042" cy="1925931"/>
            <a:chOff x="439968" y="1588540"/>
            <a:chExt cx="3891042" cy="1925931"/>
          </a:xfrm>
        </p:grpSpPr>
        <p:grpSp>
          <p:nvGrpSpPr>
            <p:cNvPr id="23" name="组合 22"/>
            <p:cNvGrpSpPr/>
            <p:nvPr/>
          </p:nvGrpSpPr>
          <p:grpSpPr>
            <a:xfrm>
              <a:off x="439968" y="1588540"/>
              <a:ext cx="3891042" cy="1522112"/>
              <a:chOff x="439968" y="3867406"/>
              <a:chExt cx="3891042" cy="1522112"/>
            </a:xfrm>
          </p:grpSpPr>
          <p:sp>
            <p:nvSpPr>
              <p:cNvPr id="22" name="矩形: 圆角 21"/>
              <p:cNvSpPr/>
              <p:nvPr/>
            </p:nvSpPr>
            <p:spPr>
              <a:xfrm>
                <a:off x="439968" y="3867406"/>
                <a:ext cx="3891042" cy="1522112"/>
              </a:xfrm>
              <a:prstGeom prst="roundRect">
                <a:avLst>
                  <a:gd name="adj" fmla="val 10597"/>
                </a:avLst>
              </a:prstGeom>
              <a:solidFill>
                <a:schemeClr val="accent4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507594" y="3955936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实验结果：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507594" y="314513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实验表明：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31224" y="4797913"/>
            <a:ext cx="1413039" cy="430887"/>
            <a:chOff x="331224" y="1157654"/>
            <a:chExt cx="1413039" cy="430887"/>
          </a:xfrm>
        </p:grpSpPr>
        <p:sp>
          <p:nvSpPr>
            <p:cNvPr id="30" name="文本框 29"/>
            <p:cNvSpPr txBox="1"/>
            <p:nvPr/>
          </p:nvSpPr>
          <p:spPr>
            <a:xfrm>
              <a:off x="431083" y="1157654"/>
              <a:ext cx="131318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实验总结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31224" y="1318725"/>
              <a:ext cx="108744" cy="108744"/>
              <a:chOff x="1715911" y="4436533"/>
              <a:chExt cx="108744" cy="10874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结论与展望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496324" y="1157654"/>
            <a:ext cx="7771376" cy="866892"/>
            <a:chOff x="496324" y="1157654"/>
            <a:chExt cx="7771376" cy="866892"/>
          </a:xfrm>
        </p:grpSpPr>
        <p:grpSp>
          <p:nvGrpSpPr>
            <p:cNvPr id="3" name="组合 2"/>
            <p:cNvGrpSpPr/>
            <p:nvPr/>
          </p:nvGrpSpPr>
          <p:grpSpPr>
            <a:xfrm>
              <a:off x="496324" y="1157654"/>
              <a:ext cx="1413039" cy="430887"/>
              <a:chOff x="1699726" y="4275460"/>
              <a:chExt cx="1413039" cy="430887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1799585" y="4275460"/>
                <a:ext cx="13131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研究结论</a:t>
                </a:r>
                <a:endPara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1699726" y="4436531"/>
                <a:ext cx="108744" cy="108744"/>
                <a:chOff x="1715911" y="4436533"/>
                <a:chExt cx="108744" cy="108744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1715911" y="4436533"/>
                  <a:ext cx="108744" cy="1087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1740980" y="4461602"/>
                  <a:ext cx="58605" cy="58605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8" name="文本框 7"/>
            <p:cNvSpPr txBox="1"/>
            <p:nvPr/>
          </p:nvSpPr>
          <p:spPr>
            <a:xfrm>
              <a:off x="605068" y="1573696"/>
              <a:ext cx="7662632" cy="450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96324" y="4941860"/>
            <a:ext cx="8042608" cy="854386"/>
            <a:chOff x="496324" y="5068860"/>
            <a:chExt cx="8042608" cy="854386"/>
          </a:xfrm>
        </p:grpSpPr>
        <p:grpSp>
          <p:nvGrpSpPr>
            <p:cNvPr id="11" name="组合 10"/>
            <p:cNvGrpSpPr/>
            <p:nvPr/>
          </p:nvGrpSpPr>
          <p:grpSpPr>
            <a:xfrm>
              <a:off x="496324" y="5068860"/>
              <a:ext cx="1413039" cy="430887"/>
              <a:chOff x="1699726" y="4275460"/>
              <a:chExt cx="1413039" cy="430887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1799585" y="4275460"/>
                <a:ext cx="13131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未来工作</a:t>
                </a:r>
                <a:endPara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1699726" y="4436531"/>
                <a:ext cx="108744" cy="108744"/>
                <a:chOff x="1715911" y="4436533"/>
                <a:chExt cx="108744" cy="108744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1715911" y="4436533"/>
                  <a:ext cx="108744" cy="1087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740980" y="4461602"/>
                  <a:ext cx="58605" cy="58605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文本框 15"/>
            <p:cNvSpPr txBox="1"/>
            <p:nvPr/>
          </p:nvSpPr>
          <p:spPr>
            <a:xfrm>
              <a:off x="579998" y="5472396"/>
              <a:ext cx="7958934" cy="4508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lnSpc>
                  <a:spcPct val="130000"/>
                </a:lnSpc>
                <a:buFont typeface="Arial" panose="020B0604020202020204" pitchFamily="34" charset="0"/>
                <a:buNone/>
              </a:pPr>
              <a:endParaRPr lang="zh-CN" altLang="en-US" b="1" dirty="0">
                <a:solidFill>
                  <a:srgbClr val="053CA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 rot="0">
            <a:off x="496570" y="3287395"/>
            <a:ext cx="1695450" cy="431165"/>
            <a:chOff x="1699726" y="4275460"/>
            <a:chExt cx="1695168" cy="430887"/>
          </a:xfrm>
        </p:grpSpPr>
        <p:sp>
          <p:nvSpPr>
            <p:cNvPr id="20" name="文本框 19"/>
            <p:cNvSpPr txBox="1"/>
            <p:nvPr/>
          </p:nvSpPr>
          <p:spPr>
            <a:xfrm>
              <a:off x="1799585" y="4275460"/>
              <a:ext cx="159530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优势与劣势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699726" y="4436531"/>
              <a:ext cx="108744" cy="108744"/>
              <a:chOff x="1715911" y="4436533"/>
              <a:chExt cx="108744" cy="108744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715911" y="4436533"/>
                <a:ext cx="108744" cy="1087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740980" y="4461602"/>
                <a:ext cx="58605" cy="5860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>
            <a:off x="634365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38810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464550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460105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34365" y="52895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6301105" y="53657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643255" y="619379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6301105" y="618617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68" name="椭圆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36750" y="3006725"/>
            <a:ext cx="1075055" cy="6121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53CAF"/>
                </a:solidFill>
                <a:latin typeface="Impact" panose="020B0806030902050204" pitchFamily="34" charset="0"/>
              </a:rPr>
              <a:t>03</a:t>
            </a:r>
            <a:endParaRPr lang="en-US" altLang="zh-CN" sz="4000" dirty="0">
              <a:solidFill>
                <a:srgbClr val="053CAF"/>
              </a:solidFill>
              <a:latin typeface="Impact" panose="020B0806030902050204" pitchFamily="34" charset="0"/>
            </a:endParaRPr>
          </a:p>
        </p:txBody>
      </p:sp>
      <p:sp>
        <p:nvSpPr>
          <p:cNvPr id="3080" name="文本框 1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98470" y="3006725"/>
            <a:ext cx="4581525" cy="6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实验结果与分析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>
            <a:off x="634365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638810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464550" y="52895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460105" y="4328795"/>
            <a:ext cx="4445" cy="186499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34365" y="52895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6301105" y="536575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643255" y="619379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6301105" y="6186170"/>
            <a:ext cx="2159000" cy="762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268" name="椭圆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25065" y="3058795"/>
            <a:ext cx="1158240" cy="61214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rgbClr val="053CAF"/>
                </a:solidFill>
                <a:latin typeface="Impact" panose="020B0806030902050204" pitchFamily="34" charset="0"/>
              </a:rPr>
              <a:t>04</a:t>
            </a:r>
            <a:endParaRPr lang="en-US" altLang="zh-CN" sz="4000" dirty="0">
              <a:solidFill>
                <a:srgbClr val="053CAF"/>
              </a:solidFill>
              <a:latin typeface="Impact" panose="020B0806030902050204" pitchFamily="34" charset="0"/>
            </a:endParaRPr>
          </a:p>
        </p:txBody>
      </p:sp>
      <p:sp>
        <p:nvSpPr>
          <p:cNvPr id="3080" name="文本框 1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86785" y="3058795"/>
            <a:ext cx="2814320" cy="6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结论与展望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797719" y="2783785"/>
            <a:ext cx="7927181" cy="141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谢谢大家！</a:t>
            </a:r>
            <a:endParaRPr lang="en-US" altLang="zh-CN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en-US" altLang="zh-CN" sz="3300" b="1" dirty="0">
                <a:solidFill>
                  <a:schemeClr val="bg1"/>
                </a:solidFill>
                <a:latin typeface="Consolas" panose="020B0609020204030204" charset="0"/>
                <a:ea typeface="微软雅黑" panose="020B0503020204020204" pitchFamily="34" charset="-122"/>
                <a:cs typeface="Consolas" panose="020B0609020204030204" charset="0"/>
              </a:rPr>
              <a:t>Thank you!</a:t>
            </a:r>
            <a:endParaRPr lang="zh-CN" altLang="en-US" sz="3300" b="1" dirty="0">
              <a:solidFill>
                <a:schemeClr val="bg1"/>
              </a:solidFill>
              <a:latin typeface="Consolas" panose="020B0609020204030204" charset="0"/>
              <a:ea typeface="微软雅黑" panose="020B0503020204020204" pitchFamily="34" charset="-122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2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3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4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5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6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7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8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9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10.xml><?xml version="1.0" encoding="utf-8"?>
<p:tagLst xmlns:p="http://schemas.openxmlformats.org/presentationml/2006/main">
  <p:tag name="KSO_WM_DIAGRAM_VIRTUALLY_FRAME" val="{&quot;height&quot;:292.04803149606295,&quot;left&quot;:8.49763779527559,&quot;top&quot;:188.41881889763778,&quot;width&quot;:709.7128346456693}"/>
</p:tagLst>
</file>

<file path=ppt/tags/tag11.xml><?xml version="1.0" encoding="utf-8"?>
<p:tagLst xmlns:p="http://schemas.openxmlformats.org/presentationml/2006/main">
  <p:tag name="KSO_WM_DIAGRAM_VIRTUALLY_FRAME" val="{&quot;height&quot;:292.04803149606295,&quot;left&quot;:8.49763779527559,&quot;top&quot;:188.41881889763778,&quot;width&quot;:709.7128346456693}"/>
</p:tagLst>
</file>

<file path=ppt/tags/tag12.xml><?xml version="1.0" encoding="utf-8"?>
<p:tagLst xmlns:p="http://schemas.openxmlformats.org/presentationml/2006/main">
  <p:tag name="KSO_WM_DIAGRAM_VIRTUALLY_FRAME" val="{&quot;height&quot;:292.04803149606295,&quot;left&quot;:8.49763779527559,&quot;top&quot;:188.41881889763778,&quot;width&quot;:709.7128346456693}"/>
</p:tagLst>
</file>

<file path=ppt/tags/tag13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14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15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16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17.xml><?xml version="1.0" encoding="utf-8"?>
<p:tagLst xmlns:p="http://schemas.openxmlformats.org/presentationml/2006/main">
  <p:tag name="TABLE_ENDDRAG_ORIGIN_RECT" val="433*50"/>
  <p:tag name="TABLE_ENDDRAG_RECT" val="59*212*433*50"/>
</p:tagLst>
</file>

<file path=ppt/tags/tag18.xml><?xml version="1.0" encoding="utf-8"?>
<p:tagLst xmlns:p="http://schemas.openxmlformats.org/presentationml/2006/main">
  <p:tag name="TABLE_ENDDRAG_ORIGIN_RECT" val="433*50"/>
  <p:tag name="TABLE_ENDDRAG_RECT" val="59*212*433*50"/>
</p:tagLst>
</file>

<file path=ppt/tags/tag19.xml><?xml version="1.0" encoding="utf-8"?>
<p:tagLst xmlns:p="http://schemas.openxmlformats.org/presentationml/2006/main">
  <p:tag name="TABLE_ENDDRAG_ORIGIN_RECT" val="629*99"/>
  <p:tag name="TABLE_ENDDRAG_RECT" val="70*140*629*99"/>
</p:tagLst>
</file>

<file path=ppt/tags/tag20.xml><?xml version="1.0" encoding="utf-8"?>
<p:tagLst xmlns:p="http://schemas.openxmlformats.org/presentationml/2006/main">
  <p:tag name="TABLE_ENDDRAG_ORIGIN_RECT" val="629*99"/>
  <p:tag name="TABLE_ENDDRAG_RECT" val="70*140*629*99"/>
</p:tagLst>
</file>

<file path=ppt/tags/tag21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22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23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24.xml><?xml version="1.0" encoding="utf-8"?>
<p:tagLst xmlns:p="http://schemas.openxmlformats.org/presentationml/2006/main">
  <p:tag name="KSO_WM_DIAGRAM_VIRTUALLY_FRAME" val="{&quot;height&quot;:337.548031496063,&quot;left&quot;:8.49763779527559,&quot;top&quot;:142.91881889763778,&quot;width&quot;:709.7128346456693}"/>
</p:tagLst>
</file>

<file path=ppt/tags/tag25.xml><?xml version="1.0" encoding="utf-8"?>
<p:tagLst xmlns:p="http://schemas.openxmlformats.org/presentationml/2006/main">
  <p:tag name="COMMONDATA" val="eyJoZGlkIjoiN2U2MDEyMzcwNDcyN2RhZGI3YzgyMDlhNzY5Y2U0MmEifQ==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2091</Words>
  <Application>WPS 演示</Application>
  <PresentationFormat>全屏显示(4:3)</PresentationFormat>
  <Paragraphs>211</Paragraphs>
  <Slides>18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18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幼圆</vt:lpstr>
      <vt:lpstr>Times New Roman</vt:lpstr>
      <vt:lpstr>微软雅黑</vt:lpstr>
      <vt:lpstr>方正大标宋_GBK</vt:lpstr>
      <vt:lpstr>华文楷体</vt:lpstr>
      <vt:lpstr>Impact</vt:lpstr>
      <vt:lpstr>华文中宋</vt:lpstr>
      <vt:lpstr>Cambria Math</vt:lpstr>
      <vt:lpstr>Consolas</vt:lpstr>
      <vt:lpstr>Arial Unicode MS</vt:lpstr>
      <vt:lpstr>等线 Light</vt:lpstr>
      <vt:lpstr>Calibri Light</vt:lpstr>
      <vt:lpstr>等线</vt:lpstr>
      <vt:lpstr>华文仿宋</vt:lpstr>
      <vt:lpstr>方正姚体</vt:lpstr>
      <vt:lpstr>方正楷体_GBK</vt:lpstr>
      <vt:lpstr>方正隶书_GBK</vt:lpstr>
      <vt:lpstr>楷体</vt:lpstr>
      <vt:lpstr>Helvetica Neue</vt:lpstr>
      <vt:lpstr>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研究背景与问题分析</vt:lpstr>
      <vt:lpstr>研究目标和创新点</vt:lpstr>
      <vt:lpstr>PowerPoint 演示文稿</vt:lpstr>
      <vt:lpstr>问题建模</vt:lpstr>
      <vt:lpstr>SPLD 问题建模</vt:lpstr>
      <vt:lpstr>生存性要求</vt:lpstr>
      <vt:lpstr>动态时空扩展图(DTEG)模型定义</vt:lpstr>
      <vt:lpstr>算法流程(I)</vt:lpstr>
      <vt:lpstr>算法流程(II)</vt:lpstr>
      <vt:lpstr>实验结果与分析(I)</vt:lpstr>
      <vt:lpstr>实验结果与分析(II)</vt:lpstr>
      <vt:lpstr>结论与展望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匿名用户</dc:creator>
  <cp:lastModifiedBy>Administrator</cp:lastModifiedBy>
  <cp:revision>2378</cp:revision>
  <cp:lastPrinted>2015-02-11T06:26:00Z</cp:lastPrinted>
  <dcterms:created xsi:type="dcterms:W3CDTF">2015-01-23T00:15:00Z</dcterms:created>
  <dcterms:modified xsi:type="dcterms:W3CDTF">2026-10-19T04:03:21Z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47E1995FD5194BC3BCC66F719D8E0CC9_12</vt:lpwstr>
  </property>
  <property fmtid="{D5CDD505-2E9C-101B-9397-08002B2CF9AE}" pid="3" name="KSOProductBuildVer">
    <vt:lpwstr>2052-12.8.2.17838</vt:lpwstr>
  </property>
</Properties>
</file>