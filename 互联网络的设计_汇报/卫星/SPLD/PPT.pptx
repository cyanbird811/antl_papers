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png" ContentType="image/png"/>
  <Default Extension="jpeg" ContentType="image/jpeg"/>
  <Default Extension="JPG" ContentType="image/.jp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492" r:id="rId3"/>
    <p:sldId id="910" r:id="rId5"/>
    <p:sldId id="977" r:id="rId6"/>
    <p:sldId id="779" r:id="rId7"/>
    <p:sldId id="961" r:id="rId8"/>
    <p:sldId id="978" r:id="rId9"/>
    <p:sldId id="963" r:id="rId10"/>
    <p:sldId id="992" r:id="rId11"/>
    <p:sldId id="993" r:id="rId12"/>
    <p:sldId id="960" r:id="rId13"/>
    <p:sldId id="964" r:id="rId14"/>
    <p:sldId id="972" r:id="rId15"/>
    <p:sldId id="979" r:id="rId16"/>
    <p:sldId id="967" r:id="rId17"/>
    <p:sldId id="966" r:id="rId18"/>
    <p:sldId id="980" r:id="rId19"/>
    <p:sldId id="968" r:id="rId20"/>
    <p:sldId id="529" r:id="rId21"/>
  </p:sldIdLst>
  <p:sldSz cx="9144000" cy="6858000" type="screen4x3"/>
  <p:notesSz cx="6797675" cy="9928225"/>
  <p:custDataLst>
    <p:tags r:id="rId26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5" userDrawn="1">
          <p15:clr>
            <a:srgbClr val="A4A3A4"/>
          </p15:clr>
        </p15:guide>
        <p15:guide id="2" pos="29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9000"/>
    <a:srgbClr val="FFB7B7"/>
    <a:srgbClr val="C7E6A4"/>
    <a:srgbClr val="FFA3A3"/>
    <a:srgbClr val="053CAF"/>
    <a:srgbClr val="FEE599"/>
    <a:srgbClr val="FFF6DB"/>
    <a:srgbClr val="FFF1C5"/>
    <a:srgbClr val="FFC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315" autoAdjust="0"/>
    <p:restoredTop sz="54086" autoAdjust="0"/>
  </p:normalViewPr>
  <p:slideViewPr>
    <p:cSldViewPr snapToGrid="0" showGuides="1">
      <p:cViewPr varScale="1">
        <p:scale>
          <a:sx n="60" d="100"/>
          <a:sy n="60" d="100"/>
        </p:scale>
        <p:origin x="2200" y="28"/>
      </p:cViewPr>
      <p:guideLst>
        <p:guide orient="horz" pos="2125"/>
        <p:guide pos="29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3348"/>
    </p:cViewPr>
  </p:sorterViewPr>
  <p:notesViewPr>
    <p:cSldViewPr snapToGrid="0">
      <p:cViewPr varScale="1">
        <p:scale>
          <a:sx n="80" d="100"/>
          <a:sy n="80" d="100"/>
        </p:scale>
        <p:origin x="393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6" Type="http://schemas.openxmlformats.org/officeDocument/2006/relationships/tags" Target="tags/tag27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handoutMaster" Target="handoutMasters/handoutMaster1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image" Target="../media/image8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image" Target="../media/image8.w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9.wmf"/><Relationship Id="rId1" Type="http://schemas.openxmlformats.org/officeDocument/2006/relationships/image" Target="../media/image8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A5CDEEC3-AA86-4C2E-BEE7-0C127A0CF13D}" type="datetimeFigureOut">
              <a:rPr lang="zh-CN" altLang="en-US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wrap="square" lIns="91001" tIns="45501" rIns="91001" bIns="45501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63D7DEF6-35DE-4652-9850-A5B0D6DBBE1C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8475"/>
          </a:xfrm>
          <a:prstGeom prst="rect">
            <a:avLst/>
          </a:prstGeom>
        </p:spPr>
        <p:txBody>
          <a:bodyPr vert="horz" lIns="91001" tIns="45501" rIns="91001" bIns="45501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2DF95E5-03E1-46AB-8A3B-FBE93B88DE3D}" type="datetimeFigureOut">
              <a:rPr lang="zh-CN" altLang="en-US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39838"/>
            <a:ext cx="4467225" cy="33512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001" tIns="45501" rIns="91001" bIns="45501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79450" y="4778375"/>
            <a:ext cx="5438775" cy="3908425"/>
          </a:xfrm>
          <a:prstGeom prst="rect">
            <a:avLst/>
          </a:prstGeom>
        </p:spPr>
        <p:txBody>
          <a:bodyPr vert="horz" lIns="91001" tIns="45501" rIns="91001" bIns="45501" rtlCol="0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4813" cy="498475"/>
          </a:xfrm>
          <a:prstGeom prst="rect">
            <a:avLst/>
          </a:prstGeom>
        </p:spPr>
        <p:txBody>
          <a:bodyPr vert="horz" lIns="91001" tIns="45501" rIns="91001" bIns="45501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8475"/>
          </a:xfrm>
          <a:prstGeom prst="rect">
            <a:avLst/>
          </a:prstGeom>
        </p:spPr>
        <p:txBody>
          <a:bodyPr vert="horz" wrap="square" lIns="91001" tIns="45501" rIns="91001" bIns="45501" numCol="1" anchor="b" anchorCtr="0" compatLnSpc="1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178FAFC-6330-462F-9E09-54827C8D4DBC}" type="slidenum">
              <a:rPr lang="zh-CN" altLang="en-US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5299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endParaRPr lang="zh-CN" altLang="en-US" dirty="0"/>
          </a:p>
        </p:txBody>
      </p:sp>
      <p:sp>
        <p:nvSpPr>
          <p:cNvPr id="55300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CD4C0733-09B8-4133-A88A-73B616E8B6A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6323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pPr eaLnBrk="1" hangingPunct="1">
              <a:spcBef>
                <a:spcPct val="0"/>
              </a:spcBef>
            </a:pPr>
            <a:r>
              <a:rPr lang="zh-CN" altLang="en-US" dirty="0"/>
              <a:t>汇报共分为四个部分：</a:t>
            </a:r>
            <a:endParaRPr lang="en-US" altLang="zh-CN" dirty="0"/>
          </a:p>
          <a:p>
            <a:pPr eaLnBrk="1" hangingPunct="1">
              <a:spcBef>
                <a:spcPct val="0"/>
              </a:spcBef>
            </a:pPr>
            <a:br>
              <a:rPr lang="zh-CN" altLang="en-US" dirty="0"/>
            </a:br>
            <a:r>
              <a:rPr lang="zh-CN" altLang="en-US" dirty="0"/>
              <a:t>第一部分介绍</a:t>
            </a:r>
            <a:r>
              <a:rPr lang="zh-CN" altLang="en-US" b="1" dirty="0"/>
              <a:t>研究背景与问题分析；</a:t>
            </a:r>
            <a:br>
              <a:rPr lang="zh-CN" altLang="en-US" b="1" dirty="0"/>
            </a:br>
            <a:r>
              <a:rPr lang="zh-CN" altLang="en-US" dirty="0"/>
              <a:t>第二部分讲解</a:t>
            </a:r>
            <a:r>
              <a:rPr lang="zh-CN" altLang="en-US" b="1" dirty="0"/>
              <a:t>该论文提出的 </a:t>
            </a:r>
            <a:r>
              <a:rPr lang="en-US" altLang="zh-CN" b="1" dirty="0"/>
              <a:t>DoTD </a:t>
            </a:r>
            <a:r>
              <a:rPr lang="zh-CN" altLang="en-US" b="1" dirty="0"/>
              <a:t>算法的建模与设计</a:t>
            </a:r>
            <a:r>
              <a:rPr lang="zh-CN" altLang="en-US" dirty="0"/>
              <a:t>；</a:t>
            </a:r>
            <a:br>
              <a:rPr lang="zh-CN" altLang="en-US" dirty="0"/>
            </a:br>
            <a:r>
              <a:rPr lang="zh-CN" altLang="en-US" dirty="0"/>
              <a:t>第三部分展示</a:t>
            </a:r>
            <a:r>
              <a:rPr lang="zh-CN" altLang="en-US" b="1" dirty="0"/>
              <a:t>实验结果与性能分析</a:t>
            </a:r>
            <a:r>
              <a:rPr lang="zh-CN" altLang="en-US" dirty="0"/>
              <a:t>；</a:t>
            </a:r>
            <a:br>
              <a:rPr lang="zh-CN" altLang="en-US" dirty="0"/>
            </a:br>
            <a:r>
              <a:rPr lang="zh-CN" altLang="en-US" dirty="0"/>
              <a:t>最后一部分给出</a:t>
            </a:r>
            <a:r>
              <a:rPr lang="zh-CN" altLang="en-US" b="1" dirty="0"/>
              <a:t>研究结论与未来展望</a:t>
            </a:r>
            <a:r>
              <a:rPr lang="zh-CN" altLang="en-US" dirty="0"/>
              <a:t>。</a:t>
            </a:r>
            <a:endParaRPr lang="zh-CN" altLang="en-US" dirty="0"/>
          </a:p>
        </p:txBody>
      </p:sp>
      <p:sp>
        <p:nvSpPr>
          <p:cNvPr id="56324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ABCF9862-74F5-4192-835B-D554A7E5162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r>
              <a:rPr lang="zh-CN" altLang="en-US" dirty="0"/>
              <a:t>随着 </a:t>
            </a:r>
            <a:r>
              <a:rPr lang="en-US" altLang="zh-CN" dirty="0"/>
              <a:t>SpaceX </a:t>
            </a:r>
            <a:r>
              <a:rPr lang="zh-CN" altLang="en-US" dirty="0"/>
              <a:t>的 </a:t>
            </a:r>
            <a:r>
              <a:rPr lang="en-US" altLang="zh-CN" dirty="0"/>
              <a:t>Starlink </a:t>
            </a:r>
            <a:r>
              <a:rPr lang="zh-CN" altLang="en-US" dirty="0"/>
              <a:t>为首的星座系统发展，低轨卫星网络（</a:t>
            </a:r>
            <a:r>
              <a:rPr lang="en-US" altLang="zh-CN" dirty="0"/>
              <a:t>LEO</a:t>
            </a:r>
            <a:r>
              <a:rPr lang="zh-CN" altLang="en-US" dirty="0"/>
              <a:t>）正成为全球互联网覆盖的重要基础设施。</a:t>
            </a:r>
            <a:br>
              <a:rPr lang="zh-CN" altLang="en-US" dirty="0"/>
            </a:br>
            <a:r>
              <a:rPr lang="zh-CN" altLang="en-US" dirty="0"/>
              <a:t>当前，</a:t>
            </a:r>
            <a:r>
              <a:rPr lang="en-US" altLang="zh-CN" dirty="0"/>
              <a:t>Starlink</a:t>
            </a:r>
            <a:r>
              <a:rPr lang="zh-CN" altLang="en-US" dirty="0"/>
              <a:t>已部署约</a:t>
            </a:r>
            <a:r>
              <a:rPr lang="en-US" altLang="zh-CN" dirty="0"/>
              <a:t>8000</a:t>
            </a:r>
            <a:r>
              <a:rPr lang="zh-CN" altLang="en-US" dirty="0"/>
              <a:t>颗卫星，计划扩展至</a:t>
            </a:r>
            <a:r>
              <a:rPr lang="en-US" altLang="zh-CN" dirty="0"/>
              <a:t>42000</a:t>
            </a:r>
            <a:r>
              <a:rPr lang="zh-CN" altLang="en-US" dirty="0"/>
              <a:t>颗。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相较于地面</a:t>
            </a:r>
            <a:r>
              <a:rPr lang="en-US" altLang="zh-CN" dirty="0"/>
              <a:t>5G</a:t>
            </a:r>
            <a:r>
              <a:rPr lang="zh-CN" altLang="en-US" dirty="0"/>
              <a:t>，</a:t>
            </a:r>
            <a:r>
              <a:rPr lang="en-US" altLang="zh-CN" dirty="0"/>
              <a:t>LEO</a:t>
            </a:r>
            <a:r>
              <a:rPr lang="zh-CN" altLang="en-US" dirty="0"/>
              <a:t>具备三大优势：全球覆盖、成本较低、灵活组网，</a:t>
            </a:r>
            <a:br>
              <a:rPr lang="zh-CN" altLang="en-US" dirty="0"/>
            </a:br>
            <a:r>
              <a:rPr lang="zh-CN" altLang="en-US" dirty="0"/>
              <a:t>能有效解决偏远地区、海洋和极端环境的通信盲区。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但与此同时，</a:t>
            </a:r>
            <a:r>
              <a:rPr lang="en-US" altLang="zh-CN" dirty="0"/>
              <a:t>LEO</a:t>
            </a:r>
            <a:r>
              <a:rPr lang="zh-CN" altLang="en-US" dirty="0"/>
              <a:t>网络面临四大挑战：</a:t>
            </a:r>
            <a:br>
              <a:rPr lang="zh-CN" altLang="en-US" dirty="0"/>
            </a:b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卫星高速运动导致拓扑高度动态化</a:t>
            </a:r>
            <a:r>
              <a:rPr lang="zh-CN" altLang="en-US" dirty="0"/>
              <a:t>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轨道参数不均让静态拓扑设计难以发挥全部效果</a:t>
            </a:r>
            <a:endParaRPr lang="en-US" altLang="zh-CN" b="1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b="1" dirty="0"/>
              <a:t>链路几何和信道随时间变化，性能高度不确定。</a:t>
            </a:r>
            <a:endParaRPr lang="en-US" altLang="zh-CN" b="0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zh-CN" altLang="en-US" b="1" dirty="0"/>
              <a:t>庞大星座规模使全局优化极其复杂</a:t>
            </a:r>
            <a:r>
              <a:rPr lang="zh-CN" altLang="en-US" dirty="0"/>
              <a:t>；</a:t>
            </a: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lang="en-US" altLang="zh-CN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zh-CN" altLang="en-US" dirty="0"/>
              <a:t>因此，如何在高速时变环境中，实现</a:t>
            </a:r>
            <a:r>
              <a:rPr lang="zh-CN" altLang="en-US" b="1" dirty="0"/>
              <a:t>实时、稳定且高性能</a:t>
            </a:r>
            <a:r>
              <a:rPr lang="zh-CN" altLang="en-US" dirty="0"/>
              <a:t>的动态拓扑优化，成为业界亟待解决的问题</a:t>
            </a:r>
            <a:endParaRPr lang="zh-CN" altLang="en-US" dirty="0"/>
          </a:p>
          <a:p>
            <a:pPr eaLnBrk="1" hangingPunct="1">
              <a:spcBef>
                <a:spcPct val="0"/>
              </a:spcBef>
            </a:pPr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89091" name="备注占位符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/>
          <a:lstStyle/>
          <a:p>
            <a:r>
              <a:rPr lang="zh-CN" altLang="en-US" dirty="0"/>
              <a:t>本文旨在同时实现三项优化目标：</a:t>
            </a:r>
            <a:br>
              <a:rPr lang="zh-CN" altLang="en-US" dirty="0"/>
            </a:br>
            <a:endParaRPr lang="en-US" altLang="zh-CN" dirty="0"/>
          </a:p>
          <a:p>
            <a:r>
              <a:rPr lang="zh-CN" altLang="en-US" b="1" dirty="0"/>
              <a:t>最大化网络容量、最小化端到端时延、降低链路波动率。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为此，我们提出 </a:t>
            </a:r>
            <a:r>
              <a:rPr lang="zh-CN" altLang="en-US" b="1" dirty="0"/>
              <a:t>基于动态时间扩展图（</a:t>
            </a:r>
            <a:r>
              <a:rPr lang="en-US" altLang="zh-CN" b="1" dirty="0"/>
              <a:t>DTEG</a:t>
            </a:r>
            <a:r>
              <a:rPr lang="zh-CN" altLang="en-US" b="1" dirty="0"/>
              <a:t>）的最优拓扑设计算法 </a:t>
            </a:r>
            <a:r>
              <a:rPr lang="en-US" altLang="zh-CN" b="1" dirty="0"/>
              <a:t>DoTD</a:t>
            </a:r>
            <a:r>
              <a:rPr lang="zh-CN" altLang="en-US" dirty="0"/>
              <a:t>，</a:t>
            </a:r>
            <a:br>
              <a:rPr lang="zh-CN" altLang="en-US" dirty="0"/>
            </a:br>
            <a:r>
              <a:rPr lang="zh-CN" altLang="en-US" dirty="0"/>
              <a:t>通过时间域建模实现跨时隙的动态优化。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该论文的创新点主要集中在三个方面：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建立了多目标优化模型；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提出基于 </a:t>
            </a:r>
            <a:r>
              <a:rPr lang="en-US" altLang="zh-CN" dirty="0"/>
              <a:t>DTEG </a:t>
            </a:r>
            <a:r>
              <a:rPr lang="zh-CN" altLang="en-US" dirty="0"/>
              <a:t>的 </a:t>
            </a:r>
            <a:r>
              <a:rPr lang="en-US" altLang="zh-CN" dirty="0"/>
              <a:t>DoTD </a:t>
            </a:r>
            <a:r>
              <a:rPr lang="zh-CN" altLang="en-US" dirty="0"/>
              <a:t>算法；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将多目标函数转化为时间依赖的综合得分函数，实现拓扑的连续优化。</a:t>
            </a:r>
            <a:endParaRPr lang="zh-CN" altLang="en-US" dirty="0"/>
          </a:p>
          <a:p>
            <a:pPr eaLnBrk="1" hangingPunct="1">
              <a:spcBef>
                <a:spcPct val="0"/>
              </a:spcBef>
            </a:pPr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091" name="备注占位符 2"/>
              <p:cNvSpPr>
                <a:spLocks noGrp="1"/>
              </p:cNvSpPr>
              <p:nvPr>
                <p:ph type="body" idx="1"/>
              </p:nvPr>
            </p:nvSpPr>
            <p:spPr bwMode="auto"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numCol="1" anchor="t" anchorCtr="0" compatLnSpc="1"/>
              <a:lstStyle/>
              <a:p>
                <a:r>
                  <a:rPr lang="zh-CN" altLang="en-US" dirty="0"/>
                  <a:t>我们首先根据核心目标，综合考虑容量、时延与链路波动，构建优化函数。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在这里，我们分别用蓝色，绿色和红色表示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因此，优化函数可以表示为，</a:t>
                </a:r>
                <a:endParaRPr lang="en-US" altLang="zh-CN" dirty="0"/>
              </a:p>
              <a:p>
                <a:r>
                  <a:rPr lang="zh-CN" altLang="en-US" dirty="0"/>
                  <a:t>对任意一颗卫星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，在其所有可能的邻接节点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中，选择能够带来最大综合收益的链路。</a:t>
                </a:r>
                <a:endParaRPr lang="en-US" altLang="zh-CN" dirty="0"/>
              </a:p>
              <a:p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这里，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1200" dirty="0"/>
                  <a:t> 表示两卫星在当前时刻的连接状态</a:t>
                </a:r>
                <a:r>
                  <a:rPr lang="en-US" altLang="zh-CN" sz="1200" dirty="0"/>
                  <a:t>	</a:t>
                </a:r>
                <a:endParaRPr lang="en-US" altLang="zh-CN" sz="1200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z="120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zh-CN" altLang="en-US" sz="1200" dirty="0"/>
                  <a:t>    表示某颗卫星的所有可能链路选择集合</a:t>
                </a:r>
                <a:endParaRPr lang="zh-CN" altLang="en-US" sz="1200" dirty="0"/>
              </a:p>
              <a:p>
                <a:endParaRPr lang="en-US" altLang="zh-CN" dirty="0"/>
              </a:p>
              <a:p>
                <a:r>
                  <a:rPr lang="zh-CN" altLang="en-US" dirty="0"/>
                  <a:t>同时，建立四类约束：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链路约束：</a:t>
                </a:r>
                <a:r>
                  <a:rPr lang="zh-CN" altLang="en-US" dirty="0"/>
                  <a:t>每颗卫星最多连接</a:t>
                </a:r>
                <a:r>
                  <a:rPr lang="en-US" altLang="zh-CN" dirty="0"/>
                  <a:t>U</a:t>
                </a:r>
                <a:r>
                  <a:rPr lang="zh-CN" altLang="en-US" dirty="0"/>
                  <a:t>条链路；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对称性约束：</a:t>
                </a:r>
                <a:r>
                  <a:rPr lang="zh-CN" altLang="en-US" dirty="0"/>
                  <a:t>通信链路双向一致，也就是说，可以互通；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可视性约束：</a:t>
                </a:r>
                <a:r>
                  <a:rPr lang="zh-CN" altLang="en-US" dirty="0"/>
                  <a:t>仰角高于大气层遮挡角；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距离约束：</a:t>
                </a:r>
                <a:r>
                  <a:rPr lang="zh-CN" altLang="en-US" dirty="0"/>
                  <a:t>两卫星之间的距离小于最大通信距离。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  <a:p>
                <a:r>
                  <a:rPr lang="zh-CN" altLang="en-US" dirty="0"/>
                  <a:t>这为后续的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算法优化提供了数学基础</a:t>
                </a:r>
                <a:endParaRPr lang="zh-CN" altLang="en-US" dirty="0"/>
              </a:p>
              <a:p>
                <a:pPr eaLnBrk="1" hangingPunct="1">
                  <a:spcBef>
                    <a:spcPct val="0"/>
                  </a:spcBef>
                </a:pPr>
                <a:endParaRPr lang="zh-CN" altLang="zh-CN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89091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 bwMode="auto">
              <a:blipFill rotWithShape="1">
                <a:blip r:embed="rId3"/>
                <a:stretch>
                  <a:fillRect b="-12543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091" name="备注占位符 2"/>
              <p:cNvSpPr>
                <a:spLocks noGrp="1"/>
              </p:cNvSpPr>
              <p:nvPr>
                <p:ph type="body" idx="1"/>
              </p:nvPr>
            </p:nvSpPr>
            <p:spPr bwMode="auto"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numCol="1" anchor="t" anchorCtr="0" compatLnSpc="1"/>
              <a:lstStyle/>
              <a:p>
                <a:r>
                  <a:rPr lang="zh-CN" altLang="en-US" dirty="0"/>
                  <a:t>我们首先根据核心目标，综合考虑容量、时延与链路波动，构建优化函数。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在这里，我们分别用蓝色，绿色和红色表示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因此，优化函数可以表示为，</a:t>
                </a:r>
                <a:endParaRPr lang="en-US" altLang="zh-CN" dirty="0"/>
              </a:p>
              <a:p>
                <a:r>
                  <a:rPr lang="zh-CN" altLang="en-US" dirty="0"/>
                  <a:t>对任意一颗卫星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，在其所有可能的邻接节点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中，选择能够带来最大综合收益的链路。</a:t>
                </a:r>
                <a:endParaRPr lang="en-US" altLang="zh-CN" dirty="0"/>
              </a:p>
              <a:p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这里，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1200" dirty="0"/>
                  <a:t> 表示两卫星在当前时刻的连接状态</a:t>
                </a:r>
                <a:r>
                  <a:rPr lang="en-US" altLang="zh-CN" sz="1200" dirty="0"/>
                  <a:t>	</a:t>
                </a:r>
                <a:endParaRPr lang="en-US" altLang="zh-CN" sz="1200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z="120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zh-CN" altLang="en-US" sz="1200" dirty="0"/>
                  <a:t>    表示某颗卫星的所有可能链路选择集合</a:t>
                </a:r>
                <a:endParaRPr lang="zh-CN" altLang="en-US" sz="1200" dirty="0"/>
              </a:p>
              <a:p>
                <a:endParaRPr lang="en-US" altLang="zh-CN" dirty="0"/>
              </a:p>
              <a:p>
                <a:r>
                  <a:rPr lang="zh-CN" altLang="en-US" dirty="0"/>
                  <a:t>同时，建立四类约束：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链路约束：</a:t>
                </a:r>
                <a:r>
                  <a:rPr lang="zh-CN" altLang="en-US" dirty="0"/>
                  <a:t>每颗卫星最多连接</a:t>
                </a:r>
                <a:r>
                  <a:rPr lang="en-US" altLang="zh-CN" dirty="0"/>
                  <a:t>U</a:t>
                </a:r>
                <a:r>
                  <a:rPr lang="zh-CN" altLang="en-US" dirty="0"/>
                  <a:t>条链路；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对称性约束：</a:t>
                </a:r>
                <a:r>
                  <a:rPr lang="zh-CN" altLang="en-US" dirty="0"/>
                  <a:t>通信链路双向一致，也就是说，可以互通；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可视性约束：</a:t>
                </a:r>
                <a:r>
                  <a:rPr lang="zh-CN" altLang="en-US" dirty="0"/>
                  <a:t>仰角高于大气层遮挡角；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距离约束：</a:t>
                </a:r>
                <a:r>
                  <a:rPr lang="zh-CN" altLang="en-US" dirty="0"/>
                  <a:t>两卫星之间的距离小于最大通信距离。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  <a:p>
                <a:r>
                  <a:rPr lang="zh-CN" altLang="en-US" dirty="0"/>
                  <a:t>这为后续的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算法优化提供了数学基础</a:t>
                </a:r>
                <a:endParaRPr lang="zh-CN" altLang="en-US" dirty="0"/>
              </a:p>
              <a:p>
                <a:pPr eaLnBrk="1" hangingPunct="1">
                  <a:spcBef>
                    <a:spcPct val="0"/>
                  </a:spcBef>
                </a:pPr>
                <a:endParaRPr lang="zh-CN" altLang="zh-CN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89091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 bwMode="auto">
              <a:blipFill rotWithShape="1">
                <a:blip r:embed="rId3"/>
                <a:stretch>
                  <a:fillRect b="-12543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幻灯片图像占位符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165225" y="1239838"/>
            <a:ext cx="4467225" cy="3351212"/>
          </a:xfrm>
          <a:noFill/>
          <a:ln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091" name="备注占位符 2"/>
              <p:cNvSpPr>
                <a:spLocks noGrp="1"/>
              </p:cNvSpPr>
              <p:nvPr>
                <p:ph type="body" idx="1"/>
              </p:nvPr>
            </p:nvSpPr>
            <p:spPr bwMode="auto"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numCol="1" anchor="t" anchorCtr="0" compatLnSpc="1"/>
              <a:lstStyle/>
              <a:p>
                <a:r>
                  <a:rPr lang="zh-CN" altLang="en-US" dirty="0"/>
                  <a:t>我们首先根据核心目标，综合考虑容量、时延与链路波动，构建优化函数。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在这里，我们分别用蓝色，绿色和红色表示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因此，优化函数可以表示为，</a:t>
                </a:r>
                <a:endParaRPr lang="en-US" altLang="zh-CN" dirty="0"/>
              </a:p>
              <a:p>
                <a:r>
                  <a:rPr lang="zh-CN" altLang="en-US" dirty="0"/>
                  <a:t>对任意一颗卫星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，在其所有可能的邻接节点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中，选择能够带来最大综合收益的链路。</a:t>
                </a:r>
                <a:endParaRPr lang="en-US" altLang="zh-CN" dirty="0"/>
              </a:p>
              <a:p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这里，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𝜙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sz="120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sz="1200" dirty="0"/>
                  <a:t> 表示两卫星在当前时刻的连接状态</a:t>
                </a:r>
                <a:r>
                  <a:rPr lang="en-US" altLang="zh-CN" sz="1200" dirty="0"/>
                  <a:t>	</a:t>
                </a:r>
                <a:endParaRPr lang="en-US" altLang="zh-CN" sz="1200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en-US" altLang="zh-CN" dirty="0"/>
                  <a:t>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zh-CN" altLang="en-US" sz="1200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sz="12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zh-CN" altLang="en-US" sz="1200" dirty="0"/>
                  <a:t>    表示某颗卫星的所有可能链路选择集合</a:t>
                </a:r>
                <a:endParaRPr lang="zh-CN" altLang="en-US" sz="1200" dirty="0"/>
              </a:p>
              <a:p>
                <a:endParaRPr lang="en-US" altLang="zh-CN" dirty="0"/>
              </a:p>
              <a:p>
                <a:r>
                  <a:rPr lang="zh-CN" altLang="en-US" dirty="0"/>
                  <a:t>同时，建立四类约束：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链路约束：</a:t>
                </a:r>
                <a:r>
                  <a:rPr lang="zh-CN" altLang="en-US" dirty="0"/>
                  <a:t>每颗卫星最多连接</a:t>
                </a:r>
                <a:r>
                  <a:rPr lang="en-US" altLang="zh-CN" dirty="0"/>
                  <a:t>U</a:t>
                </a:r>
                <a:r>
                  <a:rPr lang="zh-CN" altLang="en-US" dirty="0"/>
                  <a:t>条链路；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对称性约束：</a:t>
                </a:r>
                <a:r>
                  <a:rPr lang="zh-CN" altLang="en-US" dirty="0"/>
                  <a:t>通信链路双向一致，也就是说，可以互通；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可视性约束：</a:t>
                </a:r>
                <a:r>
                  <a:rPr lang="zh-CN" altLang="en-US" dirty="0"/>
                  <a:t>仰角高于大气层遮挡角；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zh-CN" altLang="en-US" b="1" dirty="0"/>
                  <a:t>距离约束：</a:t>
                </a:r>
                <a:r>
                  <a:rPr lang="zh-CN" altLang="en-US" dirty="0"/>
                  <a:t>两卫星之间的距离小于最大通信距离。</a:t>
                </a:r>
                <a:endParaRPr lang="en-US" altLang="zh-CN" dirty="0"/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endParaRPr lang="zh-CN" altLang="en-US" dirty="0"/>
              </a:p>
              <a:p>
                <a:r>
                  <a:rPr lang="zh-CN" altLang="en-US" dirty="0"/>
                  <a:t>这为后续的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算法优化提供了数学基础</a:t>
                </a:r>
                <a:endParaRPr lang="zh-CN" altLang="en-US" dirty="0"/>
              </a:p>
              <a:p>
                <a:pPr eaLnBrk="1" hangingPunct="1">
                  <a:spcBef>
                    <a:spcPct val="0"/>
                  </a:spcBef>
                </a:pPr>
                <a:endParaRPr lang="zh-CN" altLang="zh-CN" sz="120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89091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 bwMode="auto">
              <a:blipFill rotWithShape="1">
                <a:blip r:embed="rId3"/>
                <a:stretch>
                  <a:fillRect b="-12543"/>
                </a:stretch>
              </a:blipFill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092" name="灯片编号占位符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fld id="{1F55ED90-F719-4D30-A46D-BE985117B50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由于网络结构随时间变化，本文引入动态时间扩展图（</a:t>
                </a:r>
                <a:r>
                  <a:rPr lang="en-US" altLang="zh-CN" dirty="0"/>
                  <a:t>DTEG</a:t>
                </a:r>
                <a:r>
                  <a:rPr lang="zh-CN" altLang="en-US" dirty="0"/>
                  <a:t>）模型</a:t>
                </a:r>
                <a:endParaRPr lang="en-US" altLang="zh-CN" dirty="0"/>
              </a:p>
              <a:p>
                <a:endParaRPr lang="zh-CN" altLang="en-US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在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模型中，我们将每个时刻的卫星网络状态表示为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zh-CN" altLang="en-US" sz="1200" i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sepChr m:val=","/>
                        <m:endChr m:val="}"/>
                        <m:ctrlPr>
                          <a:rPr lang="zh-CN" alt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zh-CN" alt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e>
                        <m:sSub>
                          <m:sSubPr>
                            <m:ctrlPr>
                              <a:rPr lang="zh-CN" altLang="en-US" sz="1200" i="1">
                                <a:solidFill>
                                  <a:srgbClr val="836967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zh-CN" alt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dirty="0"/>
                  <a:t>，</a:t>
                </a:r>
                <a:br>
                  <a:rPr lang="zh-CN" altLang="en-US" dirty="0"/>
                </a:br>
                <a:r>
                  <a:rPr lang="zh-CN" altLang="en-US" dirty="0"/>
                  <a:t>其中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1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200" b="1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𝑬</m:t>
                        </m:r>
                      </m:e>
                      <m:sub>
                        <m:r>
                          <a:rPr lang="en-US" altLang="zh-CN" sz="1200" b="1" i="1" dirty="0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𝒕</m:t>
                        </m:r>
                      </m:sub>
                    </m:sSub>
                  </m:oMath>
                </a14:m>
                <a:r>
                  <a:rPr lang="en-US" altLang="zh-CN" dirty="0"/>
                  <a:t>​ </a:t>
                </a:r>
                <a:r>
                  <a:rPr lang="zh-CN" altLang="en-US" dirty="0"/>
                  <a:t>表示在时间段 </a:t>
                </a:r>
                <a14:m>
                  <m:oMath xmlns:m="http://schemas.openxmlformats.org/officeDocument/2006/math">
                    <m:r>
                      <a:rPr lang="en-US" altLang="zh-CN" sz="1200" b="0" i="0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[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𝑡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r>
                      <a:rPr lang="en-US" altLang="zh-CN" sz="120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𝑡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m:rPr>
                        <m:sty m:val="p"/>
                      </m:rP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τ</m:t>
                    </m:r>
                    <m:r>
                      <a:rPr lang="en-US" altLang="zh-CN" sz="1200" b="0" i="1" dirty="0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]</m:t>
                    </m:r>
                  </m:oMath>
                </a14:m>
                <a:r>
                  <a:rPr lang="zh-CN" altLang="en-US" dirty="0"/>
                  <a:t> 内可通信的卫星对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br>
                  <a:rPr lang="zh-CN" altLang="en-US" dirty="0"/>
                </a:br>
                <a:r>
                  <a:rPr lang="zh-CN" altLang="en-US" dirty="0"/>
                  <a:t>当我们把这种随时间变化的连接展开到时间轴上时，</a:t>
                </a:r>
                <a:br>
                  <a:rPr lang="zh-CN" altLang="en-US" dirty="0"/>
                </a:br>
                <a:r>
                  <a:rPr lang="zh-CN" altLang="en-US" dirty="0"/>
                  <a:t>卫星节点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zh-CN" altLang="en-US" dirty="0"/>
                  <a:t>和 </a:t>
                </a:r>
                <a14:m>
                  <m:oMath xmlns:m="http://schemas.openxmlformats.org/officeDocument/2006/math">
                    <m:r>
                      <a:rPr lang="en-US" altLang="zh-CN" i="1" dirty="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altLang="zh-CN" dirty="0"/>
                  <a:t> </a:t>
                </a:r>
                <a:r>
                  <a:rPr lang="zh-CN" altLang="en-US" dirty="0"/>
                  <a:t>的星间链路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dirty="0"/>
                  <a:t> 就映射为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中一条跨层的空间链路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zh-CN" altLang="zh-C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br>
                  <a:rPr lang="zh-CN" altLang="en-US" dirty="0"/>
                </a:br>
                <a:r>
                  <a:rPr lang="zh-CN" altLang="en-US" dirty="0"/>
                  <a:t>图中红色箭头就代表着这样的空间链路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br>
                  <a:rPr lang="zh-CN" altLang="en-US" dirty="0"/>
                </a:br>
                <a:r>
                  <a:rPr lang="zh-CN" altLang="en-US" dirty="0"/>
                  <a:t>最终，通过把连续时间层堆叠起来，我们得到一个时空联合的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模型，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dirty="0"/>
              </a:p>
              <a:p>
                <a:r>
                  <a:rPr lang="zh-CN" altLang="en-US" dirty="0"/>
                  <a:t>该模型的优势在于：它能在统一框架下刻画拓扑的时间演化，为 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的动态优化提供基础。</a:t>
                </a:r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在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建模基础上，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将多目标优化问题转化为链路得分问题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以实现在扩展时间域内，通过动态规划优化拓扑</a:t>
                </a:r>
                <a:endParaRPr lang="zh-CN" altLang="en-US" dirty="0"/>
              </a:p>
              <a:p>
                <a:endParaRPr lang="en-US" altLang="zh-CN" dirty="0"/>
              </a:p>
              <a:p>
                <a:r>
                  <a:rPr lang="zh-CN" altLang="en-US" dirty="0"/>
                  <a:t>首先对容量、时延、波动率进行归一化处理，</a:t>
                </a:r>
                <a:endParaRPr lang="en-US" altLang="zh-CN" dirty="0"/>
              </a:p>
              <a:p>
                <a:r>
                  <a:rPr lang="zh-CN" altLang="en-US" dirty="0"/>
                  <a:t>确保不同指标在加权求和的过程中不会因为量纲不同而产生偏差。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这里，最大网络容量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和最大网络时延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在每一时刻都会更新</a:t>
                </a:r>
                <a:br>
                  <a:rPr lang="zh-CN" altLang="en-US" dirty="0"/>
                </a:br>
                <a:endParaRPr lang="en-US" altLang="zh-CN" dirty="0"/>
              </a:p>
              <a:p>
                <a:r>
                  <a:rPr lang="zh-CN" altLang="en-US" dirty="0"/>
                  <a:t>接着，我们定义链路得分函数，将原始的多目标优化问题，转化为链路的单一</a:t>
                </a:r>
                <a:r>
                  <a:rPr lang="zh-CN" altLang="en-US" b="1" dirty="0"/>
                  <a:t>得分</a:t>
                </a:r>
                <a:r>
                  <a:rPr lang="zh-CN" altLang="en-US" dirty="0"/>
                  <a:t>问题：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i="1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</m:e>
                      </m:d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得分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b="1" dirty="0">
                    <a:solidFill>
                      <a:schemeClr val="bg1">
                        <a:lumMod val="75000"/>
                      </a:schemeClr>
                    </a:solidFill>
                  </a:rPr>
                  <a:t> </a:t>
                </a:r>
                <a:r>
                  <a:rPr lang="zh-CN" altLang="en-US" b="0" dirty="0">
                    <a:solidFill>
                      <a:schemeClr val="bg1">
                        <a:lumMod val="75000"/>
                      </a:schemeClr>
                    </a:solidFill>
                  </a:rPr>
                  <a:t>越大，则意味着</a:t>
                </a:r>
                <a:r>
                  <a:rPr lang="zh-CN" altLang="en-US" b="0" dirty="0"/>
                  <a:t>链路综合性能越好。</a:t>
                </a:r>
                <a:endParaRPr lang="zh-CN" altLang="en-US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备注占位符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zh-CN" altLang="en-US" dirty="0"/>
                  <a:t>在 </a:t>
                </a:r>
                <a:r>
                  <a:rPr lang="en-US" altLang="zh-CN" dirty="0"/>
                  <a:t>DTEG </a:t>
                </a:r>
                <a:r>
                  <a:rPr lang="zh-CN" altLang="en-US" dirty="0"/>
                  <a:t>建模基础上，</a:t>
                </a:r>
                <a:r>
                  <a:rPr lang="en-US" altLang="zh-CN" dirty="0"/>
                  <a:t>DoTD </a:t>
                </a:r>
                <a:r>
                  <a:rPr lang="zh-CN" altLang="en-US" dirty="0"/>
                  <a:t>将多目标优化问题转化为链路得分问题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以实现在扩展时间域内，通过动态规划优化拓扑</a:t>
                </a:r>
                <a:endParaRPr lang="zh-CN" altLang="en-US" dirty="0"/>
              </a:p>
              <a:p>
                <a:endParaRPr lang="en-US" altLang="zh-CN" dirty="0"/>
              </a:p>
              <a:p>
                <a:r>
                  <a:rPr lang="zh-CN" altLang="en-US" dirty="0"/>
                  <a:t>首先对容量、时延、波动率进行归一化处理，</a:t>
                </a:r>
                <a:endParaRPr lang="en-US" altLang="zh-CN" dirty="0"/>
              </a:p>
              <a:p>
                <a:r>
                  <a:rPr lang="zh-CN" altLang="en-US" dirty="0"/>
                  <a:t>确保不同指标在加权求和的过程中不会因为量纲不同而产生偏差。</a:t>
                </a:r>
                <a:endParaRPr lang="en-US" altLang="zh-CN" dirty="0"/>
              </a:p>
              <a:p>
                <a:endParaRPr lang="en-US" altLang="zh-CN" dirty="0"/>
              </a:p>
              <a:p>
                <a:r>
                  <a:rPr lang="zh-CN" altLang="en-US" dirty="0"/>
                  <a:t>这里，最大网络容量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和最大网络时延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sz="1200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𝑀𝑎𝑥</m:t>
                        </m:r>
                        <m:r>
                          <a:rPr lang="zh-CN" altLang="en-US" sz="120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sz="1200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dirty="0"/>
                  <a:t> 在每一时刻都会更新</a:t>
                </a:r>
                <a:br>
                  <a:rPr lang="zh-CN" altLang="en-US" dirty="0"/>
                </a:br>
                <a:endParaRPr lang="en-US" altLang="zh-CN" dirty="0"/>
              </a:p>
              <a:p>
                <a:r>
                  <a:rPr lang="zh-CN" altLang="en-US" dirty="0"/>
                  <a:t>接着，我们定义链路得分函数，将原始的多目标优化问题，转化为链路的单一</a:t>
                </a:r>
                <a:r>
                  <a:rPr lang="zh-CN" altLang="en-US" b="1" dirty="0"/>
                  <a:t>得分</a:t>
                </a:r>
                <a:r>
                  <a:rPr lang="zh-CN" altLang="en-US" dirty="0"/>
                  <a:t>问题：</a:t>
                </a:r>
                <a:endParaRPr lang="en-US" altLang="zh-CN" dirty="0"/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i="1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𝑺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zh-CN" altLang="en-US" b="1" i="0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CN" altLang="en-US" b="1" i="1">
                                      <a:solidFill>
                                        <a:schemeClr val="bg1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𝑳</m:t>
                                  </m:r>
                                </m:e>
                              </m:acc>
                            </m:e>
                            <m:sub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zh-CN" altLang="en-US" b="1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sub>
                          </m:sSub>
                        </m:e>
                      </m:d>
                      <m:r>
                        <a:rPr lang="zh-CN" altLang="en-US" i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zh-CN" altLang="en-US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zh-CN" altLang="en-US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zh-CN" altLang="en-US" i="0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zh-CN" altLang="en-US" b="1" i="1" smtClean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zh-CN" altLang="en-US" b="1" i="1">
                                  <a:solidFill>
                                    <a:schemeClr val="bg1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𝝓</m:t>
                              </m:r>
                            </m:e>
                          </m:acc>
                        </m:e>
                        <m:sub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  <m:r>
                            <a:rPr lang="zh-CN" altLang="en-US" b="1" i="0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zh-CN" altLang="en-US" b="1" i="1">
                              <a:solidFill>
                                <a:schemeClr val="bg1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𝒕</m:t>
                          </m:r>
                        </m:sub>
                      </m:sSub>
                    </m:oMath>
                  </m:oMathPara>
                </a14:m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endParaRPr lang="en-US" altLang="zh-CN" b="1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30000"/>
                  </a:spcBef>
                  <a:spcAft>
                    <a:spcPct val="0"/>
                  </a:spcAft>
                  <a:buClrTx/>
                  <a:buSzTx/>
                  <a:buFontTx/>
                  <a:buNone/>
                  <a:defRPr/>
                </a:pPr>
                <a:r>
                  <a:rPr lang="zh-CN" altLang="en-US" dirty="0"/>
                  <a:t>得分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en-US" i="1" smtClean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zh-CN" altLang="en-US" i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zh-CN" altLang="en-US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CN" altLang="en-US" b="1" dirty="0">
                    <a:solidFill>
                      <a:schemeClr val="bg1">
                        <a:lumMod val="75000"/>
                      </a:schemeClr>
                    </a:solidFill>
                  </a:rPr>
                  <a:t> </a:t>
                </a:r>
                <a:r>
                  <a:rPr lang="zh-CN" altLang="en-US" b="0" dirty="0">
                    <a:solidFill>
                      <a:schemeClr val="bg1">
                        <a:lumMod val="75000"/>
                      </a:schemeClr>
                    </a:solidFill>
                  </a:rPr>
                  <a:t>越大，则意味着</a:t>
                </a:r>
                <a:r>
                  <a:rPr lang="zh-CN" altLang="en-US" b="0" dirty="0"/>
                  <a:t>链路综合性能越好。</a:t>
                </a:r>
                <a:endParaRPr lang="zh-CN" altLang="en-US" b="0" dirty="0">
                  <a:solidFill>
                    <a:schemeClr val="bg1">
                      <a:lumMod val="75000"/>
                    </a:schemeClr>
                  </a:solidFill>
                </a:endParaRPr>
              </a:p>
              <a:p>
                <a:endParaRPr lang="zh-CN" altLang="en-US" dirty="0"/>
              </a:p>
              <a:p>
                <a:endParaRPr lang="zh-CN" altLang="en-US" dirty="0"/>
              </a:p>
            </p:txBody>
          </p:sp>
        </mc:Choice>
        <mc:Fallback>
          <p:sp>
            <p:nvSpPr>
              <p:cNvPr id="3" name="备注占位符 2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在实验中，我们用红色，黑色和黄色分别代表 </a:t>
            </a:r>
            <a:r>
              <a:rPr lang="en-US" altLang="zh-CN" dirty="0"/>
              <a:t>DoTD</a:t>
            </a:r>
            <a:r>
              <a:rPr lang="zh-CN" altLang="en-US" dirty="0"/>
              <a:t>，</a:t>
            </a:r>
            <a:r>
              <a:rPr lang="en-US" altLang="zh-CN" dirty="0"/>
              <a:t>Greedy</a:t>
            </a:r>
            <a:r>
              <a:rPr lang="zh-CN" altLang="en-US" dirty="0"/>
              <a:t>和</a:t>
            </a:r>
            <a:r>
              <a:rPr lang="en-US" altLang="zh-CN" dirty="0"/>
              <a:t>+Grid</a:t>
            </a:r>
            <a:r>
              <a:rPr lang="zh-CN" altLang="en-US" dirty="0"/>
              <a:t>算法的结果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本页中显示的实验</a:t>
            </a:r>
            <a:r>
              <a:rPr lang="en-US" altLang="zh-CN" dirty="0"/>
              <a:t>1</a:t>
            </a:r>
            <a:r>
              <a:rPr lang="zh-CN" altLang="en-US" dirty="0"/>
              <a:t>和实验</a:t>
            </a:r>
            <a:r>
              <a:rPr lang="en-US" altLang="zh-CN" dirty="0"/>
              <a:t>2</a:t>
            </a:r>
            <a:r>
              <a:rPr lang="zh-CN" altLang="en-US" dirty="0"/>
              <a:t>分别在纽约</a:t>
            </a:r>
            <a:r>
              <a:rPr lang="en-US" altLang="zh-CN" dirty="0"/>
              <a:t>-</a:t>
            </a:r>
            <a:r>
              <a:rPr lang="zh-CN" altLang="en-US" dirty="0"/>
              <a:t>旧金山与全球五组地面站场景下验证算法性能。</a:t>
            </a:r>
            <a:endParaRPr lang="zh-CN" altLang="en-US" dirty="0"/>
          </a:p>
          <a:p>
            <a:endParaRPr lang="en-US" altLang="zh-CN" b="1" dirty="0"/>
          </a:p>
          <a:p>
            <a:r>
              <a:rPr lang="zh-CN" altLang="en-US" b="1" dirty="0"/>
              <a:t>在实验</a:t>
            </a:r>
            <a:r>
              <a:rPr lang="en-US" altLang="zh-CN" b="1" dirty="0"/>
              <a:t>1</a:t>
            </a:r>
            <a:r>
              <a:rPr lang="zh-CN" altLang="en-US" dirty="0"/>
              <a:t>：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dirty="0"/>
              <a:t>DoTD </a:t>
            </a:r>
            <a:r>
              <a:rPr lang="zh-CN" altLang="en-US" dirty="0"/>
              <a:t>仅用 </a:t>
            </a:r>
            <a:r>
              <a:rPr lang="en-US" altLang="zh-CN" dirty="0"/>
              <a:t>5 </a:t>
            </a:r>
            <a:r>
              <a:rPr lang="zh-CN" altLang="en-US" dirty="0"/>
              <a:t>跳完成传输，</a:t>
            </a:r>
            <a:r>
              <a:rPr lang="en-US" altLang="zh-CN" dirty="0"/>
              <a:t>Greedy </a:t>
            </a:r>
            <a:r>
              <a:rPr lang="zh-CN" altLang="en-US" dirty="0"/>
              <a:t>为</a:t>
            </a:r>
            <a:r>
              <a:rPr lang="en-US" altLang="zh-CN" dirty="0"/>
              <a:t>6</a:t>
            </a:r>
            <a:r>
              <a:rPr lang="zh-CN" altLang="en-US" dirty="0"/>
              <a:t>跳，</a:t>
            </a:r>
            <a:r>
              <a:rPr lang="en-US" altLang="zh-CN" dirty="0"/>
              <a:t>+Grid</a:t>
            </a:r>
            <a:r>
              <a:rPr lang="zh-CN" altLang="en-US" dirty="0"/>
              <a:t>高达</a:t>
            </a:r>
            <a:r>
              <a:rPr lang="en-US" altLang="zh-CN" dirty="0"/>
              <a:t>22</a:t>
            </a:r>
            <a:r>
              <a:rPr lang="zh-CN" altLang="en-US" dirty="0"/>
              <a:t>跳。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zh-CN" altLang="en-US" dirty="0"/>
              <a:t>这说明 </a:t>
            </a:r>
            <a:r>
              <a:rPr lang="en-US" altLang="zh-CN" dirty="0"/>
              <a:t>DoTD </a:t>
            </a:r>
            <a:r>
              <a:rPr lang="zh-CN" altLang="en-US" dirty="0"/>
              <a:t>能利用时间预测机制提前规划更优路径。</a:t>
            </a:r>
            <a:endParaRPr lang="zh-CN" altLang="en-US" dirty="0"/>
          </a:p>
          <a:p>
            <a:endParaRPr lang="en-US" altLang="zh-CN" b="1" dirty="0"/>
          </a:p>
          <a:p>
            <a:r>
              <a:rPr lang="zh-CN" altLang="en-US" b="1" dirty="0"/>
              <a:t>在实验</a:t>
            </a:r>
            <a:r>
              <a:rPr lang="en-US" altLang="zh-CN" b="1" dirty="0"/>
              <a:t>2</a:t>
            </a:r>
            <a:r>
              <a:rPr lang="zh-CN" altLang="en-US" dirty="0"/>
              <a:t>：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平均跳数降低 </a:t>
            </a:r>
            <a:r>
              <a:rPr lang="en-US" altLang="zh-CN" dirty="0"/>
              <a:t>10.9% </a:t>
            </a:r>
            <a:r>
              <a:rPr lang="zh-CN" altLang="en-US" dirty="0"/>
              <a:t>以上，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时延降低一半以上（</a:t>
            </a:r>
            <a:r>
              <a:rPr lang="en-US" altLang="zh-CN" dirty="0"/>
              <a:t>4.2ms vs 9.9ms</a:t>
            </a:r>
            <a:r>
              <a:rPr lang="zh-CN" altLang="en-US" dirty="0"/>
              <a:t>），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dirty="0"/>
              <a:t>容量提升约 </a:t>
            </a:r>
            <a:r>
              <a:rPr lang="en-US" altLang="zh-CN" dirty="0"/>
              <a:t>28%</a:t>
            </a:r>
            <a:r>
              <a:rPr lang="zh-CN" altLang="en-US" dirty="0"/>
              <a:t>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这意味着</a:t>
            </a:r>
            <a:r>
              <a:rPr lang="en-US" altLang="zh-CN" dirty="0"/>
              <a:t>DoTD </a:t>
            </a:r>
            <a:r>
              <a:rPr lang="zh-CN" altLang="en-US" dirty="0"/>
              <a:t>在不同地面站分布下均保持稳定优势，验证了算法的</a:t>
            </a:r>
            <a:r>
              <a:rPr lang="zh-CN" altLang="en-US" b="1" dirty="0"/>
              <a:t>通用性</a:t>
            </a:r>
            <a:r>
              <a:rPr lang="zh-CN" altLang="en-US" dirty="0"/>
              <a:t>与</a:t>
            </a:r>
            <a:r>
              <a:rPr lang="zh-CN" altLang="en-US" b="1" dirty="0"/>
              <a:t>全局优化能力</a:t>
            </a:r>
            <a:endParaRPr lang="zh-CN" altLang="en-US" b="1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第三组实验则关注链路稳定性。</a:t>
            </a:r>
            <a:br>
              <a:rPr lang="zh-CN" altLang="en-US" dirty="0"/>
            </a:br>
            <a:endParaRPr lang="en-US" altLang="zh-CN" dirty="0"/>
          </a:p>
          <a:p>
            <a:r>
              <a:rPr lang="zh-CN" altLang="en-US" dirty="0"/>
              <a:t>在</a:t>
            </a:r>
            <a:r>
              <a:rPr lang="en-US" altLang="zh-CN" dirty="0"/>
              <a:t>3</a:t>
            </a:r>
            <a:r>
              <a:rPr lang="zh-CN" altLang="en-US" dirty="0"/>
              <a:t>小时</a:t>
            </a:r>
            <a:r>
              <a:rPr lang="en-US" altLang="zh-CN" dirty="0"/>
              <a:t>20</a:t>
            </a:r>
            <a:r>
              <a:rPr lang="zh-CN" altLang="en-US" dirty="0"/>
              <a:t>分钟的动态演化中，</a:t>
            </a:r>
            <a:r>
              <a:rPr lang="en-US" altLang="zh-CN" dirty="0"/>
              <a:t>DoTD </a:t>
            </a:r>
            <a:r>
              <a:rPr lang="zh-CN" altLang="en-US" dirty="0"/>
              <a:t>的链路重配置次数最少，保持时间最长。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相比之下，</a:t>
            </a:r>
            <a:r>
              <a:rPr lang="en-US" altLang="zh-CN" dirty="0"/>
              <a:t>Greedy </a:t>
            </a:r>
            <a:r>
              <a:rPr lang="zh-CN" altLang="en-US" dirty="0"/>
              <a:t>链路频繁断开，</a:t>
            </a:r>
            <a:r>
              <a:rPr lang="en-US" altLang="zh-CN" dirty="0"/>
              <a:t>Grid </a:t>
            </a:r>
            <a:r>
              <a:rPr lang="zh-CN" altLang="en-US" dirty="0"/>
              <a:t>固定连接难以适应时变轨道。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结果表明：</a:t>
            </a:r>
            <a:br>
              <a:rPr lang="zh-CN" altLang="en-US" dirty="0"/>
            </a:br>
            <a:r>
              <a:rPr lang="en-US" altLang="zh-CN" dirty="0"/>
              <a:t>DoTD </a:t>
            </a:r>
            <a:r>
              <a:rPr lang="zh-CN" altLang="en-US" dirty="0"/>
              <a:t>能在长时间演化中保持拓扑的时序连续性，</a:t>
            </a:r>
            <a:br>
              <a:rPr lang="zh-CN" altLang="en-US" dirty="0"/>
            </a:br>
            <a:r>
              <a:rPr lang="zh-CN" altLang="en-US" dirty="0"/>
              <a:t>展现出</a:t>
            </a:r>
            <a:r>
              <a:rPr lang="zh-CN" altLang="en-US" b="1" dirty="0"/>
              <a:t>更高的鲁棒性</a:t>
            </a:r>
            <a:r>
              <a:rPr lang="zh-CN" altLang="en-US" dirty="0"/>
              <a:t>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综合三组实验：</a:t>
            </a:r>
            <a:endParaRPr lang="zh-CN" alt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实验</a:t>
            </a:r>
            <a:r>
              <a:rPr lang="en-US" altLang="zh-CN" b="1" dirty="0"/>
              <a:t>1</a:t>
            </a:r>
            <a:r>
              <a:rPr lang="zh-CN" altLang="en-US" b="1" dirty="0"/>
              <a:t>与</a:t>
            </a:r>
            <a:r>
              <a:rPr lang="en-US" altLang="zh-CN" b="1" dirty="0"/>
              <a:t>2</a:t>
            </a:r>
            <a:r>
              <a:rPr lang="zh-CN" altLang="en-US" dirty="0"/>
              <a:t>分别通过单场景和多场景验证 </a:t>
            </a:r>
            <a:r>
              <a:rPr lang="en-US" altLang="zh-CN" dirty="0"/>
              <a:t>DoTD </a:t>
            </a:r>
            <a:r>
              <a:rPr lang="zh-CN" altLang="en-US" b="1" dirty="0"/>
              <a:t>更快、更强</a:t>
            </a:r>
            <a:r>
              <a:rPr lang="zh-CN" altLang="en-US" dirty="0"/>
              <a:t>；</a:t>
            </a:r>
            <a:endParaRPr lang="en-US" altLang="zh-CN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CN" altLang="en-US" b="1" dirty="0"/>
              <a:t>实验</a:t>
            </a:r>
            <a:r>
              <a:rPr lang="en-US" altLang="zh-CN" b="1" dirty="0"/>
              <a:t>3</a:t>
            </a:r>
            <a:r>
              <a:rPr lang="zh-CN" altLang="en-US" dirty="0"/>
              <a:t>验证 </a:t>
            </a:r>
            <a:r>
              <a:rPr lang="en-US" altLang="zh-CN" dirty="0"/>
              <a:t>DoTD </a:t>
            </a:r>
            <a:r>
              <a:rPr lang="zh-CN" altLang="en-US" b="1" dirty="0"/>
              <a:t>更稳、更好</a:t>
            </a:r>
            <a:r>
              <a:rPr lang="zh-CN" altLang="en-US" dirty="0"/>
              <a:t>。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总的来看，</a:t>
            </a:r>
            <a:endParaRPr lang="en-US" altLang="zh-CN" dirty="0"/>
          </a:p>
          <a:p>
            <a:r>
              <a:rPr lang="zh-CN" altLang="en-US" dirty="0"/>
              <a:t>本文提出的 </a:t>
            </a:r>
            <a:r>
              <a:rPr lang="en-US" altLang="zh-CN" dirty="0"/>
              <a:t>DoTD </a:t>
            </a:r>
            <a:r>
              <a:rPr lang="zh-CN" altLang="en-US" dirty="0"/>
              <a:t>算法在动态拓扑优化中实现了时间维度建模，</a:t>
            </a:r>
            <a:br>
              <a:rPr lang="zh-CN" altLang="en-US" dirty="0"/>
            </a:br>
            <a:r>
              <a:rPr lang="zh-CN" altLang="en-US" dirty="0"/>
              <a:t>能同时优化容量、时延与链路稳定性三个目标。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从结果来看，它的表现是“更快、更强、更稳”。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当然，</a:t>
            </a:r>
            <a:r>
              <a:rPr lang="en-US" altLang="zh-CN" dirty="0"/>
              <a:t>DoTD </a:t>
            </a:r>
            <a:r>
              <a:rPr lang="zh-CN" altLang="en-US" dirty="0"/>
              <a:t>也有改进空间：</a:t>
            </a:r>
            <a:br>
              <a:rPr lang="zh-CN" altLang="en-US" dirty="0"/>
            </a:br>
            <a:r>
              <a:rPr lang="zh-CN" altLang="en-US" dirty="0"/>
              <a:t>实时性仍受限于时间展开计算，</a:t>
            </a:r>
            <a:endParaRPr lang="en-US" altLang="zh-CN" dirty="0"/>
          </a:p>
          <a:p>
            <a:r>
              <a:rPr lang="zh-CN" altLang="en-US" dirty="0"/>
              <a:t>对轨道与时间建模依赖较强，</a:t>
            </a:r>
            <a:br>
              <a:rPr lang="zh-CN" altLang="en-US" dirty="0"/>
            </a:br>
            <a:r>
              <a:rPr lang="zh-CN" altLang="en-US" dirty="0"/>
              <a:t>参数调节目前仍为静态配置，尚未实现动态自适应。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因此，我认为未来可以从两方面进行优化：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一是 </a:t>
            </a:r>
            <a:r>
              <a:rPr lang="zh-CN" altLang="en-US" b="1" dirty="0"/>
              <a:t>引入学习型优化模型</a:t>
            </a:r>
            <a:r>
              <a:rPr lang="zh-CN" altLang="en-US" dirty="0"/>
              <a:t>，比如强化学习（</a:t>
            </a:r>
            <a:r>
              <a:rPr lang="en-US" altLang="zh-CN" dirty="0"/>
              <a:t>RL</a:t>
            </a:r>
            <a:r>
              <a:rPr lang="zh-CN" altLang="en-US" dirty="0"/>
              <a:t>）或图神经网络（</a:t>
            </a:r>
            <a:r>
              <a:rPr lang="en-US" altLang="zh-CN" dirty="0"/>
              <a:t>GNN</a:t>
            </a:r>
            <a:r>
              <a:rPr lang="zh-CN" altLang="en-US" dirty="0"/>
              <a:t>），</a:t>
            </a:r>
            <a:br>
              <a:rPr lang="zh-CN" altLang="en-US" dirty="0"/>
            </a:br>
            <a:r>
              <a:rPr lang="zh-CN" altLang="en-US" dirty="0"/>
              <a:t>让算法能够自主预测链路状态、动态调整权重，实现真正的自适应优化；</a:t>
            </a:r>
            <a:endParaRPr lang="zh-CN" altLang="en-US" dirty="0"/>
          </a:p>
          <a:p>
            <a:endParaRPr lang="en-US" altLang="zh-CN" dirty="0"/>
          </a:p>
          <a:p>
            <a:r>
              <a:rPr lang="zh-CN" altLang="en-US" dirty="0"/>
              <a:t>二是 </a:t>
            </a:r>
            <a:r>
              <a:rPr lang="zh-CN" altLang="en-US" b="1" dirty="0"/>
              <a:t>结合在线优化机制</a:t>
            </a:r>
            <a:r>
              <a:rPr lang="zh-CN" altLang="en-US" dirty="0"/>
              <a:t>，使拓扑结构能在实际运行中实时更新和快速重配置，</a:t>
            </a:r>
            <a:br>
              <a:rPr lang="zh-CN" altLang="en-US" dirty="0"/>
            </a:br>
            <a:r>
              <a:rPr lang="zh-CN" altLang="en-US" dirty="0"/>
              <a:t>提升算法的实用性与鲁棒性。</a:t>
            </a: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165225" y="1239838"/>
            <a:ext cx="4467225" cy="3351212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我的汇报到此结束，感谢各位老师的聆听。</a:t>
            </a:r>
            <a:br>
              <a:rPr lang="zh-CN" altLang="en-US" dirty="0"/>
            </a:br>
            <a:endParaRPr lang="en-US" altLang="zh-CN" dirty="0"/>
          </a:p>
          <a:p>
            <a:r>
              <a:rPr lang="zh-CN" altLang="en-US" dirty="0"/>
              <a:t>请各位老师批评指正，谢谢！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B178FAFC-6330-462F-9E09-54827C8D4DB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4" Type="http://schemas.openxmlformats.org/officeDocument/2006/relationships/image" Target="../media/image5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image" Target="../media/image5.png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image" Target="../media/image5.png"/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F7B82F0-07CA-419D-BB16-6C77708A8EA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5F8D0-B74B-468E-AF70-C8137EBF489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9" name="组合 8"/>
          <p:cNvGrpSpPr/>
          <p:nvPr userDrawn="1"/>
        </p:nvGrpSpPr>
        <p:grpSpPr>
          <a:xfrm>
            <a:off x="2952748" y="6190161"/>
            <a:ext cx="3238504" cy="638606"/>
            <a:chOff x="2823631" y="6012361"/>
            <a:chExt cx="3238504" cy="638606"/>
          </a:xfrm>
        </p:grpSpPr>
        <p:sp>
          <p:nvSpPr>
            <p:cNvPr id="7" name="文本框 6"/>
            <p:cNvSpPr txBox="1"/>
            <p:nvPr userDrawn="1"/>
          </p:nvSpPr>
          <p:spPr>
            <a:xfrm>
              <a:off x="2823631" y="6012361"/>
              <a:ext cx="3238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zh-CN" altLang="en-US" sz="1800" dirty="0">
                  <a:solidFill>
                    <a:schemeClr val="bg1"/>
                  </a:solidFill>
                  <a:latin typeface="幼圆" panose="02010509060101010101" pitchFamily="49" charset="-122"/>
                  <a:ea typeface="幼圆" panose="02010509060101010101" pitchFamily="49" charset="-122"/>
                </a:rPr>
                <a:t>先 进 网 络 技 术 实 验 室</a:t>
              </a:r>
              <a:endParaRPr lang="zh-CN" altLang="en-US" sz="1800" dirty="0">
                <a:solidFill>
                  <a:schemeClr val="bg1"/>
                </a:solidFill>
                <a:latin typeface="幼圆" panose="02010509060101010101" pitchFamily="49" charset="-122"/>
                <a:ea typeface="幼圆" panose="02010509060101010101" pitchFamily="49" charset="-122"/>
              </a:endParaRPr>
            </a:p>
          </p:txBody>
        </p:sp>
        <p:sp>
          <p:nvSpPr>
            <p:cNvPr id="8" name="文本框 7"/>
            <p:cNvSpPr txBox="1"/>
            <p:nvPr userDrawn="1"/>
          </p:nvSpPr>
          <p:spPr>
            <a:xfrm>
              <a:off x="2857499" y="6327802"/>
              <a:ext cx="315383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Advanced Networking</a:t>
              </a:r>
              <a:r>
                <a:rPr lang="en-US" altLang="zh-CN" sz="1500" baseline="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 Technology Lab</a:t>
              </a:r>
              <a:endParaRPr lang="zh-CN" altLang="en-US" sz="1500" dirty="0">
                <a:solidFill>
                  <a:schemeClr val="bg1"/>
                </a:solidFill>
                <a:latin typeface="+mj-lt"/>
                <a:ea typeface="幼圆" panose="020105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4"/>
          <p:cNvSpPr txBox="1">
            <a:spLocks noChangeArrowheads="1"/>
          </p:cNvSpPr>
          <p:nvPr userDrawn="1"/>
        </p:nvSpPr>
        <p:spPr bwMode="auto">
          <a:xfrm>
            <a:off x="8433636" y="6450375"/>
            <a:ext cx="64664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CE710237-4019-4221-AB7E-E10BB3156E60}" type="slidenum">
              <a:rPr lang="en-US" altLang="zh-CN" sz="180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000" y="386862"/>
            <a:ext cx="7886700" cy="576957"/>
          </a:xfrm>
          <a:prstGeom prst="rect">
            <a:avLst/>
          </a:prstGeom>
        </p:spPr>
        <p:txBody>
          <a:bodyPr>
            <a:noAutofit/>
          </a:bodyPr>
          <a:lstStyle>
            <a:lvl1pPr>
              <a:lnSpc>
                <a:spcPct val="100000"/>
              </a:lnSpc>
              <a:defRPr sz="2800" b="1">
                <a:solidFill>
                  <a:srgbClr val="053CAF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cxnSp>
        <p:nvCxnSpPr>
          <p:cNvPr id="5" name="直接连接符 4"/>
          <p:cNvCxnSpPr/>
          <p:nvPr userDrawn="1"/>
        </p:nvCxnSpPr>
        <p:spPr>
          <a:xfrm>
            <a:off x="330200" y="963819"/>
            <a:ext cx="8483600" cy="0"/>
          </a:xfrm>
          <a:prstGeom prst="line">
            <a:avLst/>
          </a:prstGeom>
          <a:ln w="38100" cmpd="thickThin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组合 3"/>
          <p:cNvGrpSpPr/>
          <p:nvPr userDrawn="1"/>
        </p:nvGrpSpPr>
        <p:grpSpPr>
          <a:xfrm>
            <a:off x="2952748" y="6190161"/>
            <a:ext cx="3238504" cy="638606"/>
            <a:chOff x="2823631" y="6012361"/>
            <a:chExt cx="3238504" cy="638606"/>
          </a:xfrm>
        </p:grpSpPr>
        <p:sp>
          <p:nvSpPr>
            <p:cNvPr id="5" name="文本框 4"/>
            <p:cNvSpPr txBox="1"/>
            <p:nvPr userDrawn="1"/>
          </p:nvSpPr>
          <p:spPr>
            <a:xfrm>
              <a:off x="2823631" y="6012361"/>
              <a:ext cx="32385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zh-CN" altLang="en-US" sz="1800" dirty="0">
                  <a:solidFill>
                    <a:schemeClr val="bg1"/>
                  </a:solidFill>
                  <a:latin typeface="幼圆" panose="02010509060101010101" pitchFamily="49" charset="-122"/>
                  <a:ea typeface="幼圆" panose="02010509060101010101" pitchFamily="49" charset="-122"/>
                </a:rPr>
                <a:t>先 进 网 络 技 术 实 验 室</a:t>
              </a:r>
              <a:endParaRPr lang="zh-CN" altLang="en-US" sz="1800" dirty="0">
                <a:solidFill>
                  <a:schemeClr val="bg1"/>
                </a:solidFill>
                <a:latin typeface="幼圆" panose="02010509060101010101" pitchFamily="49" charset="-122"/>
                <a:ea typeface="幼圆" panose="02010509060101010101" pitchFamily="49" charset="-122"/>
              </a:endParaRPr>
            </a:p>
          </p:txBody>
        </p:sp>
        <p:sp>
          <p:nvSpPr>
            <p:cNvPr id="6" name="文本框 5"/>
            <p:cNvSpPr txBox="1"/>
            <p:nvPr userDrawn="1"/>
          </p:nvSpPr>
          <p:spPr>
            <a:xfrm>
              <a:off x="2857499" y="6327802"/>
              <a:ext cx="315383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50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Advanced Networking</a:t>
              </a:r>
              <a:r>
                <a:rPr lang="en-US" altLang="zh-CN" sz="1500" baseline="0" dirty="0">
                  <a:solidFill>
                    <a:schemeClr val="bg1"/>
                  </a:solidFill>
                  <a:latin typeface="+mj-lt"/>
                  <a:ea typeface="幼圆" panose="02010509060101010101" pitchFamily="49" charset="-122"/>
                </a:rPr>
                <a:t> Technology Lab</a:t>
              </a:r>
              <a:endParaRPr lang="zh-CN" altLang="en-US" sz="1500" dirty="0">
                <a:solidFill>
                  <a:schemeClr val="bg1"/>
                </a:solidFill>
                <a:latin typeface="+mj-lt"/>
                <a:ea typeface="幼圆" panose="020105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/>
          <p:cNvSpPr/>
          <p:nvPr userDrawn="1"/>
        </p:nvSpPr>
        <p:spPr>
          <a:xfrm>
            <a:off x="2006204" y="2833689"/>
            <a:ext cx="850106" cy="1133475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Freeform 5"/>
          <p:cNvSpPr>
            <a:spLocks noEditPoints="1"/>
          </p:cNvSpPr>
          <p:nvPr userDrawn="1"/>
        </p:nvSpPr>
        <p:spPr bwMode="auto">
          <a:xfrm>
            <a:off x="2119312" y="3144838"/>
            <a:ext cx="614363" cy="581025"/>
          </a:xfrm>
          <a:custGeom>
            <a:avLst/>
            <a:gdLst>
              <a:gd name="T0" fmla="*/ 2147483647 w 73"/>
              <a:gd name="T1" fmla="*/ 2147483647 h 51"/>
              <a:gd name="T2" fmla="*/ 2147483647 w 73"/>
              <a:gd name="T3" fmla="*/ 0 h 51"/>
              <a:gd name="T4" fmla="*/ 2147483647 w 73"/>
              <a:gd name="T5" fmla="*/ 2147483647 h 51"/>
              <a:gd name="T6" fmla="*/ 2147483647 w 73"/>
              <a:gd name="T7" fmla="*/ 2147483647 h 51"/>
              <a:gd name="T8" fmla="*/ 2147483647 w 73"/>
              <a:gd name="T9" fmla="*/ 2147483647 h 51"/>
              <a:gd name="T10" fmla="*/ 2147483647 w 73"/>
              <a:gd name="T11" fmla="*/ 2147483647 h 51"/>
              <a:gd name="T12" fmla="*/ 2147483647 w 73"/>
              <a:gd name="T13" fmla="*/ 2147483647 h 51"/>
              <a:gd name="T14" fmla="*/ 2147483647 w 73"/>
              <a:gd name="T15" fmla="*/ 2147483647 h 51"/>
              <a:gd name="T16" fmla="*/ 2147483647 w 73"/>
              <a:gd name="T17" fmla="*/ 2147483647 h 51"/>
              <a:gd name="T18" fmla="*/ 2147483647 w 73"/>
              <a:gd name="T19" fmla="*/ 2147483647 h 51"/>
              <a:gd name="T20" fmla="*/ 2147483647 w 73"/>
              <a:gd name="T21" fmla="*/ 2147483647 h 51"/>
              <a:gd name="T22" fmla="*/ 2147483647 w 73"/>
              <a:gd name="T23" fmla="*/ 2147483647 h 51"/>
              <a:gd name="T24" fmla="*/ 2147483647 w 73"/>
              <a:gd name="T25" fmla="*/ 2147483647 h 51"/>
              <a:gd name="T26" fmla="*/ 2147483647 w 73"/>
              <a:gd name="T27" fmla="*/ 2147483647 h 51"/>
              <a:gd name="T28" fmla="*/ 2147483647 w 73"/>
              <a:gd name="T29" fmla="*/ 2147483647 h 51"/>
              <a:gd name="T30" fmla="*/ 2147483647 w 73"/>
              <a:gd name="T31" fmla="*/ 2147483647 h 51"/>
              <a:gd name="T32" fmla="*/ 2147483647 w 73"/>
              <a:gd name="T33" fmla="*/ 2147483647 h 51"/>
              <a:gd name="T34" fmla="*/ 2147483647 w 73"/>
              <a:gd name="T35" fmla="*/ 2147483647 h 51"/>
              <a:gd name="T36" fmla="*/ 2147483647 w 73"/>
              <a:gd name="T37" fmla="*/ 2147483647 h 51"/>
              <a:gd name="T38" fmla="*/ 2147483647 w 73"/>
              <a:gd name="T39" fmla="*/ 2147483647 h 51"/>
              <a:gd name="T40" fmla="*/ 2147483647 w 73"/>
              <a:gd name="T41" fmla="*/ 2147483647 h 51"/>
              <a:gd name="T42" fmla="*/ 2147483647 w 73"/>
              <a:gd name="T43" fmla="*/ 2147483647 h 51"/>
              <a:gd name="T44" fmla="*/ 2147483647 w 73"/>
              <a:gd name="T45" fmla="*/ 2147483647 h 51"/>
              <a:gd name="T46" fmla="*/ 2147483647 w 73"/>
              <a:gd name="T47" fmla="*/ 2147483647 h 51"/>
              <a:gd name="T48" fmla="*/ 2147483647 w 73"/>
              <a:gd name="T49" fmla="*/ 2147483647 h 51"/>
              <a:gd name="T50" fmla="*/ 2147483647 w 73"/>
              <a:gd name="T51" fmla="*/ 2147483647 h 51"/>
              <a:gd name="T52" fmla="*/ 2147483647 w 73"/>
              <a:gd name="T53" fmla="*/ 2147483647 h 51"/>
              <a:gd name="T54" fmla="*/ 2147483647 w 73"/>
              <a:gd name="T55" fmla="*/ 2147483647 h 51"/>
              <a:gd name="T56" fmla="*/ 2147483647 w 73"/>
              <a:gd name="T57" fmla="*/ 2147483647 h 51"/>
              <a:gd name="T58" fmla="*/ 2147483647 w 73"/>
              <a:gd name="T59" fmla="*/ 2147483647 h 51"/>
              <a:gd name="T60" fmla="*/ 2147483647 w 73"/>
              <a:gd name="T61" fmla="*/ 2147483647 h 51"/>
              <a:gd name="T62" fmla="*/ 2147483647 w 73"/>
              <a:gd name="T63" fmla="*/ 2147483647 h 51"/>
              <a:gd name="T64" fmla="*/ 2147483647 w 73"/>
              <a:gd name="T65" fmla="*/ 2147483647 h 51"/>
              <a:gd name="T66" fmla="*/ 2147483647 w 73"/>
              <a:gd name="T67" fmla="*/ 2147483647 h 51"/>
              <a:gd name="T68" fmla="*/ 2147483647 w 73"/>
              <a:gd name="T69" fmla="*/ 2147483647 h 51"/>
              <a:gd name="T70" fmla="*/ 2147483647 w 73"/>
              <a:gd name="T71" fmla="*/ 2147483647 h 51"/>
              <a:gd name="T72" fmla="*/ 0 w 73"/>
              <a:gd name="T73" fmla="*/ 2147483647 h 51"/>
              <a:gd name="T74" fmla="*/ 0 w 73"/>
              <a:gd name="T75" fmla="*/ 2147483647 h 51"/>
              <a:gd name="T76" fmla="*/ 2147483647 w 73"/>
              <a:gd name="T77" fmla="*/ 2147483647 h 51"/>
              <a:gd name="T78" fmla="*/ 2147483647 w 73"/>
              <a:gd name="T79" fmla="*/ 2147483647 h 51"/>
              <a:gd name="T80" fmla="*/ 2147483647 w 73"/>
              <a:gd name="T81" fmla="*/ 2147483647 h 51"/>
              <a:gd name="T82" fmla="*/ 2147483647 w 73"/>
              <a:gd name="T83" fmla="*/ 2147483647 h 51"/>
              <a:gd name="T84" fmla="*/ 2147483647 w 73"/>
              <a:gd name="T85" fmla="*/ 2147483647 h 51"/>
              <a:gd name="T86" fmla="*/ 2147483647 w 73"/>
              <a:gd name="T87" fmla="*/ 2147483647 h 51"/>
              <a:gd name="T88" fmla="*/ 2147483647 w 73"/>
              <a:gd name="T89" fmla="*/ 2147483647 h 51"/>
              <a:gd name="T90" fmla="*/ 2147483647 w 73"/>
              <a:gd name="T91" fmla="*/ 2147483647 h 51"/>
              <a:gd name="T92" fmla="*/ 2147483647 w 73"/>
              <a:gd name="T93" fmla="*/ 2147483647 h 51"/>
              <a:gd name="T94" fmla="*/ 2147483647 w 73"/>
              <a:gd name="T95" fmla="*/ 2147483647 h 51"/>
              <a:gd name="T96" fmla="*/ 2147483647 w 73"/>
              <a:gd name="T97" fmla="*/ 2147483647 h 51"/>
              <a:gd name="T98" fmla="*/ 2147483647 w 73"/>
              <a:gd name="T99" fmla="*/ 2147483647 h 51"/>
              <a:gd name="T100" fmla="*/ 2147483647 w 73"/>
              <a:gd name="T101" fmla="*/ 2147483647 h 51"/>
              <a:gd name="T102" fmla="*/ 2147483647 w 73"/>
              <a:gd name="T103" fmla="*/ 2147483647 h 51"/>
              <a:gd name="T104" fmla="*/ 2147483647 w 73"/>
              <a:gd name="T105" fmla="*/ 2147483647 h 51"/>
              <a:gd name="T106" fmla="*/ 2147483647 w 73"/>
              <a:gd name="T107" fmla="*/ 2147483647 h 51"/>
              <a:gd name="T108" fmla="*/ 2147483647 w 73"/>
              <a:gd name="T109" fmla="*/ 2147483647 h 51"/>
              <a:gd name="T110" fmla="*/ 2147483647 w 73"/>
              <a:gd name="T111" fmla="*/ 2147483647 h 51"/>
              <a:gd name="T112" fmla="*/ 2147483647 w 73"/>
              <a:gd name="T113" fmla="*/ 2147483647 h 51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  <a:gd name="T150" fmla="*/ 0 60000 65536"/>
              <a:gd name="T151" fmla="*/ 0 60000 65536"/>
              <a:gd name="T152" fmla="*/ 0 60000 65536"/>
              <a:gd name="T153" fmla="*/ 0 60000 65536"/>
              <a:gd name="T154" fmla="*/ 0 60000 65536"/>
              <a:gd name="T155" fmla="*/ 0 60000 65536"/>
              <a:gd name="T156" fmla="*/ 0 60000 65536"/>
              <a:gd name="T157" fmla="*/ 0 60000 65536"/>
              <a:gd name="T158" fmla="*/ 0 60000 65536"/>
              <a:gd name="T159" fmla="*/ 0 60000 65536"/>
              <a:gd name="T160" fmla="*/ 0 60000 65536"/>
              <a:gd name="T161" fmla="*/ 0 60000 65536"/>
              <a:gd name="T162" fmla="*/ 0 60000 65536"/>
              <a:gd name="T163" fmla="*/ 0 60000 65536"/>
              <a:gd name="T164" fmla="*/ 0 60000 65536"/>
              <a:gd name="T165" fmla="*/ 0 60000 65536"/>
              <a:gd name="T166" fmla="*/ 0 60000 65536"/>
              <a:gd name="T167" fmla="*/ 0 60000 65536"/>
              <a:gd name="T168" fmla="*/ 0 60000 65536"/>
              <a:gd name="T169" fmla="*/ 0 60000 65536"/>
              <a:gd name="T170" fmla="*/ 0 60000 65536"/>
            </a:gdLst>
            <a:ahLst/>
            <a:cxnLst>
              <a:cxn ang="T114">
                <a:pos x="T0" y="T1"/>
              </a:cxn>
              <a:cxn ang="T115">
                <a:pos x="T2" y="T3"/>
              </a:cxn>
              <a:cxn ang="T116">
                <a:pos x="T4" y="T5"/>
              </a:cxn>
              <a:cxn ang="T117">
                <a:pos x="T6" y="T7"/>
              </a:cxn>
              <a:cxn ang="T118">
                <a:pos x="T8" y="T9"/>
              </a:cxn>
              <a:cxn ang="T119">
                <a:pos x="T10" y="T11"/>
              </a:cxn>
              <a:cxn ang="T120">
                <a:pos x="T12" y="T13"/>
              </a:cxn>
              <a:cxn ang="T121">
                <a:pos x="T14" y="T15"/>
              </a:cxn>
              <a:cxn ang="T122">
                <a:pos x="T16" y="T17"/>
              </a:cxn>
              <a:cxn ang="T123">
                <a:pos x="T18" y="T19"/>
              </a:cxn>
              <a:cxn ang="T124">
                <a:pos x="T20" y="T21"/>
              </a:cxn>
              <a:cxn ang="T125">
                <a:pos x="T22" y="T23"/>
              </a:cxn>
              <a:cxn ang="T126">
                <a:pos x="T24" y="T25"/>
              </a:cxn>
              <a:cxn ang="T127">
                <a:pos x="T26" y="T27"/>
              </a:cxn>
              <a:cxn ang="T128">
                <a:pos x="T28" y="T29"/>
              </a:cxn>
              <a:cxn ang="T129">
                <a:pos x="T30" y="T31"/>
              </a:cxn>
              <a:cxn ang="T130">
                <a:pos x="T32" y="T33"/>
              </a:cxn>
              <a:cxn ang="T131">
                <a:pos x="T34" y="T35"/>
              </a:cxn>
              <a:cxn ang="T132">
                <a:pos x="T36" y="T37"/>
              </a:cxn>
              <a:cxn ang="T133">
                <a:pos x="T38" y="T39"/>
              </a:cxn>
              <a:cxn ang="T134">
                <a:pos x="T40" y="T41"/>
              </a:cxn>
              <a:cxn ang="T135">
                <a:pos x="T42" y="T43"/>
              </a:cxn>
              <a:cxn ang="T136">
                <a:pos x="T44" y="T45"/>
              </a:cxn>
              <a:cxn ang="T137">
                <a:pos x="T46" y="T47"/>
              </a:cxn>
              <a:cxn ang="T138">
                <a:pos x="T48" y="T49"/>
              </a:cxn>
              <a:cxn ang="T139">
                <a:pos x="T50" y="T51"/>
              </a:cxn>
              <a:cxn ang="T140">
                <a:pos x="T52" y="T53"/>
              </a:cxn>
              <a:cxn ang="T141">
                <a:pos x="T54" y="T55"/>
              </a:cxn>
              <a:cxn ang="T142">
                <a:pos x="T56" y="T57"/>
              </a:cxn>
              <a:cxn ang="T143">
                <a:pos x="T58" y="T59"/>
              </a:cxn>
              <a:cxn ang="T144">
                <a:pos x="T60" y="T61"/>
              </a:cxn>
              <a:cxn ang="T145">
                <a:pos x="T62" y="T63"/>
              </a:cxn>
              <a:cxn ang="T146">
                <a:pos x="T64" y="T65"/>
              </a:cxn>
              <a:cxn ang="T147">
                <a:pos x="T66" y="T67"/>
              </a:cxn>
              <a:cxn ang="T148">
                <a:pos x="T68" y="T69"/>
              </a:cxn>
              <a:cxn ang="T149">
                <a:pos x="T70" y="T71"/>
              </a:cxn>
              <a:cxn ang="T150">
                <a:pos x="T72" y="T73"/>
              </a:cxn>
              <a:cxn ang="T151">
                <a:pos x="T74" y="T75"/>
              </a:cxn>
              <a:cxn ang="T152">
                <a:pos x="T76" y="T77"/>
              </a:cxn>
              <a:cxn ang="T153">
                <a:pos x="T78" y="T79"/>
              </a:cxn>
              <a:cxn ang="T154">
                <a:pos x="T80" y="T81"/>
              </a:cxn>
              <a:cxn ang="T155">
                <a:pos x="T82" y="T83"/>
              </a:cxn>
              <a:cxn ang="T156">
                <a:pos x="T84" y="T85"/>
              </a:cxn>
              <a:cxn ang="T157">
                <a:pos x="T86" y="T87"/>
              </a:cxn>
              <a:cxn ang="T158">
                <a:pos x="T88" y="T89"/>
              </a:cxn>
              <a:cxn ang="T159">
                <a:pos x="T90" y="T91"/>
              </a:cxn>
              <a:cxn ang="T160">
                <a:pos x="T92" y="T93"/>
              </a:cxn>
              <a:cxn ang="T161">
                <a:pos x="T94" y="T95"/>
              </a:cxn>
              <a:cxn ang="T162">
                <a:pos x="T96" y="T97"/>
              </a:cxn>
              <a:cxn ang="T163">
                <a:pos x="T98" y="T99"/>
              </a:cxn>
              <a:cxn ang="T164">
                <a:pos x="T100" y="T101"/>
              </a:cxn>
              <a:cxn ang="T165">
                <a:pos x="T102" y="T103"/>
              </a:cxn>
              <a:cxn ang="T166">
                <a:pos x="T104" y="T105"/>
              </a:cxn>
              <a:cxn ang="T167">
                <a:pos x="T106" y="T107"/>
              </a:cxn>
              <a:cxn ang="T168">
                <a:pos x="T108" y="T109"/>
              </a:cxn>
              <a:cxn ang="T169">
                <a:pos x="T110" y="T111"/>
              </a:cxn>
              <a:cxn ang="T170">
                <a:pos x="T112" y="T113"/>
              </a:cxn>
            </a:cxnLst>
            <a:rect l="0" t="0" r="r" b="b"/>
            <a:pathLst>
              <a:path w="73" h="51">
                <a:moveTo>
                  <a:pt x="9" y="15"/>
                </a:moveTo>
                <a:cubicBezTo>
                  <a:pt x="25" y="10"/>
                  <a:pt x="40" y="5"/>
                  <a:pt x="56" y="0"/>
                </a:cubicBezTo>
                <a:cubicBezTo>
                  <a:pt x="52" y="13"/>
                  <a:pt x="52" y="26"/>
                  <a:pt x="56" y="40"/>
                </a:cubicBezTo>
                <a:cubicBezTo>
                  <a:pt x="24" y="31"/>
                  <a:pt x="24" y="31"/>
                  <a:pt x="24" y="31"/>
                </a:cubicBezTo>
                <a:cubicBezTo>
                  <a:pt x="25" y="37"/>
                  <a:pt x="26" y="42"/>
                  <a:pt x="28" y="48"/>
                </a:cubicBezTo>
                <a:cubicBezTo>
                  <a:pt x="25" y="50"/>
                  <a:pt x="22" y="51"/>
                  <a:pt x="18" y="51"/>
                </a:cubicBezTo>
                <a:cubicBezTo>
                  <a:pt x="15" y="44"/>
                  <a:pt x="13" y="36"/>
                  <a:pt x="13" y="28"/>
                </a:cubicBezTo>
                <a:cubicBezTo>
                  <a:pt x="9" y="27"/>
                  <a:pt x="9" y="27"/>
                  <a:pt x="9" y="27"/>
                </a:cubicBezTo>
                <a:cubicBezTo>
                  <a:pt x="9" y="23"/>
                  <a:pt x="9" y="19"/>
                  <a:pt x="9" y="15"/>
                </a:cubicBezTo>
                <a:close/>
                <a:moveTo>
                  <a:pt x="71" y="31"/>
                </a:moveTo>
                <a:cubicBezTo>
                  <a:pt x="72" y="32"/>
                  <a:pt x="73" y="34"/>
                  <a:pt x="73" y="35"/>
                </a:cubicBezTo>
                <a:cubicBezTo>
                  <a:pt x="72" y="37"/>
                  <a:pt x="70" y="38"/>
                  <a:pt x="68" y="37"/>
                </a:cubicBezTo>
                <a:cubicBezTo>
                  <a:pt x="61" y="35"/>
                  <a:pt x="61" y="35"/>
                  <a:pt x="61" y="35"/>
                </a:cubicBezTo>
                <a:cubicBezTo>
                  <a:pt x="59" y="34"/>
                  <a:pt x="58" y="32"/>
                  <a:pt x="59" y="31"/>
                </a:cubicBezTo>
                <a:cubicBezTo>
                  <a:pt x="59" y="29"/>
                  <a:pt x="61" y="28"/>
                  <a:pt x="63" y="29"/>
                </a:cubicBezTo>
                <a:cubicBezTo>
                  <a:pt x="71" y="31"/>
                  <a:pt x="71" y="31"/>
                  <a:pt x="71" y="31"/>
                </a:cubicBezTo>
                <a:close/>
                <a:moveTo>
                  <a:pt x="63" y="10"/>
                </a:moveTo>
                <a:cubicBezTo>
                  <a:pt x="61" y="11"/>
                  <a:pt x="59" y="10"/>
                  <a:pt x="59" y="8"/>
                </a:cubicBezTo>
                <a:cubicBezTo>
                  <a:pt x="58" y="6"/>
                  <a:pt x="59" y="4"/>
                  <a:pt x="61" y="4"/>
                </a:cubicBezTo>
                <a:cubicBezTo>
                  <a:pt x="68" y="1"/>
                  <a:pt x="68" y="1"/>
                  <a:pt x="68" y="1"/>
                </a:cubicBezTo>
                <a:cubicBezTo>
                  <a:pt x="70" y="1"/>
                  <a:pt x="72" y="2"/>
                  <a:pt x="73" y="3"/>
                </a:cubicBezTo>
                <a:cubicBezTo>
                  <a:pt x="73" y="5"/>
                  <a:pt x="72" y="7"/>
                  <a:pt x="71" y="8"/>
                </a:cubicBezTo>
                <a:cubicBezTo>
                  <a:pt x="63" y="10"/>
                  <a:pt x="63" y="10"/>
                  <a:pt x="63" y="10"/>
                </a:cubicBezTo>
                <a:close/>
                <a:moveTo>
                  <a:pt x="63" y="23"/>
                </a:moveTo>
                <a:cubicBezTo>
                  <a:pt x="61" y="23"/>
                  <a:pt x="59" y="21"/>
                  <a:pt x="59" y="19"/>
                </a:cubicBezTo>
                <a:cubicBezTo>
                  <a:pt x="59" y="17"/>
                  <a:pt x="61" y="16"/>
                  <a:pt x="63" y="16"/>
                </a:cubicBezTo>
                <a:cubicBezTo>
                  <a:pt x="70" y="16"/>
                  <a:pt x="70" y="16"/>
                  <a:pt x="70" y="16"/>
                </a:cubicBezTo>
                <a:cubicBezTo>
                  <a:pt x="72" y="16"/>
                  <a:pt x="73" y="17"/>
                  <a:pt x="73" y="19"/>
                </a:cubicBezTo>
                <a:cubicBezTo>
                  <a:pt x="73" y="21"/>
                  <a:pt x="72" y="23"/>
                  <a:pt x="70" y="23"/>
                </a:cubicBezTo>
                <a:cubicBezTo>
                  <a:pt x="63" y="23"/>
                  <a:pt x="63" y="23"/>
                  <a:pt x="63" y="23"/>
                </a:cubicBezTo>
                <a:close/>
                <a:moveTo>
                  <a:pt x="1" y="14"/>
                </a:moveTo>
                <a:cubicBezTo>
                  <a:pt x="5" y="14"/>
                  <a:pt x="5" y="14"/>
                  <a:pt x="5" y="14"/>
                </a:cubicBezTo>
                <a:cubicBezTo>
                  <a:pt x="6" y="14"/>
                  <a:pt x="6" y="15"/>
                  <a:pt x="6" y="15"/>
                </a:cubicBezTo>
                <a:cubicBezTo>
                  <a:pt x="6" y="27"/>
                  <a:pt x="6" y="27"/>
                  <a:pt x="6" y="27"/>
                </a:cubicBezTo>
                <a:cubicBezTo>
                  <a:pt x="6" y="28"/>
                  <a:pt x="6" y="28"/>
                  <a:pt x="5" y="28"/>
                </a:cubicBezTo>
                <a:cubicBezTo>
                  <a:pt x="1" y="28"/>
                  <a:pt x="1" y="28"/>
                  <a:pt x="1" y="28"/>
                </a:cubicBezTo>
                <a:cubicBezTo>
                  <a:pt x="0" y="28"/>
                  <a:pt x="0" y="28"/>
                  <a:pt x="0" y="27"/>
                </a:cubicBezTo>
                <a:cubicBezTo>
                  <a:pt x="0" y="15"/>
                  <a:pt x="0" y="15"/>
                  <a:pt x="0" y="15"/>
                </a:cubicBezTo>
                <a:cubicBezTo>
                  <a:pt x="0" y="15"/>
                  <a:pt x="0" y="14"/>
                  <a:pt x="1" y="14"/>
                </a:cubicBezTo>
                <a:close/>
                <a:moveTo>
                  <a:pt x="20" y="33"/>
                </a:moveTo>
                <a:cubicBezTo>
                  <a:pt x="21" y="35"/>
                  <a:pt x="21" y="38"/>
                  <a:pt x="21" y="40"/>
                </a:cubicBezTo>
                <a:cubicBezTo>
                  <a:pt x="22" y="42"/>
                  <a:pt x="22" y="44"/>
                  <a:pt x="23" y="46"/>
                </a:cubicBezTo>
                <a:cubicBezTo>
                  <a:pt x="23" y="46"/>
                  <a:pt x="24" y="47"/>
                  <a:pt x="25" y="47"/>
                </a:cubicBezTo>
                <a:cubicBezTo>
                  <a:pt x="26" y="46"/>
                  <a:pt x="26" y="45"/>
                  <a:pt x="26" y="45"/>
                </a:cubicBezTo>
                <a:cubicBezTo>
                  <a:pt x="25" y="43"/>
                  <a:pt x="24" y="41"/>
                  <a:pt x="24" y="39"/>
                </a:cubicBezTo>
                <a:cubicBezTo>
                  <a:pt x="24" y="37"/>
                  <a:pt x="23" y="35"/>
                  <a:pt x="23" y="33"/>
                </a:cubicBezTo>
                <a:cubicBezTo>
                  <a:pt x="23" y="32"/>
                  <a:pt x="23" y="32"/>
                  <a:pt x="22" y="32"/>
                </a:cubicBezTo>
                <a:cubicBezTo>
                  <a:pt x="21" y="32"/>
                  <a:pt x="20" y="32"/>
                  <a:pt x="20" y="33"/>
                </a:cubicBezTo>
                <a:close/>
                <a:moveTo>
                  <a:pt x="46" y="7"/>
                </a:moveTo>
                <a:cubicBezTo>
                  <a:pt x="45" y="12"/>
                  <a:pt x="45" y="16"/>
                  <a:pt x="45" y="20"/>
                </a:cubicBezTo>
                <a:cubicBezTo>
                  <a:pt x="45" y="25"/>
                  <a:pt x="45" y="29"/>
                  <a:pt x="46" y="33"/>
                </a:cubicBezTo>
                <a:cubicBezTo>
                  <a:pt x="47" y="34"/>
                  <a:pt x="48" y="35"/>
                  <a:pt x="48" y="34"/>
                </a:cubicBezTo>
                <a:cubicBezTo>
                  <a:pt x="49" y="34"/>
                  <a:pt x="50" y="33"/>
                  <a:pt x="50" y="32"/>
                </a:cubicBezTo>
                <a:cubicBezTo>
                  <a:pt x="49" y="28"/>
                  <a:pt x="48" y="24"/>
                  <a:pt x="48" y="20"/>
                </a:cubicBezTo>
                <a:cubicBezTo>
                  <a:pt x="48" y="16"/>
                  <a:pt x="49" y="12"/>
                  <a:pt x="50" y="8"/>
                </a:cubicBezTo>
                <a:cubicBezTo>
                  <a:pt x="50" y="7"/>
                  <a:pt x="49" y="6"/>
                  <a:pt x="48" y="6"/>
                </a:cubicBezTo>
                <a:cubicBezTo>
                  <a:pt x="48" y="6"/>
                  <a:pt x="47" y="6"/>
                  <a:pt x="46" y="7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pic>
        <p:nvPicPr>
          <p:cNvPr id="4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331" b="21196"/>
          <a:stretch>
            <a:fillRect/>
          </a:stretch>
        </p:blipFill>
        <p:spPr bwMode="auto">
          <a:xfrm>
            <a:off x="0" y="1624014"/>
            <a:ext cx="9144000" cy="36147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 userDrawn="1"/>
        </p:nvSpPr>
        <p:spPr>
          <a:xfrm>
            <a:off x="-30956" y="1624014"/>
            <a:ext cx="9179719" cy="3614737"/>
          </a:xfrm>
          <a:prstGeom prst="rect">
            <a:avLst/>
          </a:prstGeom>
          <a:gradFill flip="none" rotWithShape="1">
            <a:gsLst>
              <a:gs pos="0">
                <a:srgbClr val="053CAF">
                  <a:shade val="30000"/>
                  <a:satMod val="115000"/>
                </a:srgbClr>
              </a:gs>
              <a:gs pos="50000">
                <a:srgbClr val="053CAF">
                  <a:shade val="67500"/>
                  <a:satMod val="115000"/>
                </a:srgbClr>
              </a:gs>
              <a:gs pos="100000">
                <a:srgbClr val="053CAF">
                  <a:shade val="100000"/>
                  <a:satMod val="115000"/>
                </a:srgbClr>
              </a:gs>
            </a:gsLst>
            <a:lin ang="81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88"/>
          <a:stretch>
            <a:fillRect/>
          </a:stretch>
        </p:blipFill>
        <p:spPr bwMode="auto">
          <a:xfrm>
            <a:off x="0" y="6421439"/>
            <a:ext cx="9158288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椭圆 5"/>
          <p:cNvSpPr/>
          <p:nvPr userDrawn="1"/>
        </p:nvSpPr>
        <p:spPr>
          <a:xfrm>
            <a:off x="4451747" y="6510339"/>
            <a:ext cx="251222" cy="333375"/>
          </a:xfrm>
          <a:prstGeom prst="ellipse">
            <a:avLst/>
          </a:prstGeom>
          <a:solidFill>
            <a:srgbClr val="075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7" name="文本框 4"/>
          <p:cNvSpPr txBox="1">
            <a:spLocks noChangeArrowheads="1"/>
          </p:cNvSpPr>
          <p:nvPr userDrawn="1"/>
        </p:nvSpPr>
        <p:spPr bwMode="auto">
          <a:xfrm>
            <a:off x="4039791" y="6488113"/>
            <a:ext cx="1095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A5019797-2D32-40E8-B7D6-DE3365972C4A}" type="slidenum">
              <a:rPr lang="en-US" altLang="zh-CN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8" name="直接连接符 7"/>
          <p:cNvCxnSpPr/>
          <p:nvPr userDrawn="1"/>
        </p:nvCxnSpPr>
        <p:spPr>
          <a:xfrm>
            <a:off x="4039791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 userDrawn="1"/>
        </p:nvCxnSpPr>
        <p:spPr>
          <a:xfrm>
            <a:off x="4727972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" y="582614"/>
            <a:ext cx="350044" cy="466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623699"/>
            <a:ext cx="7886700" cy="393810"/>
          </a:xfrm>
          <a:prstGeom prst="rect">
            <a:avLst/>
          </a:prstGeom>
        </p:spPr>
        <p:txBody>
          <a:bodyPr/>
          <a:lstStyle>
            <a:lvl1pPr>
              <a:defRPr sz="1650" b="1">
                <a:solidFill>
                  <a:srgbClr val="064EDE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0"/>
          </p:nvPr>
        </p:nvSpPr>
        <p:spPr>
          <a:xfrm>
            <a:off x="628650" y="1569494"/>
            <a:ext cx="7886700" cy="4548732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defRPr sz="1500"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defRPr sz="135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 sz="1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5645859" y="30711"/>
            <a:ext cx="3642078" cy="532149"/>
            <a:chOff x="5645859" y="30711"/>
            <a:chExt cx="3642078" cy="532149"/>
          </a:xfrm>
        </p:grpSpPr>
        <p:grpSp>
          <p:nvGrpSpPr>
            <p:cNvPr id="12" name="组合 11"/>
            <p:cNvGrpSpPr/>
            <p:nvPr userDrawn="1"/>
          </p:nvGrpSpPr>
          <p:grpSpPr>
            <a:xfrm>
              <a:off x="6241522" y="30711"/>
              <a:ext cx="3046415" cy="532149"/>
              <a:chOff x="2857499" y="6054696"/>
              <a:chExt cx="3263903" cy="515292"/>
            </a:xfrm>
          </p:grpSpPr>
          <p:sp>
            <p:nvSpPr>
              <p:cNvPr id="13" name="文本框 12"/>
              <p:cNvSpPr txBox="1"/>
              <p:nvPr userDrawn="1"/>
            </p:nvSpPr>
            <p:spPr>
              <a:xfrm>
                <a:off x="2882898" y="6054696"/>
                <a:ext cx="32385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zh-CN" altLang="en-US" sz="1600" dirty="0">
                    <a:solidFill>
                      <a:schemeClr val="tx1"/>
                    </a:solidFill>
                    <a:latin typeface="幼圆" panose="02010509060101010101" pitchFamily="49" charset="-122"/>
                    <a:ea typeface="幼圆" panose="02010509060101010101" pitchFamily="49" charset="-122"/>
                  </a:rPr>
                  <a:t>先 进 网 络 技 术 实 验 室</a:t>
                </a:r>
                <a:endParaRPr lang="zh-CN" altLang="en-US" sz="1600" dirty="0">
                  <a:solidFill>
                    <a:schemeClr val="tx1"/>
                  </a:solidFill>
                  <a:latin typeface="幼圆" panose="02010509060101010101" pitchFamily="49" charset="-122"/>
                  <a:ea typeface="幼圆" panose="02010509060101010101" pitchFamily="49" charset="-122"/>
                </a:endParaRPr>
              </a:p>
            </p:txBody>
          </p:sp>
          <p:sp>
            <p:nvSpPr>
              <p:cNvPr id="14" name="文本框 13"/>
              <p:cNvSpPr txBox="1"/>
              <p:nvPr userDrawn="1"/>
            </p:nvSpPr>
            <p:spPr>
              <a:xfrm>
                <a:off x="2857499" y="6262211"/>
                <a:ext cx="31538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Advanced Networking</a:t>
                </a:r>
                <a:r>
                  <a:rPr lang="en-US" altLang="zh-CN" sz="1400" baseline="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 Technology Lab</a:t>
                </a:r>
                <a:endParaRPr lang="zh-CN" altLang="en-US" sz="1400" dirty="0">
                  <a:solidFill>
                    <a:schemeClr val="tx1"/>
                  </a:solidFill>
                  <a:latin typeface="+mj-lt"/>
                  <a:ea typeface="幼圆" panose="02010509060101010101" pitchFamily="49" charset="-122"/>
                </a:endParaRPr>
              </a:p>
            </p:txBody>
          </p:sp>
        </p:grpSp>
        <p:pic>
          <p:nvPicPr>
            <p:cNvPr id="3" name="图片 2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5859" y="88557"/>
              <a:ext cx="637998" cy="445485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88"/>
          <a:stretch>
            <a:fillRect/>
          </a:stretch>
        </p:blipFill>
        <p:spPr bwMode="auto">
          <a:xfrm>
            <a:off x="0" y="6421439"/>
            <a:ext cx="9158288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椭圆 2"/>
          <p:cNvSpPr/>
          <p:nvPr userDrawn="1"/>
        </p:nvSpPr>
        <p:spPr>
          <a:xfrm>
            <a:off x="4451747" y="6510339"/>
            <a:ext cx="251222" cy="333375"/>
          </a:xfrm>
          <a:prstGeom prst="ellipse">
            <a:avLst/>
          </a:prstGeom>
          <a:solidFill>
            <a:srgbClr val="075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4" name="文本框 4"/>
          <p:cNvSpPr txBox="1">
            <a:spLocks noChangeArrowheads="1"/>
          </p:cNvSpPr>
          <p:nvPr userDrawn="1"/>
        </p:nvSpPr>
        <p:spPr bwMode="auto">
          <a:xfrm>
            <a:off x="4039791" y="6488113"/>
            <a:ext cx="1095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681F3009-D47D-44AD-8065-D14F30DC0062}" type="slidenum">
              <a:rPr lang="en-US" altLang="zh-CN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" name="直接连接符 4"/>
          <p:cNvCxnSpPr/>
          <p:nvPr userDrawn="1"/>
        </p:nvCxnSpPr>
        <p:spPr>
          <a:xfrm>
            <a:off x="4039791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/>
        </p:nvCxnSpPr>
        <p:spPr>
          <a:xfrm>
            <a:off x="4727972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图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" y="469901"/>
            <a:ext cx="350044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组合 7"/>
          <p:cNvGrpSpPr/>
          <p:nvPr userDrawn="1"/>
        </p:nvGrpSpPr>
        <p:grpSpPr>
          <a:xfrm>
            <a:off x="5645859" y="30711"/>
            <a:ext cx="3642078" cy="532149"/>
            <a:chOff x="5645859" y="30711"/>
            <a:chExt cx="3642078" cy="532149"/>
          </a:xfrm>
        </p:grpSpPr>
        <p:grpSp>
          <p:nvGrpSpPr>
            <p:cNvPr id="9" name="组合 8"/>
            <p:cNvGrpSpPr/>
            <p:nvPr userDrawn="1"/>
          </p:nvGrpSpPr>
          <p:grpSpPr>
            <a:xfrm>
              <a:off x="6241522" y="30711"/>
              <a:ext cx="3046415" cy="532149"/>
              <a:chOff x="2857499" y="6054696"/>
              <a:chExt cx="3263903" cy="515292"/>
            </a:xfrm>
          </p:grpSpPr>
          <p:sp>
            <p:nvSpPr>
              <p:cNvPr id="11" name="文本框 10"/>
              <p:cNvSpPr txBox="1"/>
              <p:nvPr userDrawn="1"/>
            </p:nvSpPr>
            <p:spPr>
              <a:xfrm>
                <a:off x="2882898" y="6054696"/>
                <a:ext cx="32385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zh-CN" altLang="en-US" sz="1600" dirty="0">
                    <a:solidFill>
                      <a:schemeClr val="tx1"/>
                    </a:solidFill>
                    <a:latin typeface="幼圆" panose="02010509060101010101" pitchFamily="49" charset="-122"/>
                    <a:ea typeface="幼圆" panose="02010509060101010101" pitchFamily="49" charset="-122"/>
                  </a:rPr>
                  <a:t>先 进 网 络 技 术 实 验 室</a:t>
                </a:r>
                <a:endParaRPr lang="zh-CN" altLang="en-US" sz="1600" dirty="0">
                  <a:solidFill>
                    <a:schemeClr val="tx1"/>
                  </a:solidFill>
                  <a:latin typeface="幼圆" panose="02010509060101010101" pitchFamily="49" charset="-122"/>
                  <a:ea typeface="幼圆" panose="02010509060101010101" pitchFamily="49" charset="-122"/>
                </a:endParaRPr>
              </a:p>
            </p:txBody>
          </p:sp>
          <p:sp>
            <p:nvSpPr>
              <p:cNvPr id="12" name="文本框 11"/>
              <p:cNvSpPr txBox="1"/>
              <p:nvPr userDrawn="1"/>
            </p:nvSpPr>
            <p:spPr>
              <a:xfrm>
                <a:off x="2857499" y="6262211"/>
                <a:ext cx="31538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Advanced Networking</a:t>
                </a:r>
                <a:r>
                  <a:rPr lang="en-US" altLang="zh-CN" sz="1400" baseline="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 Technology Lab</a:t>
                </a:r>
                <a:endParaRPr lang="zh-CN" altLang="en-US" sz="1400" dirty="0">
                  <a:solidFill>
                    <a:schemeClr val="tx1"/>
                  </a:solidFill>
                  <a:latin typeface="+mj-lt"/>
                  <a:ea typeface="幼圆" panose="02010509060101010101" pitchFamily="49" charset="-122"/>
                </a:endParaRPr>
              </a:p>
            </p:txBody>
          </p:sp>
        </p:grpSp>
        <p:pic>
          <p:nvPicPr>
            <p:cNvPr id="10" name="图片 9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5859" y="88557"/>
              <a:ext cx="637998" cy="445485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388"/>
          <a:stretch>
            <a:fillRect/>
          </a:stretch>
        </p:blipFill>
        <p:spPr bwMode="auto">
          <a:xfrm>
            <a:off x="0" y="6421439"/>
            <a:ext cx="9158288" cy="433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4" name="直接连接符 3"/>
          <p:cNvCxnSpPr/>
          <p:nvPr userDrawn="1"/>
        </p:nvCxnSpPr>
        <p:spPr>
          <a:xfrm>
            <a:off x="-330993" y="6391275"/>
            <a:ext cx="9613106" cy="0"/>
          </a:xfrm>
          <a:prstGeom prst="line">
            <a:avLst/>
          </a:prstGeom>
          <a:ln w="12700">
            <a:solidFill>
              <a:srgbClr val="053CA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椭圆 4"/>
          <p:cNvSpPr/>
          <p:nvPr userDrawn="1"/>
        </p:nvSpPr>
        <p:spPr>
          <a:xfrm>
            <a:off x="4451747" y="6510339"/>
            <a:ext cx="251222" cy="333375"/>
          </a:xfrm>
          <a:prstGeom prst="ellipse">
            <a:avLst/>
          </a:prstGeom>
          <a:solidFill>
            <a:srgbClr val="0757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6"/>
          <p:cNvSpPr txBox="1">
            <a:spLocks noChangeArrowheads="1"/>
          </p:cNvSpPr>
          <p:nvPr userDrawn="1"/>
        </p:nvSpPr>
        <p:spPr bwMode="auto">
          <a:xfrm>
            <a:off x="4039791" y="6488113"/>
            <a:ext cx="109537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fld id="{E76F25F3-29D7-4A82-910A-2FBF705DD04C}" type="slidenum">
              <a:rPr lang="en-US" altLang="zh-CN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fld>
            <a:endParaRPr lang="zh-CN" altLang="en-US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4039791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 userDrawn="1"/>
        </p:nvCxnSpPr>
        <p:spPr>
          <a:xfrm>
            <a:off x="4727972" y="6677025"/>
            <a:ext cx="390525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图片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419" y="469901"/>
            <a:ext cx="350044" cy="4683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5" name="组合 14"/>
          <p:cNvGrpSpPr/>
          <p:nvPr userDrawn="1"/>
        </p:nvGrpSpPr>
        <p:grpSpPr>
          <a:xfrm>
            <a:off x="5645859" y="30711"/>
            <a:ext cx="3642078" cy="532149"/>
            <a:chOff x="5645859" y="30711"/>
            <a:chExt cx="3642078" cy="532149"/>
          </a:xfrm>
        </p:grpSpPr>
        <p:grpSp>
          <p:nvGrpSpPr>
            <p:cNvPr id="16" name="组合 15"/>
            <p:cNvGrpSpPr/>
            <p:nvPr userDrawn="1"/>
          </p:nvGrpSpPr>
          <p:grpSpPr>
            <a:xfrm>
              <a:off x="6241522" y="30711"/>
              <a:ext cx="3046415" cy="532149"/>
              <a:chOff x="2857499" y="6054696"/>
              <a:chExt cx="3263903" cy="515292"/>
            </a:xfrm>
          </p:grpSpPr>
          <p:sp>
            <p:nvSpPr>
              <p:cNvPr id="18" name="文本框 17"/>
              <p:cNvSpPr txBox="1"/>
              <p:nvPr userDrawn="1"/>
            </p:nvSpPr>
            <p:spPr>
              <a:xfrm>
                <a:off x="2882898" y="6054696"/>
                <a:ext cx="323850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zh-CN" altLang="en-US" sz="1600" dirty="0">
                    <a:solidFill>
                      <a:schemeClr val="tx1"/>
                    </a:solidFill>
                    <a:latin typeface="幼圆" panose="02010509060101010101" pitchFamily="49" charset="-122"/>
                    <a:ea typeface="幼圆" panose="02010509060101010101" pitchFamily="49" charset="-122"/>
                  </a:rPr>
                  <a:t>先 进 网 络 技 术 实 验 室</a:t>
                </a:r>
                <a:endParaRPr lang="zh-CN" altLang="en-US" sz="1600" dirty="0">
                  <a:solidFill>
                    <a:schemeClr val="tx1"/>
                  </a:solidFill>
                  <a:latin typeface="幼圆" panose="02010509060101010101" pitchFamily="49" charset="-122"/>
                  <a:ea typeface="幼圆" panose="02010509060101010101" pitchFamily="49" charset="-122"/>
                </a:endParaRPr>
              </a:p>
            </p:txBody>
          </p:sp>
          <p:sp>
            <p:nvSpPr>
              <p:cNvPr id="19" name="文本框 18"/>
              <p:cNvSpPr txBox="1"/>
              <p:nvPr userDrawn="1"/>
            </p:nvSpPr>
            <p:spPr>
              <a:xfrm>
                <a:off x="2857499" y="6262211"/>
                <a:ext cx="315383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40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Advanced Networking</a:t>
                </a:r>
                <a:r>
                  <a:rPr lang="en-US" altLang="zh-CN" sz="1400" baseline="0" dirty="0">
                    <a:solidFill>
                      <a:schemeClr val="tx1"/>
                    </a:solidFill>
                    <a:latin typeface="+mj-lt"/>
                    <a:ea typeface="幼圆" panose="02010509060101010101" pitchFamily="49" charset="-122"/>
                  </a:rPr>
                  <a:t> Technology Lab</a:t>
                </a:r>
                <a:endParaRPr lang="zh-CN" altLang="en-US" sz="1400" dirty="0">
                  <a:solidFill>
                    <a:schemeClr val="tx1"/>
                  </a:solidFill>
                  <a:latin typeface="+mj-lt"/>
                  <a:ea typeface="幼圆" panose="02010509060101010101" pitchFamily="49" charset="-122"/>
                </a:endParaRPr>
              </a:p>
            </p:txBody>
          </p:sp>
        </p:grpSp>
        <p:pic>
          <p:nvPicPr>
            <p:cNvPr id="17" name="图片 16"/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45859" y="88557"/>
              <a:ext cx="637998" cy="445485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1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tags" Target="../tags/tag18.xml"/><Relationship Id="rId7" Type="http://schemas.openxmlformats.org/officeDocument/2006/relationships/tags" Target="../tags/tag17.xml"/><Relationship Id="rId6" Type="http://schemas.openxmlformats.org/officeDocument/2006/relationships/image" Target="../media/image10.png"/><Relationship Id="rId5" Type="http://schemas.openxmlformats.org/officeDocument/2006/relationships/oleObject" Target="../embeddings/oleObject3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2.bin"/><Relationship Id="rId2" Type="http://schemas.openxmlformats.org/officeDocument/2006/relationships/image" Target="../media/image8.wmf"/><Relationship Id="rId13" Type="http://schemas.openxmlformats.org/officeDocument/2006/relationships/notesSlide" Target="../notesSlides/notesSlide5.xml"/><Relationship Id="rId12" Type="http://schemas.openxmlformats.org/officeDocument/2006/relationships/vmlDrawing" Target="../drawings/vmlDrawing1.vml"/><Relationship Id="rId11" Type="http://schemas.openxmlformats.org/officeDocument/2006/relationships/slideLayout" Target="../slideLayouts/slideLayout3.xml"/><Relationship Id="rId10" Type="http://schemas.openxmlformats.org/officeDocument/2006/relationships/image" Target="../media/image12.png"/><Relationship Id="rId1" Type="http://schemas.openxmlformats.org/officeDocument/2006/relationships/oleObject" Target="../embeddings/oleObject1.bin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.png"/><Relationship Id="rId8" Type="http://schemas.openxmlformats.org/officeDocument/2006/relationships/image" Target="../media/image14.png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oleObject" Target="../embeddings/oleObject6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5.bin"/><Relationship Id="rId2" Type="http://schemas.openxmlformats.org/officeDocument/2006/relationships/image" Target="../media/image8.wmf"/><Relationship Id="rId13" Type="http://schemas.openxmlformats.org/officeDocument/2006/relationships/notesSlide" Target="../notesSlides/notesSlide6.xml"/><Relationship Id="rId12" Type="http://schemas.openxmlformats.org/officeDocument/2006/relationships/vmlDrawing" Target="../drawings/vmlDrawing2.vml"/><Relationship Id="rId11" Type="http://schemas.openxmlformats.org/officeDocument/2006/relationships/slideLayout" Target="../slideLayouts/slideLayout3.xml"/><Relationship Id="rId10" Type="http://schemas.openxmlformats.org/officeDocument/2006/relationships/image" Target="../media/image16.png"/><Relationship Id="rId1" Type="http://schemas.openxmlformats.org/officeDocument/2006/relationships/oleObject" Target="../embeddings/oleObject4.bin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.png"/><Relationship Id="rId8" Type="http://schemas.openxmlformats.org/officeDocument/2006/relationships/image" Target="../media/image19.png"/><Relationship Id="rId7" Type="http://schemas.openxmlformats.org/officeDocument/2006/relationships/image" Target="../media/image18.png"/><Relationship Id="rId6" Type="http://schemas.openxmlformats.org/officeDocument/2006/relationships/image" Target="../media/image17.png"/><Relationship Id="rId5" Type="http://schemas.openxmlformats.org/officeDocument/2006/relationships/oleObject" Target="../embeddings/oleObject9.bin"/><Relationship Id="rId4" Type="http://schemas.openxmlformats.org/officeDocument/2006/relationships/image" Target="../media/image9.wmf"/><Relationship Id="rId3" Type="http://schemas.openxmlformats.org/officeDocument/2006/relationships/oleObject" Target="../embeddings/oleObject8.bin"/><Relationship Id="rId2" Type="http://schemas.openxmlformats.org/officeDocument/2006/relationships/image" Target="../media/image8.wmf"/><Relationship Id="rId14" Type="http://schemas.openxmlformats.org/officeDocument/2006/relationships/notesSlide" Target="../notesSlides/notesSlide7.xml"/><Relationship Id="rId13" Type="http://schemas.openxmlformats.org/officeDocument/2006/relationships/vmlDrawing" Target="../drawings/vmlDrawing3.vml"/><Relationship Id="rId12" Type="http://schemas.openxmlformats.org/officeDocument/2006/relationships/slideLayout" Target="../slideLayouts/slideLayout3.xml"/><Relationship Id="rId11" Type="http://schemas.openxmlformats.org/officeDocument/2006/relationships/image" Target="../media/image22.png"/><Relationship Id="rId10" Type="http://schemas.openxmlformats.org/officeDocument/2006/relationships/image" Target="../media/image21.png"/><Relationship Id="rId1" Type="http://schemas.openxmlformats.org/officeDocument/2006/relationships/oleObject" Target="../embeddings/oleObject7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9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28.png"/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0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31.png"/><Relationship Id="rId3" Type="http://schemas.openxmlformats.org/officeDocument/2006/relationships/tags" Target="../tags/tag22.xml"/><Relationship Id="rId2" Type="http://schemas.openxmlformats.org/officeDocument/2006/relationships/tags" Target="../tags/tag21.xml"/><Relationship Id="rId1" Type="http://schemas.openxmlformats.org/officeDocument/2006/relationships/image" Target="../media/image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3.xml"/><Relationship Id="rId4" Type="http://schemas.openxmlformats.org/officeDocument/2006/relationships/image" Target="../media/image35.png"/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image" Target="../media/image3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3.xml"/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文本框 3"/>
          <p:cNvSpPr txBox="1">
            <a:spLocks noChangeArrowheads="1"/>
          </p:cNvSpPr>
          <p:nvPr/>
        </p:nvSpPr>
        <p:spPr bwMode="auto">
          <a:xfrm>
            <a:off x="566794" y="1286190"/>
            <a:ext cx="8010412" cy="2330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30000"/>
              </a:lnSpc>
            </a:pPr>
            <a:r>
              <a:rPr sz="2800" b="1" dirty="0">
                <a:solidFill>
                  <a:schemeClr val="bg1"/>
                </a:solidFill>
                <a:latin typeface="Times New Roman" panose="02020603050405020304" pitchFamily="18" charset="0"/>
                <a:ea typeface="方正大标宋_GBK" pitchFamily="65" charset="-122"/>
                <a:cs typeface="Times New Roman" panose="02020603050405020304" pitchFamily="18" charset="0"/>
              </a:rPr>
              <a:t>Your Mega-Constellations Can Be Slim: </a:t>
            </a:r>
            <a:endParaRPr sz="2800" b="1" dirty="0">
              <a:solidFill>
                <a:schemeClr val="bg1"/>
              </a:solidFill>
              <a:latin typeface="Times New Roman" panose="02020603050405020304" pitchFamily="18" charset="0"/>
              <a:ea typeface="方正大标宋_GBK" pitchFamily="65" charset="-122"/>
              <a:cs typeface="Times New Roman" panose="02020603050405020304" pitchFamily="18" charset="0"/>
            </a:endParaRPr>
          </a:p>
          <a:p>
            <a:pPr algn="just" eaLnBrk="1" hangingPunct="1">
              <a:lnSpc>
                <a:spcPct val="130000"/>
              </a:lnSpc>
            </a:pPr>
            <a:r>
              <a:rPr sz="2800" b="1" dirty="0">
                <a:solidFill>
                  <a:schemeClr val="bg1"/>
                </a:solidFill>
                <a:latin typeface="Times New Roman" panose="02020603050405020304" pitchFamily="18" charset="0"/>
                <a:ea typeface="方正大标宋_GBK" pitchFamily="65" charset="-122"/>
                <a:cs typeface="Times New Roman" panose="02020603050405020304" pitchFamily="18" charset="0"/>
              </a:rPr>
              <a:t> A Cost-Effective Approach for Constructing Survivable and Performant LEO Satellite Networks</a:t>
            </a:r>
            <a:endParaRPr sz="2800" b="1" dirty="0">
              <a:solidFill>
                <a:schemeClr val="bg1"/>
              </a:solidFill>
              <a:latin typeface="Times New Roman" panose="02020603050405020304" pitchFamily="18" charset="0"/>
              <a:ea typeface="方正大标宋_GBK" pitchFamily="65" charset="-122"/>
              <a:cs typeface="Times New Roman" panose="02020603050405020304" pitchFamily="18" charset="0"/>
            </a:endParaRPr>
          </a:p>
        </p:txBody>
      </p:sp>
      <p:sp>
        <p:nvSpPr>
          <p:cNvPr id="10243" name="文本框 1"/>
          <p:cNvSpPr txBox="1">
            <a:spLocks noChangeArrowheads="1"/>
          </p:cNvSpPr>
          <p:nvPr/>
        </p:nvSpPr>
        <p:spPr bwMode="auto">
          <a:xfrm>
            <a:off x="898813" y="3848074"/>
            <a:ext cx="7076209" cy="9220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报告人：郑李琦</a:t>
            </a:r>
            <a:endParaRPr lang="en-US" altLang="zh-CN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 eaLnBrk="1" hangingPunct="1"/>
            <a:r>
              <a:rPr lang="en-US" altLang="zh-CN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2026.10</a:t>
            </a:r>
            <a:endParaRPr lang="en-US" altLang="zh-CN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 eaLnBrk="1" hangingPunct="1"/>
            <a:r>
              <a:rPr lang="zh-CN" altLang="en-US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西安电子科技大学</a:t>
            </a:r>
            <a:endParaRPr lang="zh-CN" altLang="en-US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" name="直接连接符 4"/>
          <p:cNvCxnSpPr/>
          <p:nvPr/>
        </p:nvCxnSpPr>
        <p:spPr>
          <a:xfrm>
            <a:off x="1080655" y="3617550"/>
            <a:ext cx="6712527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>
            <a:off x="1080655" y="5001928"/>
            <a:ext cx="6712527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文本框 1"/>
          <p:cNvSpPr txBox="1"/>
          <p:nvPr/>
        </p:nvSpPr>
        <p:spPr>
          <a:xfrm>
            <a:off x="2228215" y="2971165"/>
            <a:ext cx="620204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8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你的巨型星座可以更精简：</a:t>
            </a:r>
            <a:endParaRPr lang="zh-CN" altLang="en-US" sz="18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1800" dirty="0">
                <a:solidFill>
                  <a:schemeClr val="bg1"/>
                </a:solidFill>
                <a:latin typeface="华文楷体" panose="02010600040101010101" pitchFamily="2" charset="-122"/>
                <a:ea typeface="华文楷体" panose="02010600040101010101" pitchFamily="2" charset="-122"/>
                <a:cs typeface="Times New Roman" panose="02020603050405020304" pitchFamily="18" charset="0"/>
              </a:rPr>
              <a:t>一种面向可生存和高性能 LEO 卫星网络的低成本构建方法</a:t>
            </a:r>
            <a:endParaRPr lang="zh-CN" altLang="en-US" sz="1800" dirty="0">
              <a:solidFill>
                <a:schemeClr val="bg1"/>
              </a:solidFill>
              <a:latin typeface="华文楷体" panose="02010600040101010101" pitchFamily="2" charset="-122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-15479" y="531591"/>
            <a:ext cx="9159480" cy="5570338"/>
            <a:chOff x="-15479" y="531591"/>
            <a:chExt cx="9159480" cy="5570338"/>
          </a:xfrm>
        </p:grpSpPr>
        <p:pic>
          <p:nvPicPr>
            <p:cNvPr id="11266" name="图片 9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806" r="15421"/>
            <a:stretch>
              <a:fillRect/>
            </a:stretch>
          </p:blipFill>
          <p:spPr bwMode="auto">
            <a:xfrm>
              <a:off x="-15479" y="601822"/>
              <a:ext cx="4154091" cy="10215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矩形 5"/>
            <p:cNvSpPr/>
            <p:nvPr/>
          </p:nvSpPr>
          <p:spPr>
            <a:xfrm>
              <a:off x="4242198" y="603012"/>
              <a:ext cx="4901803" cy="1013222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/>
            </a:p>
          </p:txBody>
        </p:sp>
        <p:sp>
          <p:nvSpPr>
            <p:cNvPr id="11269" name="文本框 18"/>
            <p:cNvSpPr txBox="1">
              <a:spLocks noChangeArrowheads="1"/>
            </p:cNvSpPr>
            <p:nvPr/>
          </p:nvSpPr>
          <p:spPr bwMode="auto">
            <a:xfrm>
              <a:off x="4264819" y="848123"/>
              <a:ext cx="3348038" cy="7965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buFont typeface="Arial" panose="020B0604020202020204" pitchFamily="34" charset="0"/>
                <a:buNone/>
              </a:pPr>
              <a:r>
                <a:rPr lang="en-US" altLang="zh-CN" sz="4500">
                  <a:solidFill>
                    <a:schemeClr val="bg1"/>
                  </a:solidFill>
                  <a:latin typeface="Impact" panose="020B0806030902050204" pitchFamily="34" charset="0"/>
                  <a:ea typeface="华文中宋" panose="02010600040101010101" pitchFamily="2" charset="-122"/>
                </a:rPr>
                <a:t>CONTENTS</a:t>
              </a:r>
              <a:endParaRPr lang="zh-CN" altLang="en-US" sz="4500">
                <a:solidFill>
                  <a:schemeClr val="bg1"/>
                </a:solidFill>
                <a:latin typeface="Impact" panose="020B0806030902050204" pitchFamily="34" charset="0"/>
                <a:ea typeface="华文中宋" panose="02010600040101010101" pitchFamily="2" charset="-122"/>
              </a:endParaRPr>
            </a:p>
          </p:txBody>
        </p:sp>
        <p:sp>
          <p:nvSpPr>
            <p:cNvPr id="11273" name="文本框 20"/>
            <p:cNvSpPr txBox="1">
              <a:spLocks noChangeArrowheads="1"/>
            </p:cNvSpPr>
            <p:nvPr/>
          </p:nvSpPr>
          <p:spPr bwMode="auto">
            <a:xfrm>
              <a:off x="1531143" y="531591"/>
              <a:ext cx="2888456" cy="110799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anose="020F050202020403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r>
                <a:rPr lang="zh-CN" altLang="en-US" sz="6600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目 录</a:t>
              </a:r>
              <a:endParaRPr lang="zh-CN" altLang="en-US" sz="6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" name="组合 2"/>
            <p:cNvGrpSpPr/>
            <p:nvPr>
              <p:custDataLst>
                <p:tags r:id="rId2"/>
              </p:custDataLst>
            </p:nvPr>
          </p:nvGrpSpPr>
          <p:grpSpPr>
            <a:xfrm>
              <a:off x="107920" y="1815069"/>
              <a:ext cx="8995494" cy="615147"/>
              <a:chOff x="209520" y="2863454"/>
              <a:chExt cx="8995494" cy="615147"/>
            </a:xfrm>
          </p:grpSpPr>
          <p:sp>
            <p:nvSpPr>
              <p:cNvPr id="11268" name="椭圆 7"/>
              <p:cNvSpPr>
                <a:spLocks noChangeArrowheads="1"/>
              </p:cNvSpPr>
              <p:nvPr>
                <p:custDataLst>
                  <p:tags r:id="rId3"/>
                </p:custDataLst>
              </p:nvPr>
            </p:nvSpPr>
            <p:spPr bwMode="auto">
              <a:xfrm>
                <a:off x="209520" y="2863455"/>
                <a:ext cx="803672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01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sp>
            <p:nvSpPr>
              <p:cNvPr id="3080" name="文本框 19"/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 bwMode="auto">
              <a:xfrm>
                <a:off x="1013191" y="2863454"/>
                <a:ext cx="6785267" cy="6119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研究背景与问题分析</a:t>
                </a:r>
                <a:endParaRPr lang="en-US" altLang="zh-CN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cxnSp>
            <p:nvCxnSpPr>
              <p:cNvPr id="8" name="直接连接符 7"/>
              <p:cNvCxnSpPr/>
              <p:nvPr/>
            </p:nvCxnSpPr>
            <p:spPr>
              <a:xfrm>
                <a:off x="1032242" y="3478601"/>
                <a:ext cx="8172772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" name="组合 4"/>
            <p:cNvGrpSpPr/>
            <p:nvPr>
              <p:custDataLst>
                <p:tags r:id="rId5"/>
              </p:custDataLst>
            </p:nvPr>
          </p:nvGrpSpPr>
          <p:grpSpPr>
            <a:xfrm>
              <a:off x="107920" y="2962168"/>
              <a:ext cx="8995494" cy="672787"/>
              <a:chOff x="209520" y="3674794"/>
              <a:chExt cx="8995494" cy="672787"/>
            </a:xfrm>
          </p:grpSpPr>
          <p:sp>
            <p:nvSpPr>
              <p:cNvPr id="3081" name="文本框 20"/>
              <p:cNvSpPr txBox="1">
                <a:spLocks noChangeArrowheads="1"/>
              </p:cNvSpPr>
              <p:nvPr>
                <p:custDataLst>
                  <p:tags r:id="rId6"/>
                </p:custDataLst>
              </p:nvPr>
            </p:nvSpPr>
            <p:spPr bwMode="auto">
              <a:xfrm>
                <a:off x="1013191" y="3677518"/>
                <a:ext cx="8119301" cy="6098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</a:t>
                </a:r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ega</a:t>
                </a:r>
                <a:r>
                  <a:rPr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</a:t>
                </a:r>
                <a:r>
                  <a:rPr 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educe</a:t>
                </a:r>
                <a:r>
                  <a:rPr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算法建模与设计</a:t>
                </a:r>
                <a:endParaRPr lang="en-US" altLang="zh-CN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275" name="椭圆 7"/>
              <p:cNvSpPr>
                <a:spLocks noChangeArrowheads="1"/>
              </p:cNvSpPr>
              <p:nvPr>
                <p:custDataLst>
                  <p:tags r:id="rId7"/>
                </p:custDataLst>
              </p:nvPr>
            </p:nvSpPr>
            <p:spPr bwMode="auto">
              <a:xfrm>
                <a:off x="209520" y="3674794"/>
                <a:ext cx="803672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02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cxnSp>
            <p:nvCxnSpPr>
              <p:cNvPr id="22" name="直接连接符 21"/>
              <p:cNvCxnSpPr/>
              <p:nvPr/>
            </p:nvCxnSpPr>
            <p:spPr>
              <a:xfrm>
                <a:off x="1044148" y="4347581"/>
                <a:ext cx="8160866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" name="组合 6"/>
            <p:cNvGrpSpPr/>
            <p:nvPr>
              <p:custDataLst>
                <p:tags r:id="rId8"/>
              </p:custDataLst>
            </p:nvPr>
          </p:nvGrpSpPr>
          <p:grpSpPr>
            <a:xfrm>
              <a:off x="107920" y="5374041"/>
              <a:ext cx="9013353" cy="727888"/>
              <a:chOff x="210711" y="4646153"/>
              <a:chExt cx="9013353" cy="727888"/>
            </a:xfrm>
          </p:grpSpPr>
          <p:sp>
            <p:nvSpPr>
              <p:cNvPr id="2" name="文本框 20"/>
              <p:cNvSpPr txBox="1">
                <a:spLocks noChangeArrowheads="1"/>
              </p:cNvSpPr>
              <p:nvPr>
                <p:custDataLst>
                  <p:tags r:id="rId9"/>
                </p:custDataLst>
              </p:nvPr>
            </p:nvSpPr>
            <p:spPr bwMode="auto">
              <a:xfrm>
                <a:off x="1013191" y="4648241"/>
                <a:ext cx="8119301" cy="6098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结论与展望</a:t>
                </a:r>
                <a:endParaRPr lang="en-US" altLang="zh-CN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1276" name="椭圆 7"/>
              <p:cNvSpPr>
                <a:spLocks noChangeArrowheads="1"/>
              </p:cNvSpPr>
              <p:nvPr>
                <p:custDataLst>
                  <p:tags r:id="rId10"/>
                </p:custDataLst>
              </p:nvPr>
            </p:nvSpPr>
            <p:spPr bwMode="auto">
              <a:xfrm>
                <a:off x="210711" y="4646153"/>
                <a:ext cx="802481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04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cxnSp>
            <p:nvCxnSpPr>
              <p:cNvPr id="24" name="直接连接符 23"/>
              <p:cNvCxnSpPr/>
              <p:nvPr/>
            </p:nvCxnSpPr>
            <p:spPr>
              <a:xfrm>
                <a:off x="1044148" y="5374041"/>
                <a:ext cx="8179916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4" name="组合 3"/>
            <p:cNvGrpSpPr/>
            <p:nvPr>
              <p:custDataLst>
                <p:tags r:id="rId11"/>
              </p:custDataLst>
            </p:nvPr>
          </p:nvGrpSpPr>
          <p:grpSpPr>
            <a:xfrm>
              <a:off x="127605" y="4168033"/>
              <a:ext cx="8995494" cy="671517"/>
              <a:chOff x="209520" y="3754804"/>
              <a:chExt cx="8995494" cy="671517"/>
            </a:xfrm>
          </p:grpSpPr>
          <p:sp>
            <p:nvSpPr>
              <p:cNvPr id="9" name="文本框 20"/>
              <p:cNvSpPr txBox="1">
                <a:spLocks noChangeArrowheads="1"/>
              </p:cNvSpPr>
              <p:nvPr>
                <p:custDataLst>
                  <p:tags r:id="rId12"/>
                </p:custDataLst>
              </p:nvPr>
            </p:nvSpPr>
            <p:spPr bwMode="auto">
              <a:xfrm>
                <a:off x="1013191" y="3756893"/>
                <a:ext cx="8119301" cy="60989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anchor="ctr"/>
              <a:lstStyle>
                <a:lvl1pPr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5pPr>
                <a:lvl6pPr marL="25146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6pPr>
                <a:lvl7pPr marL="29718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7pPr>
                <a:lvl8pPr marL="34290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8pPr>
                <a:lvl9pPr marL="3886200" indent="-228600" fontAlgn="base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defRPr>
                    <a:solidFill>
                      <a:schemeClr val="tx1"/>
                    </a:solidFill>
                    <a:latin typeface="Calibri" panose="020F050202020403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zh-CN" altLang="en-US" sz="2400" b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实验结果与分析</a:t>
                </a:r>
                <a:endParaRPr lang="en-US" altLang="zh-CN" sz="2400" b="1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10" name="椭圆 7"/>
              <p:cNvSpPr>
                <a:spLocks noChangeArrowheads="1"/>
              </p:cNvSpPr>
              <p:nvPr>
                <p:custDataLst>
                  <p:tags r:id="rId13"/>
                </p:custDataLst>
              </p:nvPr>
            </p:nvSpPr>
            <p:spPr bwMode="auto">
              <a:xfrm>
                <a:off x="209520" y="3754804"/>
                <a:ext cx="803672" cy="611981"/>
              </a:xfrm>
              <a:prstGeom prst="ellipse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9050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lIns="0" tIns="0" rIns="0" bIns="0" anchor="ctr"/>
              <a:lstStyle/>
              <a:p>
                <a:pPr algn="ctr" eaLnBrk="1" hangingPunct="1">
                  <a:buFont typeface="Arial" panose="020B0604020202020204" pitchFamily="34" charset="0"/>
                  <a:buNone/>
                </a:pPr>
                <a:r>
                  <a:rPr lang="en-US" altLang="zh-CN" sz="3600" dirty="0">
                    <a:solidFill>
                      <a:srgbClr val="053CAF"/>
                    </a:solidFill>
                    <a:latin typeface="Impact" panose="020B0806030902050204" pitchFamily="34" charset="0"/>
                  </a:rPr>
                  <a:t>03</a:t>
                </a:r>
                <a:endParaRPr lang="zh-CN" altLang="en-US" sz="3600" dirty="0">
                  <a:solidFill>
                    <a:srgbClr val="053CAF"/>
                  </a:solidFill>
                  <a:latin typeface="Impact" panose="020B0806030902050204" pitchFamily="34" charset="0"/>
                </a:endParaRPr>
              </a:p>
            </p:txBody>
          </p:sp>
          <p:cxnSp>
            <p:nvCxnSpPr>
              <p:cNvPr id="11" name="直接连接符 10"/>
              <p:cNvCxnSpPr/>
              <p:nvPr/>
            </p:nvCxnSpPr>
            <p:spPr>
              <a:xfrm>
                <a:off x="1044148" y="4426321"/>
                <a:ext cx="8160866" cy="0"/>
              </a:xfrm>
              <a:prstGeom prst="line">
                <a:avLst/>
              </a:prstGeom>
              <a:ln w="19050">
                <a:solidFill>
                  <a:srgbClr val="053CAF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546860" y="3006725"/>
            <a:ext cx="1158240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01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2608580" y="3006725"/>
            <a:ext cx="4937760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研究背景与问题分析</a:t>
            </a: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研究背景与</a:t>
            </a:r>
            <a:r>
              <a:rPr lang="zh-CN" altLang="en-US" dirty="0">
                <a:sym typeface="+mn-ea"/>
              </a:rPr>
              <a:t>问题分析</a:t>
            </a:r>
            <a:endParaRPr lang="zh-CN" altLang="en-US" dirty="0"/>
          </a:p>
        </p:txBody>
      </p:sp>
      <p:grpSp>
        <p:nvGrpSpPr>
          <p:cNvPr id="42" name="组合 41"/>
          <p:cNvGrpSpPr/>
          <p:nvPr/>
        </p:nvGrpSpPr>
        <p:grpSpPr>
          <a:xfrm>
            <a:off x="394970" y="1536065"/>
            <a:ext cx="8354695" cy="2365375"/>
            <a:chOff x="394686" y="1370966"/>
            <a:chExt cx="8354627" cy="2294561"/>
          </a:xfrm>
        </p:grpSpPr>
        <p:sp>
          <p:nvSpPr>
            <p:cNvPr id="6" name="矩形: 圆角 5"/>
            <p:cNvSpPr/>
            <p:nvPr/>
          </p:nvSpPr>
          <p:spPr>
            <a:xfrm>
              <a:off x="394686" y="1377248"/>
              <a:ext cx="8354627" cy="2288279"/>
            </a:xfrm>
            <a:prstGeom prst="roundRect">
              <a:avLst>
                <a:gd name="adj" fmla="val 10597"/>
              </a:avLst>
            </a:prstGeom>
            <a:solidFill>
              <a:schemeClr val="accent4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41" name="组合 40"/>
            <p:cNvGrpSpPr/>
            <p:nvPr/>
          </p:nvGrpSpPr>
          <p:grpSpPr>
            <a:xfrm>
              <a:off x="495766" y="1370966"/>
              <a:ext cx="8151495" cy="2076131"/>
              <a:chOff x="495728" y="1312502"/>
              <a:chExt cx="8151495" cy="2076131"/>
            </a:xfrm>
          </p:grpSpPr>
          <p:sp>
            <p:nvSpPr>
              <p:cNvPr id="5" name="文本框 4"/>
              <p:cNvSpPr txBox="1"/>
              <p:nvPr/>
            </p:nvSpPr>
            <p:spPr>
              <a:xfrm>
                <a:off x="495728" y="1312502"/>
                <a:ext cx="8151495" cy="7518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lstStyle/>
              <a:p>
                <a:pPr indent="457200" algn="just">
                  <a:lnSpc>
                    <a:spcPct val="13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SpaceX 的 Starlink 与亚马逊的 Kuiper 项目一期将分别包含约 4,408 颗与 3,236 颗 LEO 卫星；此外，SpaceX 还期望在下一部署阶段把 Starlink 星座规模扩展到 42,000 颗。</a:t>
                </a: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indent="457200" algn="just">
                  <a:lnSpc>
                    <a:spcPct val="130000"/>
                  </a:lnSpc>
                </a:pP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496287" y="2590230"/>
                <a:ext cx="3766310" cy="4108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96286" y="2977788"/>
                <a:ext cx="7631713" cy="4108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30000"/>
                  </a:lnSpc>
                </a:pPr>
                <a:endPara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grpSp>
        <p:nvGrpSpPr>
          <p:cNvPr id="47" name="组合 46"/>
          <p:cNvGrpSpPr/>
          <p:nvPr/>
        </p:nvGrpSpPr>
        <p:grpSpPr>
          <a:xfrm>
            <a:off x="495689" y="1104949"/>
            <a:ext cx="1400339" cy="429895"/>
            <a:chOff x="1699726" y="4275460"/>
            <a:chExt cx="1400339" cy="429895"/>
          </a:xfrm>
        </p:grpSpPr>
        <p:sp>
          <p:nvSpPr>
            <p:cNvPr id="4" name="文本框 3"/>
            <p:cNvSpPr txBox="1"/>
            <p:nvPr/>
          </p:nvSpPr>
          <p:spPr>
            <a:xfrm>
              <a:off x="1799585" y="4275460"/>
              <a:ext cx="1300480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研究背景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46" name="组合 45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44" name="矩形 43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矩形 44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50" name="组合 49"/>
          <p:cNvGrpSpPr/>
          <p:nvPr/>
        </p:nvGrpSpPr>
        <p:grpSpPr>
          <a:xfrm>
            <a:off x="496324" y="3935090"/>
            <a:ext cx="1400339" cy="429895"/>
            <a:chOff x="1699726" y="4275460"/>
            <a:chExt cx="1400339" cy="429895"/>
          </a:xfrm>
        </p:grpSpPr>
        <p:sp>
          <p:nvSpPr>
            <p:cNvPr id="51" name="文本框 50"/>
            <p:cNvSpPr txBox="1"/>
            <p:nvPr/>
          </p:nvSpPr>
          <p:spPr>
            <a:xfrm>
              <a:off x="1799585" y="4275460"/>
              <a:ext cx="1300480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研究现状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52" name="组合 51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53" name="矩形 52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59" name="文本框 58"/>
          <p:cNvSpPr txBox="1"/>
          <p:nvPr/>
        </p:nvSpPr>
        <p:spPr>
          <a:xfrm>
            <a:off x="0" y="6264275"/>
            <a:ext cx="9144000" cy="4914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1" hangingPunct="1">
              <a:lnSpc>
                <a:spcPct val="130000"/>
              </a:lnSpc>
            </a:pPr>
            <a:r>
              <a:rPr sz="2000" b="1" dirty="0">
                <a:solidFill>
                  <a:srgbClr val="053CA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构建一个可生存且性能达标的 LSN，究竟需要多少颗卫星？</a:t>
            </a:r>
            <a:endParaRPr sz="2000" b="1" dirty="0">
              <a:solidFill>
                <a:srgbClr val="053CA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496570" y="2167255"/>
            <a:ext cx="8155305" cy="93408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indent="45720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在 LSN 中部署更多卫星可以提供更多冗余的备份链路与路径，从而有效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提升网络的生存性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。部署更多具备多波束高吞吐点波束的 LEO 卫星，也可以带来更广的服务覆盖以及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更高的星座级网络容量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indent="457200" algn="just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但是，</a:t>
            </a:r>
            <a:r>
              <a:rPr lang="zh-CN" altLang="en-US" sz="1600" b="1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大规模部署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LEO 卫星虽然能提升卫星网络的网络生存性与性能，却也会带来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更高的部署成本、卫星交汇风险、空间碎片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484505" y="4342130"/>
            <a:ext cx="8181975" cy="182372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581660" y="4421505"/>
            <a:ext cx="7987665" cy="15297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285750" indent="-28575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一些工作专注于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优化通信覆盖、时延、网络容量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，但这些设计方法并未考虑在空间中各种潜在失效因素下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保证网络生存性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；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一些工作提出了</a:t>
            </a:r>
            <a:r>
              <a:rPr lang="zh-CN" altLang="en-US" sz="1600" b="1" dirty="0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多层空间网络设计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，引入同步卫星 GEO 来转发 LEO 之间的流量、从而减少所需卫星数。然而，由于轨道高度更高，引入 GEO 会导致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增加网络时延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，并且 GEO 卫星的</a:t>
            </a:r>
            <a:r>
              <a:rPr lang="zh-CN" altLang="en-US" sz="1600" b="1" dirty="0">
                <a:solidFill>
                  <a:schemeClr val="accent2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服务容量通常有限</a:t>
            </a:r>
            <a:r>
              <a:rPr lang="zh-CN" altLang="en-US" sz="16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，难以支撑数量庞大的宽带用户。</a:t>
            </a:r>
            <a:endParaRPr lang="zh-CN" altLang="en-US" sz="1600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研究目标和创新点</a:t>
            </a:r>
            <a:endParaRPr lang="zh-CN" altLang="en-US" dirty="0"/>
          </a:p>
        </p:txBody>
      </p:sp>
      <p:grpSp>
        <p:nvGrpSpPr>
          <p:cNvPr id="2" name="组合 1"/>
          <p:cNvGrpSpPr/>
          <p:nvPr/>
        </p:nvGrpSpPr>
        <p:grpSpPr>
          <a:xfrm>
            <a:off x="496324" y="1156156"/>
            <a:ext cx="1413039" cy="430887"/>
            <a:chOff x="1699726" y="4275460"/>
            <a:chExt cx="1413039" cy="430887"/>
          </a:xfrm>
        </p:grpSpPr>
        <p:sp>
          <p:nvSpPr>
            <p:cNvPr id="7" name="文本框 6"/>
            <p:cNvSpPr txBox="1"/>
            <p:nvPr/>
          </p:nvSpPr>
          <p:spPr>
            <a:xfrm>
              <a:off x="1799585" y="4275460"/>
              <a:ext cx="131318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核心目标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9" name="矩形 8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49" name="矩形: 圆角 48"/>
          <p:cNvSpPr/>
          <p:nvPr/>
        </p:nvSpPr>
        <p:spPr>
          <a:xfrm>
            <a:off x="692785" y="1725295"/>
            <a:ext cx="7613015" cy="40513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 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满足多项</a:t>
            </a:r>
            <a:r>
              <a:rPr lang="zh-CN" altLang="en-US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生存性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和</a:t>
            </a:r>
            <a:r>
              <a:rPr lang="zh-CN" altLang="en-US" sz="1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性能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要求的前提下，找到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LSN</a:t>
            </a:r>
            <a:r>
              <a:rPr lang="en-US" altLang="zh-CN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</a:t>
            </a:r>
            <a:r>
              <a:rPr lang="zh-CN" altLang="en-US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所需要的</a:t>
            </a:r>
            <a:r>
              <a:rPr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最少卫星数</a:t>
            </a:r>
            <a:endParaRPr lang="zh-CN" altLang="en-US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grpSp>
        <p:nvGrpSpPr>
          <p:cNvPr id="81" name="组合 80"/>
          <p:cNvGrpSpPr/>
          <p:nvPr/>
        </p:nvGrpSpPr>
        <p:grpSpPr>
          <a:xfrm>
            <a:off x="496324" y="2383967"/>
            <a:ext cx="1413039" cy="430887"/>
            <a:chOff x="1699726" y="4275460"/>
            <a:chExt cx="1413039" cy="430887"/>
          </a:xfrm>
        </p:grpSpPr>
        <p:sp>
          <p:nvSpPr>
            <p:cNvPr id="82" name="文本框 81"/>
            <p:cNvSpPr txBox="1"/>
            <p:nvPr/>
          </p:nvSpPr>
          <p:spPr>
            <a:xfrm>
              <a:off x="1799585" y="4275460"/>
              <a:ext cx="1313180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本文提出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3" name="组合 82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84" name="矩形 83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矩形 84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107" name="组合 106"/>
          <p:cNvGrpSpPr/>
          <p:nvPr/>
        </p:nvGrpSpPr>
        <p:grpSpPr>
          <a:xfrm>
            <a:off x="521393" y="4283177"/>
            <a:ext cx="1130910" cy="430887"/>
            <a:chOff x="1699726" y="4275460"/>
            <a:chExt cx="1130910" cy="430887"/>
          </a:xfrm>
        </p:grpSpPr>
        <p:sp>
          <p:nvSpPr>
            <p:cNvPr id="108" name="文本框 107"/>
            <p:cNvSpPr txBox="1"/>
            <p:nvPr/>
          </p:nvSpPr>
          <p:spPr>
            <a:xfrm>
              <a:off x="1799585" y="4275460"/>
              <a:ext cx="1031051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创新点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09" name="组合 108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110" name="矩形 109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矩形 1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pSp>
        <p:nvGrpSpPr>
          <p:cNvPr id="96" name="组合 95"/>
          <p:cNvGrpSpPr/>
          <p:nvPr/>
        </p:nvGrpSpPr>
        <p:grpSpPr>
          <a:xfrm>
            <a:off x="848995" y="2862765"/>
            <a:ext cx="7456805" cy="1183005"/>
            <a:chOff x="849097" y="1635120"/>
            <a:chExt cx="7457047" cy="1230213"/>
          </a:xfrm>
        </p:grpSpPr>
        <p:sp>
          <p:nvSpPr>
            <p:cNvPr id="86" name="矩形: 圆角 85"/>
            <p:cNvSpPr/>
            <p:nvPr/>
          </p:nvSpPr>
          <p:spPr>
            <a:xfrm>
              <a:off x="849097" y="1635120"/>
              <a:ext cx="7457047" cy="1230213"/>
            </a:xfrm>
            <a:prstGeom prst="roundRect">
              <a:avLst>
                <a:gd name="adj" fmla="val 8768"/>
              </a:avLst>
            </a:prstGeom>
            <a:solidFill>
              <a:schemeClr val="accent4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grpSp>
          <p:nvGrpSpPr>
            <p:cNvPr id="95" name="组合 94"/>
            <p:cNvGrpSpPr/>
            <p:nvPr/>
          </p:nvGrpSpPr>
          <p:grpSpPr>
            <a:xfrm>
              <a:off x="1048609" y="1685966"/>
              <a:ext cx="7046782" cy="1053960"/>
              <a:chOff x="1048609" y="1685966"/>
              <a:chExt cx="7046782" cy="1053960"/>
            </a:xfrm>
          </p:grpSpPr>
          <p:sp>
            <p:nvSpPr>
              <p:cNvPr id="79" name="文本框 78"/>
              <p:cNvSpPr txBox="1"/>
              <p:nvPr/>
            </p:nvSpPr>
            <p:spPr>
              <a:xfrm>
                <a:off x="1048609" y="1685966"/>
                <a:ext cx="7046782" cy="5751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>
                  <a:lnSpc>
                    <a:spcPct val="150000"/>
                  </a:lnSpc>
                </a:pP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一种</a:t>
                </a:r>
                <a:r>
                  <a:rPr lang="zh-CN" altLang="en-US" sz="20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需求驱动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20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LSN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优化机制</a:t>
                </a:r>
                <a:r>
                  <a:rPr lang="en-US" altLang="zh-CN" sz="20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—— </a:t>
                </a:r>
                <a:r>
                  <a:rPr lang="en-US" altLang="zh-CN" sz="2000" b="1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MegaReduce</a:t>
                </a:r>
                <a:endParaRPr lang="en-US" altLang="zh-CN" sz="2000" b="1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sp>
            <p:nvSpPr>
              <p:cNvPr id="88" name="文本框 87"/>
              <p:cNvSpPr txBox="1"/>
              <p:nvPr/>
            </p:nvSpPr>
            <p:spPr>
              <a:xfrm>
                <a:off x="1600815" y="2261180"/>
                <a:ext cx="5942370" cy="4787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p>
                <a:pPr algn="ctr">
                  <a:lnSpc>
                    <a:spcPct val="150000"/>
                  </a:lnSpc>
                </a:pP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实现在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多项式时间内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设计出满足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生存性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与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性能</a:t>
                </a:r>
                <a:r>
                  <a:rPr lang="zh-CN" altLang="en-US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要求的</a:t>
                </a:r>
                <a:r>
                  <a:rPr lang="en-US" altLang="zh-CN" sz="1600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LSN</a:t>
                </a:r>
                <a:endParaRPr lang="en-US" altLang="zh-CN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92" name="直接连接符 91"/>
              <p:cNvCxnSpPr/>
              <p:nvPr/>
            </p:nvCxnSpPr>
            <p:spPr>
              <a:xfrm>
                <a:off x="1289665" y="2261180"/>
                <a:ext cx="6409390" cy="0"/>
              </a:xfrm>
              <a:prstGeom prst="line">
                <a:avLst/>
              </a:prstGeom>
              <a:ln w="22225" cmpd="dbl">
                <a:solidFill>
                  <a:srgbClr val="FFC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2" name="文本框 111"/>
          <p:cNvSpPr txBox="1"/>
          <p:nvPr/>
        </p:nvSpPr>
        <p:spPr>
          <a:xfrm>
            <a:off x="634614" y="4777603"/>
            <a:ext cx="8166735" cy="45085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形式化了可生存且高效的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设计问题</a:t>
            </a:r>
            <a:r>
              <a: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（</a:t>
            </a:r>
            <a:r>
              <a:rPr lang="en-US" altLang="zh-CN" sz="1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Survivable and Performant LSN Design, SPLD</a:t>
            </a:r>
            <a:r>
              <a:rPr lang="zh-CN" altLang="en-US" sz="1400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endParaRPr lang="zh-CN" altLang="en-US" sz="1400" b="1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34614" y="5191947"/>
            <a:ext cx="5764530" cy="45085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提出一种需求驱动的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优化机制</a:t>
            </a:r>
            <a:r>
              <a:rPr lang="en-US" altLang="zh-CN" dirty="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—— MegaReduce</a:t>
            </a:r>
            <a:endParaRPr lang="en-US" altLang="zh-CN" dirty="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14" name="文本框 113"/>
          <p:cNvSpPr txBox="1"/>
          <p:nvPr/>
        </p:nvSpPr>
        <p:spPr>
          <a:xfrm>
            <a:off x="634614" y="5608816"/>
            <a:ext cx="8012430" cy="45085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marL="28575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为了保证可接受的端到端时延，设计了无向图转换为有向分层图的解决方法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774190" y="3006725"/>
            <a:ext cx="1158240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02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029585" y="3342005"/>
            <a:ext cx="4937760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M</a:t>
            </a:r>
            <a:r>
              <a:rPr 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ega</a:t>
            </a:r>
            <a:r>
              <a:rPr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R</a:t>
            </a:r>
            <a:r>
              <a:rPr 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educe</a:t>
            </a:r>
            <a:r>
              <a:rPr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endParaRPr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算法建模与设计</a:t>
            </a:r>
            <a:endParaRPr lang="en-US" altLang="zh-CN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SPLD </a:t>
            </a:r>
            <a:r>
              <a:rPr lang="zh-CN" altLang="en-US" dirty="0"/>
              <a:t>问题建模</a:t>
            </a:r>
            <a:endParaRPr lang="zh-CN" altLang="en-US" dirty="0"/>
          </a:p>
        </p:txBody>
      </p:sp>
      <p:grpSp>
        <p:nvGrpSpPr>
          <p:cNvPr id="2" name="组合 1"/>
          <p:cNvGrpSpPr/>
          <p:nvPr/>
        </p:nvGrpSpPr>
        <p:grpSpPr>
          <a:xfrm rot="0">
            <a:off x="496570" y="1156335"/>
            <a:ext cx="1400299" cy="429895"/>
            <a:chOff x="1699726" y="4275460"/>
            <a:chExt cx="1400860" cy="429895"/>
          </a:xfrm>
        </p:grpSpPr>
        <p:sp>
          <p:nvSpPr>
            <p:cNvPr id="7" name="文本框 6"/>
            <p:cNvSpPr txBox="1"/>
            <p:nvPr/>
          </p:nvSpPr>
          <p:spPr>
            <a:xfrm>
              <a:off x="1799585" y="4275460"/>
              <a:ext cx="1301001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目标函数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9" name="矩形 8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177165" progId="Equation.KSEE3">
                  <p:embed/>
                </p:oleObj>
              </mc:Choice>
              <mc:Fallback>
                <p:oleObj name="" r:id="rId1" imgW="114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114300" imgH="177165" progId="Equation.KSEE3">
                  <p:embed/>
                </p:oleObj>
              </mc:Choice>
              <mc:Fallback>
                <p:oleObj name="" r:id="rId3" imgW="114300" imgH="177165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5" imgW="114300" imgH="177165" progId="Equation.KSEE3">
                  <p:embed/>
                </p:oleObj>
              </mc:Choice>
              <mc:Fallback>
                <p:oleObj name="" r:id="rId5" imgW="114300" imgH="1771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3" name="组合 32"/>
          <p:cNvGrpSpPr/>
          <p:nvPr/>
        </p:nvGrpSpPr>
        <p:grpSpPr>
          <a:xfrm rot="0">
            <a:off x="496570" y="3354705"/>
            <a:ext cx="1959099" cy="429895"/>
            <a:chOff x="1699726" y="4275460"/>
            <a:chExt cx="1959884" cy="429895"/>
          </a:xfrm>
        </p:grpSpPr>
        <p:sp>
          <p:nvSpPr>
            <p:cNvPr id="34" name="文本框 33"/>
            <p:cNvSpPr txBox="1"/>
            <p:nvPr/>
          </p:nvSpPr>
          <p:spPr>
            <a:xfrm>
              <a:off x="1799585" y="4275460"/>
              <a:ext cx="1860025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基础约束条件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35" name="组合 34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36" name="矩形 35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7" name="矩形 36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本框 37"/>
              <p:cNvSpPr txBox="1"/>
              <p:nvPr/>
            </p:nvSpPr>
            <p:spPr>
              <a:xfrm>
                <a:off x="3566096" y="1992249"/>
                <a:ext cx="1341120" cy="70802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pitchFamily="18" charset="0"/>
                          <a:cs typeface="Cambria Math" panose="02040503050406030204" pitchFamily="18" charset="0"/>
                        </a:rPr>
                        <m:t>𝑚𝑖𝑛</m:t>
                      </m:r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∈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38" name="文本框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6096" y="1992249"/>
                <a:ext cx="1341120" cy="708025"/>
              </a:xfrm>
              <a:prstGeom prst="rect">
                <a:avLst/>
              </a:prstGeom>
              <a:blipFill rotWithShape="1">
                <a:blip r:embed="rId6"/>
                <a:stretch>
                  <a:fillRect l="-43" t="-36" r="43" b="3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文本框 38"/>
          <p:cNvSpPr txBox="1"/>
          <p:nvPr/>
        </p:nvSpPr>
        <p:spPr>
          <a:xfrm>
            <a:off x="605155" y="1586230"/>
            <a:ext cx="546671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 b="1">
                <a:latin typeface="微软雅黑" panose="020B0503020204020204" pitchFamily="34" charset="-122"/>
                <a:ea typeface="微软雅黑" panose="020B0503020204020204" pitchFamily="34" charset="-122"/>
              </a:rPr>
              <a:t>目标：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找到一个满足全部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要求</a:t>
            </a:r>
            <a:r>
              <a:rPr lang="en-US" altLang="zh-CN" sz="1400" b="1" baseline="3000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* 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且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卫星数最少</a:t>
            </a:r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的子图？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0" name="表格 39"/>
              <p:cNvGraphicFramePr/>
              <p:nvPr>
                <p:custDataLst>
                  <p:tags r:id="rId7"/>
                </p:custDataLst>
              </p:nvPr>
            </p:nvGraphicFramePr>
            <p:xfrm>
              <a:off x="753745" y="2697480"/>
              <a:ext cx="5500370" cy="7315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96900"/>
                    <a:gridCol w="4903470"/>
                  </a:tblGrid>
                  <a:tr h="365760">
                    <a:tc>
                      <a:txBody>
                        <a:bodyPr/>
                        <a:p>
                          <a:pPr indent="0" algn="r" fontAlgn="auto">
                            <a:lnSpc>
                              <a:spcPts val="15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𝑆</m:t>
                                </m:r>
                              </m:oMath>
                            </m:oMathPara>
                          </a14:m>
                          <a:endParaRPr lang="en-US" altLang="zh-CN" sz="14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卫星集合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65760">
                    <a:tc>
                      <a:txBody>
                        <a:bodyPr/>
                        <a:p>
                          <a:pPr indent="0" algn="r" fontAlgn="auto">
                            <a:lnSpc>
                              <a:spcPts val="1500"/>
                            </a:lnSpc>
                            <a:buClrTx/>
                            <a:buSzTx/>
                            <a:buFontTx/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right"/>
                              </m:oMathParaPr>
                              <m:oMath xmlns:m="http://schemas.openxmlformats.org/officeDocument/2006/math"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en-US" altLang="zh-CN" sz="14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二值量，表示卫星</a:t>
                          </a:r>
                          <a:r>
                            <a:rPr lang="en-US" altLang="zh-CN" sz="1400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a:t> i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是否被包含在该子图中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0" name="表格 39"/>
              <p:cNvGraphicFramePr/>
              <p:nvPr>
                <p:custDataLst>
                  <p:tags r:id="rId8"/>
                </p:custDataLst>
              </p:nvPr>
            </p:nvGraphicFramePr>
            <p:xfrm>
              <a:off x="753745" y="2697480"/>
              <a:ext cx="5500370" cy="73152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596900"/>
                    <a:gridCol w="4903470"/>
                  </a:tblGrid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9"/>
                        </a:blipFill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卫星集合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9"/>
                        </a:blipFill>
                      </a:tcPr>
                    </a:tc>
                    <a:tc>
                      <a:txBody>
                        <a:bodyPr/>
                        <a:p>
                          <a:pPr indent="0" fontAlgn="auto">
                            <a:lnSpc>
                              <a:spcPts val="1500"/>
                            </a:lnSpc>
                            <a:buNone/>
                          </a:pPr>
                          <a:r>
                            <a:rPr lang="zh-CN" altLang="en-US"/>
                            <a:t>：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二值量，表示卫星</a:t>
                          </a:r>
                          <a:r>
                            <a:rPr lang="en-US" altLang="zh-CN" sz="1400" i="1">
                              <a:latin typeface="Cambria Math" panose="02040503050406030204" pitchFamily="18" charset="0"/>
                              <a:cs typeface="Cambria Math" panose="02040503050406030204" pitchFamily="18" charset="0"/>
                            </a:rPr>
                            <a:t> i</a:t>
                          </a:r>
                          <a:r>
                            <a:rPr lang="zh-CN" altLang="en-US" sz="14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是否被包含在该子图中</a:t>
                          </a:r>
                          <a:endParaRPr lang="zh-CN" altLang="en-US" sz="14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Fallback>
      </mc:AlternateContent>
      <p:pic>
        <p:nvPicPr>
          <p:cNvPr id="41" name="图片 40" descr="{B77AA453-1013-4C98-B17D-CCF7EB0C1CBF}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3825" y="3784600"/>
            <a:ext cx="3379470" cy="3083560"/>
          </a:xfrm>
          <a:prstGeom prst="rect">
            <a:avLst/>
          </a:prstGeom>
        </p:spPr>
      </p:pic>
      <p:sp>
        <p:nvSpPr>
          <p:cNvPr id="42" name="文本框 41"/>
          <p:cNvSpPr txBox="1"/>
          <p:nvPr/>
        </p:nvSpPr>
        <p:spPr>
          <a:xfrm>
            <a:off x="3750310" y="3759200"/>
            <a:ext cx="5207000" cy="37522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两通信端只有在互相可见、可以连接的时候才能建立连接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卫星只有包含在子图里，才能建立通信链路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>
                <a:latin typeface="微软雅黑" panose="020B0503020204020204" pitchFamily="34" charset="-122"/>
                <a:ea typeface="微软雅黑" panose="020B0503020204020204" pitchFamily="34" charset="-122"/>
              </a:rPr>
              <a:t>被激活的星间链路总数不能超过卫星上可用发射机数量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上行业务需求 不超过 小区上行总可达容量</a:t>
            </a:r>
            <a:endParaRPr lang="en-US" altLang="zh-CN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下行业务需求 不超过 小区下行总可达容量</a:t>
            </a:r>
            <a:endParaRPr lang="en-US" altLang="zh-CN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卫星的实时上行容量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不超过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卫星最大上行容量</a:t>
            </a:r>
            <a:endParaRPr lang="zh-CN" altLang="en-US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卫星的实时下行容量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不超过</a:t>
            </a:r>
            <a:r>
              <a:rPr lang="en-US" altLang="zh-CN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 </a:t>
            </a:r>
            <a:r>
              <a:rPr lang="zh-CN" altLang="en-US" sz="1400" b="1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卫星最大下行容量</a:t>
            </a:r>
            <a:endParaRPr lang="zh-CN" altLang="en-US" sz="1400" b="1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zh-CN" altLang="en-US" sz="14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生存性要求（附后）</a:t>
            </a: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>
              <a:lnSpc>
                <a:spcPct val="170000"/>
              </a:lnSpc>
              <a:spcBef>
                <a:spcPts val="0"/>
              </a:spcBef>
              <a:spcAft>
                <a:spcPts val="0"/>
              </a:spcAft>
              <a:buAutoNum type="arabicPeriod"/>
            </a:pPr>
            <a:endParaRPr lang="zh-CN" altLang="en-US" sz="14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5" name="圆角矩形 44"/>
          <p:cNvSpPr/>
          <p:nvPr/>
        </p:nvSpPr>
        <p:spPr>
          <a:xfrm>
            <a:off x="5374640" y="1764665"/>
            <a:ext cx="3318510" cy="1315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文本框 43"/>
          <p:cNvSpPr txBox="1"/>
          <p:nvPr/>
        </p:nvSpPr>
        <p:spPr>
          <a:xfrm>
            <a:off x="5374640" y="1764665"/>
            <a:ext cx="3333750" cy="146431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要求：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1. </a:t>
            </a: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容量要求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2. </a:t>
            </a: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时延要求（有向分层图，附后）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3. </a:t>
            </a:r>
            <a:r>
              <a:rPr lang="zh-CN" altLang="en-US" sz="16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生存性要求（附后）</a:t>
            </a:r>
            <a:endParaRPr lang="zh-CN" altLang="en-US" sz="16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animBg="1"/>
      <p:bldP spid="44" grpId="0"/>
      <p:bldP spid="45" grpId="1" animBg="1"/>
      <p:bldP spid="44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dirty="0"/>
              <a:t>生存性要求</a:t>
            </a:r>
            <a:endParaRPr lang="zh-CN" dirty="0"/>
          </a:p>
        </p:txBody>
      </p:sp>
      <p:grpSp>
        <p:nvGrpSpPr>
          <p:cNvPr id="2" name="组合 1"/>
          <p:cNvGrpSpPr/>
          <p:nvPr/>
        </p:nvGrpSpPr>
        <p:grpSpPr>
          <a:xfrm rot="0">
            <a:off x="496570" y="1156335"/>
            <a:ext cx="1400299" cy="429895"/>
            <a:chOff x="1699726" y="4275460"/>
            <a:chExt cx="1400860" cy="429895"/>
          </a:xfrm>
        </p:grpSpPr>
        <p:sp>
          <p:nvSpPr>
            <p:cNvPr id="7" name="文本框 6"/>
            <p:cNvSpPr txBox="1"/>
            <p:nvPr/>
          </p:nvSpPr>
          <p:spPr>
            <a:xfrm>
              <a:off x="1799585" y="4275460"/>
              <a:ext cx="1301001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通信需求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9" name="矩形 8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177165" progId="Equation.KSEE3">
                  <p:embed/>
                </p:oleObj>
              </mc:Choice>
              <mc:Fallback>
                <p:oleObj name="" r:id="rId1" imgW="114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114300" imgH="177165" progId="Equation.KSEE3">
                  <p:embed/>
                </p:oleObj>
              </mc:Choice>
              <mc:Fallback>
                <p:oleObj name="" r:id="rId3" imgW="114300" imgH="177165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5" imgW="114300" imgH="177165" progId="Equation.KSEE3">
                  <p:embed/>
                </p:oleObj>
              </mc:Choice>
              <mc:Fallback>
                <p:oleObj name="" r:id="rId5" imgW="114300" imgH="1771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3" name="表格 12"/>
              <p:cNvGraphicFramePr/>
              <p:nvPr>
                <p:custDataLst>
                  <p:tags r:id="rId6"/>
                </p:custDataLst>
              </p:nvPr>
            </p:nvGraphicFramePr>
            <p:xfrm>
              <a:off x="892810" y="1778635"/>
              <a:ext cx="7988935" cy="10972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969770"/>
                    <a:gridCol w="6019165"/>
                  </a:tblGrid>
                  <a:tr h="207010">
                    <a:tc>
                      <a:txBody>
                        <a:bodyPr/>
                        <a:p>
                          <a:pPr algn="r">
                            <a:lnSpc>
                              <a:spcPct val="100000"/>
                            </a:lnSpc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={ 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altLang="zh-CN" sz="1800" baseline="-250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, 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a:rPr lang="en-US" altLang="zh-CN" sz="1800" baseline="-250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 ... 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d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sz="1800" baseline="-250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n</m:t>
                                </m:r>
                                <m:r>
                                  <a:rPr lang="en-US" altLang="zh-CN" sz="1800">
                                    <a:latin typeface="Cambria Math" panose="02040503050406030204" pitchFamily="18" charset="0"/>
                                    <a:ea typeface="微软雅黑" panose="020B0503020204020204" pitchFamily="34" charset="-122"/>
                                    <a:cs typeface="Cambria Math" panose="02040503050406030204" pitchFamily="18" charset="0"/>
                                  </a:rPr>
                                  <m:t> }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>
                            <a:lnSpc>
                              <a:spcPct val="100000"/>
                            </a:lnSpc>
                            <a:buNone/>
                          </a:pP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：需求集合，</a:t>
                          </a:r>
                          <a:r>
                            <a:rPr lang="en-US" altLang="zh-CN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𝐷</m:t>
                              </m:r>
                            </m:oMath>
                          </a14:m>
                          <a:r>
                            <a:rPr lang="en-US" altLang="zh-CN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 </a:t>
                          </a: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  <a:sym typeface="+mn-ea"/>
                            </a:rPr>
                            <a:t>是一个三元组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 [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𝑠𝑟𝑐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), 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𝑑𝑠𝑡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), 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𝑠𝑖𝑧𝑒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)]</m:t>
                              </m:r>
                            </m:oMath>
                          </a14:m>
                          <a:endParaRPr lang="zh-CN" altLang="en-US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657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 xmlns:m="http://schemas.openxmlformats.org/officeDocument/2006/math"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𝑠𝑟𝑐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i="1" baseline="-25000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altLang="zh-CN"/>
                            <a:t>,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  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𝑑𝑠𝑡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800" i="1" baseline="-25000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sz="1800" i="1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alt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>
                            <a:buNone/>
                          </a:pP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：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的两端，即源小区与目的小区</a:t>
                          </a:r>
                          <a:endParaRPr lang="zh-CN" altLang="en-US" sz="16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57175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𝑠𝑖𝑧𝑒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𝑑</m:t>
                                </m:r>
                                <m:r>
                                  <a:rPr lang="en-US" altLang="zh-CN" i="1" baseline="-25000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zh-CN" altLang="en-US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ClrTx/>
                            <a:buSzTx/>
                            <a:buFontTx/>
                            <a:buNone/>
                          </a:pP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：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600" i="1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altLang="zh-CN" sz="1600" i="1" baseline="-25000"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  <a:cs typeface="Cambria Math" panose="02040503050406030204" pitchFamily="18" charset="0"/>
                                </a:rPr>
                                <m:t>𝑘</m:t>
                              </m:r>
                            </m:oMath>
                          </a14:m>
                          <a:r>
                            <a:rPr lang="en-US" altLang="zh-CN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 </a:t>
                          </a:r>
                          <a:r>
                            <a:rPr lang="zh-CN" altLang="en-US" sz="1600">
                              <a:latin typeface="微软雅黑" panose="020B0503020204020204" pitchFamily="34" charset="-122"/>
                              <a:ea typeface="微软雅黑" panose="020B0503020204020204" pitchFamily="34" charset="-122"/>
                            </a:rPr>
                            <a:t>的流量（例如数据速率）</a:t>
                          </a:r>
                          <a:endParaRPr lang="zh-CN" altLang="en-US" sz="1600">
                            <a:latin typeface="微软雅黑" panose="020B0503020204020204" pitchFamily="34" charset="-122"/>
                            <a:ea typeface="微软雅黑" panose="020B0503020204020204" pitchFamily="34" charset="-122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13" name="表格 12"/>
              <p:cNvGraphicFramePr/>
              <p:nvPr>
                <p:custDataLst>
                  <p:tags r:id="rId7"/>
                </p:custDataLst>
              </p:nvPr>
            </p:nvGraphicFramePr>
            <p:xfrm>
              <a:off x="892810" y="1778635"/>
              <a:ext cx="7988935" cy="10972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969770"/>
                    <a:gridCol w="6019165"/>
                  </a:tblGrid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</a:tr>
                  <a:tr h="3657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8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pSp>
        <p:nvGrpSpPr>
          <p:cNvPr id="14" name="组合 13"/>
          <p:cNvGrpSpPr/>
          <p:nvPr/>
        </p:nvGrpSpPr>
        <p:grpSpPr>
          <a:xfrm rot="0">
            <a:off x="496570" y="3068320"/>
            <a:ext cx="1679699" cy="429895"/>
            <a:chOff x="1699726" y="4275460"/>
            <a:chExt cx="1680372" cy="429895"/>
          </a:xfrm>
        </p:grpSpPr>
        <p:sp>
          <p:nvSpPr>
            <p:cNvPr id="15" name="文本框 14"/>
            <p:cNvSpPr txBox="1"/>
            <p:nvPr/>
          </p:nvSpPr>
          <p:spPr>
            <a:xfrm>
              <a:off x="1799585" y="4275460"/>
              <a:ext cx="1580513" cy="429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生存性要求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16" name="组合 15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17" name="矩形 16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文本框 18"/>
              <p:cNvSpPr txBox="1"/>
              <p:nvPr/>
            </p:nvSpPr>
            <p:spPr>
              <a:xfrm>
                <a:off x="663575" y="3640455"/>
                <a:ext cx="8021955" cy="266001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对任意一条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src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i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dst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)=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j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的需求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i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j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表示一条路径，同时需求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可能存在多条可用路径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如果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没有任何一条边出现在多于一条路径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中，称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[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i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→</m:t>
                    </m:r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j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]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为边不相交路径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如果所有时隙中，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i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与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j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之间都至少有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R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条边不相交路径，称该需求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d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为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R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  <a:sym typeface="+mn-ea"/>
                      </a:rPr>
                      <m:t>−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  <a:sym typeface="+mn-ea"/>
                  </a:rPr>
                  <a:t>边联通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  <a:sym typeface="+mn-ea"/>
                </a:endParaRP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600" baseline="-25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ij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是需求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的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生存性要求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，即所有时隙中需求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d</m:t>
                    </m:r>
                    <m:r>
                      <a:rPr lang="en-US" altLang="zh-CN" sz="16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 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是</a:t>
                </a:r>
                <a:r>
                  <a:rPr lang="en-US" altLang="zh-CN" sz="1600" b="1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𝐫</m:t>
                    </m:r>
                    <m:r>
                      <a:rPr lang="en-US" altLang="zh-CN" sz="1600" b="1" baseline="-25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𝐢𝐣</m:t>
                    </m:r>
                    <m:r>
                      <a:rPr lang="en-US" altLang="zh-CN" sz="1600" b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−边联通</m:t>
                    </m:r>
                  </m:oMath>
                </a14:m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  <a:cs typeface="微软雅黑" panose="020B0503020204020204" pitchFamily="34" charset="-122"/>
                  </a:rPr>
                  <a:t>的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  <a:cs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9" name="文本框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575" y="3640455"/>
                <a:ext cx="8021955" cy="2660015"/>
              </a:xfrm>
              <a:prstGeom prst="rect">
                <a:avLst/>
              </a:prstGeom>
              <a:blipFill rotWithShape="1"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文本框 58"/>
              <p:cNvSpPr txBox="1"/>
              <p:nvPr/>
            </p:nvSpPr>
            <p:spPr>
              <a:xfrm>
                <a:off x="-135255" y="5725795"/>
                <a:ext cx="9144000" cy="45085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 eaLnBrk="1" hangingPunct="1">
                  <a:lnSpc>
                    <a:spcPct val="130000"/>
                  </a:lnSpc>
                </a:pPr>
                <a:r>
                  <a:rPr lang="en-US" sz="1800" b="1" dirty="0">
                    <a:solidFill>
                      <a:srgbClr val="053CAF"/>
                    </a:solidFill>
                    <a:latin typeface="宋体" panose="02010600030101010101" pitchFamily="2" charset="-122"/>
                    <a:cs typeface="+mj-cs"/>
                  </a:rPr>
                  <a:t>※ </a:t>
                </a:r>
                <a14:m>
                  <m:oMath xmlns:m="http://schemas.openxmlformats.org/officeDocument/2006/math">
                    <m:r>
                      <a:rPr lang="en-US" sz="1800" b="1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𝐫</m:t>
                    </m:r>
                    <m:r>
                      <a:rPr lang="en-US" sz="1800" b="1" baseline="-25000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𝐢𝐣</m:t>
                    </m:r>
                  </m:oMath>
                </a14:m>
                <a:r>
                  <a:rPr 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越高，表示冗余路径越多，</a:t>
                </a:r>
                <a14:m>
                  <m:oMath xmlns:m="http://schemas.openxmlformats.org/officeDocument/2006/math">
                    <m:r>
                      <a:rPr lang="en-US" altLang="zh-CN" sz="1800" b="1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𝐢</m:t>
                    </m:r>
                  </m:oMath>
                </a14:m>
                <a:r>
                  <a:rPr lang="en-US" altLang="zh-CN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与</a:t>
                </a:r>
                <a:r>
                  <a:rPr lang="en-US" altLang="zh-CN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800" b="1" dirty="0">
                        <a:solidFill>
                          <a:srgbClr val="053CAF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𝐣</m:t>
                    </m:r>
                  </m:oMath>
                </a14:m>
                <a:r>
                  <a:rPr lang="en-US" altLang="zh-CN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 </a:t>
                </a:r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之间的通信会话就能抵抗更多链路失效</a:t>
                </a:r>
                <a:endParaRPr lang="zh-CN" altLang="en-US" sz="1800" b="1" dirty="0">
                  <a:solidFill>
                    <a:srgbClr val="053CA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j-cs"/>
                </a:endParaRPr>
              </a:p>
            </p:txBody>
          </p:sp>
        </mc:Choice>
        <mc:Fallback>
          <p:sp>
            <p:nvSpPr>
              <p:cNvPr id="59" name="文本框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5255" y="5725795"/>
                <a:ext cx="9144000" cy="450850"/>
              </a:xfrm>
              <a:prstGeom prst="rect">
                <a:avLst/>
              </a:prstGeom>
              <a:blipFill rotWithShape="1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dirty="0"/>
              <a:t>时延要求（有向分层图</a:t>
            </a:r>
            <a:r>
              <a:rPr lang="en-US" altLang="zh-CN" dirty="0"/>
              <a:t> </a:t>
            </a:r>
            <a:r>
              <a:rPr lang="zh-CN" dirty="0"/>
              <a:t>转化）</a:t>
            </a:r>
            <a:endParaRPr lang="zh-CN" dirty="0"/>
          </a:p>
        </p:txBody>
      </p:sp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1" imgW="114300" imgH="177165" progId="Equation.KSEE3">
                  <p:embed/>
                </p:oleObj>
              </mc:Choice>
              <mc:Fallback>
                <p:oleObj name="" r:id="rId1" imgW="114300" imgH="177165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2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3" imgW="114300" imgH="177165" progId="Equation.KSEE3">
                  <p:embed/>
                </p:oleObj>
              </mc:Choice>
              <mc:Fallback>
                <p:oleObj name="" r:id="rId3" imgW="114300" imgH="177165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4514850" y="3340100"/>
          <a:ext cx="114300" cy="17716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" r:id="rId5" imgW="114300" imgH="177165" progId="Equation.KSEE3">
                  <p:embed/>
                </p:oleObj>
              </mc:Choice>
              <mc:Fallback>
                <p:oleObj name="" r:id="rId5" imgW="114300" imgH="177165" progId="Equation.KSEE3">
                  <p:embed/>
                  <p:pic>
                    <p:nvPicPr>
                      <p:cNvPr id="0" name="图片 102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514850" y="3340100"/>
                        <a:ext cx="114300" cy="17716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图片 4" descr="{C4393A25-452D-4DE7-A4B8-4B45CF12359C}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1101090"/>
            <a:ext cx="9144000" cy="22390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263525" y="3415030"/>
                <a:ext cx="8702675" cy="1014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将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时延要求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转换为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路径长度要求</a:t>
                </a:r>
                <a:r>
                  <a:rPr lang="en-US" altLang="zh-CN" sz="1600" b="1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𝐋</m:t>
                    </m:r>
                  </m:oMath>
                </a14:m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（需求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d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的路径不超过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</a:t>
                </a:r>
                <a:endParaRPr lang="en-US" altLang="zh-CN" sz="16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有向分层图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一共有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L+1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层，中间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L-1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层都是由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src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以外的所有节点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及其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之间的连接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组成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通过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有向分层图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的转换，保证了从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src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到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dst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的任何可行路径都满足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en-US" altLang="zh-CN" sz="1600">
                    <a:latin typeface="Cambria Math" panose="02040503050406030204" pitchFamily="18" charset="0"/>
                    <a:ea typeface="微软雅黑" panose="020B0503020204020204" pitchFamily="34" charset="-122"/>
                    <a:cs typeface="Cambria Math" panose="02040503050406030204" pitchFamily="18" charset="0"/>
                  </a:rPr>
                  <a:t>L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跳约束</a:t>
                </a:r>
                <a:r>
                  <a:rPr lang="en-US" altLang="zh-CN" sz="160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160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525" y="3415030"/>
                <a:ext cx="8702675" cy="1014730"/>
              </a:xfrm>
              <a:prstGeom prst="rect">
                <a:avLst/>
              </a:prstGeom>
              <a:blipFill rotWithShape="1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图片 19" descr="{B8EE363A-16FF-4FFB-80A6-0C67053171F9}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335" y="4504690"/>
            <a:ext cx="2880995" cy="1080770"/>
          </a:xfrm>
          <a:prstGeom prst="rect">
            <a:avLst/>
          </a:prstGeom>
        </p:spPr>
      </p:pic>
      <p:pic>
        <p:nvPicPr>
          <p:cNvPr id="21" name="图片 20" descr="{9ACEFDF1-B732-4AFD-A84D-39B258A71A9C}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335" y="6069965"/>
            <a:ext cx="2667635" cy="240665"/>
          </a:xfrm>
          <a:prstGeom prst="rect">
            <a:avLst/>
          </a:prstGeom>
        </p:spPr>
      </p:pic>
      <p:pic>
        <p:nvPicPr>
          <p:cNvPr id="22" name="图片 21" descr="{A27077B9-EE9B-4251-904E-D083EB6712AF}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56430" y="4634230"/>
            <a:ext cx="2903855" cy="486410"/>
          </a:xfrm>
          <a:prstGeom prst="rect">
            <a:avLst/>
          </a:prstGeom>
        </p:spPr>
      </p:pic>
      <p:pic>
        <p:nvPicPr>
          <p:cNvPr id="23" name="图片 22" descr="{C23B3BFC-61F3-4AD3-840C-EEB017666E47}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56430" y="5677535"/>
            <a:ext cx="2908935" cy="737235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381000" y="5690235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9.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分层图每个节点上的流守恒约束，保证了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r</a:t>
            </a:r>
            <a:r>
              <a:rPr lang="zh-CN" altLang="en-US" sz="1200" b="1" baseline="-250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生存性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381000" y="6414770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10. 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避免局部环流路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100195" y="5208905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11.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保证了各路径的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边不相交性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100195" y="6414770"/>
            <a:ext cx="401891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12. </a:t>
            </a:r>
            <a:r>
              <a:rPr lang="zh-CN" altLang="en-US" sz="1200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表明每条需求的</a:t>
            </a:r>
            <a:r>
              <a:rPr lang="zh-CN" altLang="en-US" sz="1200" b="1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链路容量要求</a:t>
            </a:r>
            <a:endParaRPr lang="zh-CN" altLang="en-US" sz="1200" b="1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383540" y="4394835"/>
            <a:ext cx="7254875" cy="2435860"/>
          </a:xfrm>
          <a:prstGeom prst="rect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/>
      <p:bldP spid="26" grpId="0"/>
      <p:bldP spid="28" grpId="0"/>
      <p:bldP spid="24" grpId="1"/>
      <p:bldP spid="25" grpId="1"/>
      <p:bldP spid="26" grpId="1"/>
      <p:bldP spid="28" grpId="1"/>
      <p:bldP spid="2" grpId="0" animBg="1"/>
      <p:bldP spid="2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MegaReduce </a:t>
            </a:r>
            <a:r>
              <a:rPr lang="zh-CN" altLang="en-US" dirty="0"/>
              <a:t>模型定义</a:t>
            </a:r>
            <a:endParaRPr lang="zh-CN" altLang="en-US" dirty="0"/>
          </a:p>
        </p:txBody>
      </p:sp>
      <p:grpSp>
        <p:nvGrpSpPr>
          <p:cNvPr id="26" name="组合 25"/>
          <p:cNvGrpSpPr/>
          <p:nvPr/>
        </p:nvGrpSpPr>
        <p:grpSpPr>
          <a:xfrm rot="0">
            <a:off x="394970" y="1157605"/>
            <a:ext cx="8406130" cy="2088776"/>
            <a:chOff x="394686" y="1157654"/>
            <a:chExt cx="4187679" cy="2301566"/>
          </a:xfrm>
        </p:grpSpPr>
        <p:grpSp>
          <p:nvGrpSpPr>
            <p:cNvPr id="7" name="组合 6"/>
            <p:cNvGrpSpPr/>
            <p:nvPr/>
          </p:nvGrpSpPr>
          <p:grpSpPr>
            <a:xfrm>
              <a:off x="496324" y="1157654"/>
              <a:ext cx="1413039" cy="473690"/>
              <a:chOff x="1699726" y="4275460"/>
              <a:chExt cx="1413039" cy="473690"/>
            </a:xfrm>
          </p:grpSpPr>
          <p:sp>
            <p:nvSpPr>
              <p:cNvPr id="8" name="文本框 7"/>
              <p:cNvSpPr txBox="1"/>
              <p:nvPr/>
            </p:nvSpPr>
            <p:spPr>
              <a:xfrm>
                <a:off x="1799585" y="4275460"/>
                <a:ext cx="1313180" cy="473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基本思想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9" name="组合 8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1" name="矩形 10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5" name="组合 24"/>
            <p:cNvGrpSpPr/>
            <p:nvPr/>
          </p:nvGrpSpPr>
          <p:grpSpPr>
            <a:xfrm>
              <a:off x="394686" y="1663817"/>
              <a:ext cx="4187679" cy="1795403"/>
              <a:chOff x="394686" y="1663817"/>
              <a:chExt cx="4187679" cy="1795403"/>
            </a:xfrm>
          </p:grpSpPr>
          <p:sp>
            <p:nvSpPr>
              <p:cNvPr id="12" name="矩形: 圆角 11"/>
              <p:cNvSpPr/>
              <p:nvPr/>
            </p:nvSpPr>
            <p:spPr>
              <a:xfrm>
                <a:off x="394686" y="1663817"/>
                <a:ext cx="4187679" cy="1795403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458903" y="1740083"/>
                <a:ext cx="4076328" cy="1247546"/>
              </a:xfrm>
              <a:prstGeom prst="rect">
                <a:avLst/>
              </a:prstGeom>
              <a:noFill/>
            </p:spPr>
            <p:txBody>
              <a:bodyPr wrap="square">
                <a:noAutofit/>
              </a:bodyPr>
              <a:lstStyle/>
              <a:p>
                <a:pPr indent="457200" algn="just">
                  <a:lnSpc>
                    <a:spcPct val="13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虽然直接求解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SPLD 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问题的最优解很困难，但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判定一个给定的</a:t>
                </a:r>
                <a:r>
                  <a:rPr lang="en-US" altLang="zh-CN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LSN 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是否满足生存性和性能要求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，是可以在多项式时间内完成的。</a:t>
                </a: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indent="457200" algn="just">
                  <a:lnSpc>
                    <a:spcPct val="130000"/>
                  </a:lnSpc>
                </a:pP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具体地，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MegaReduce </a:t>
                </a:r>
                <a:r>
                  <a:rPr lang="zh-CN" altLang="en-US" sz="1600" b="1" dirty="0">
                    <a:solidFill>
                      <a:schemeClr val="accent1"/>
                    </a:solidFill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从一个初始星座状态出发，多次迭代中反复调整星座结构和卫星数量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，并搜索出卫星数最少的可行</a:t>
                </a:r>
                <a:r>
                  <a:rPr lang="en-US" altLang="zh-CN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LSN </a:t>
                </a:r>
                <a:r>
                  <a:rPr lang="zh-CN" altLang="en-US" sz="1600" dirty="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设计。</a:t>
                </a:r>
                <a:endParaRPr lang="zh-CN" altLang="en-US" sz="1600" dirty="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3" name="组合 2"/>
          <p:cNvGrpSpPr/>
          <p:nvPr/>
        </p:nvGrpSpPr>
        <p:grpSpPr>
          <a:xfrm rot="0">
            <a:off x="395605" y="3536950"/>
            <a:ext cx="8406130" cy="3077471"/>
            <a:chOff x="394686" y="1157654"/>
            <a:chExt cx="4187679" cy="3390982"/>
          </a:xfrm>
        </p:grpSpPr>
        <p:grpSp>
          <p:nvGrpSpPr>
            <p:cNvPr id="4" name="组合 3"/>
            <p:cNvGrpSpPr/>
            <p:nvPr/>
          </p:nvGrpSpPr>
          <p:grpSpPr>
            <a:xfrm>
              <a:off x="496324" y="1157654"/>
              <a:ext cx="1413039" cy="473690"/>
              <a:chOff x="1699726" y="4275460"/>
              <a:chExt cx="1413039" cy="473690"/>
            </a:xfrm>
          </p:grpSpPr>
          <p:sp>
            <p:nvSpPr>
              <p:cNvPr id="5" name="文本框 4"/>
              <p:cNvSpPr txBox="1"/>
              <p:nvPr/>
            </p:nvSpPr>
            <p:spPr>
              <a:xfrm>
                <a:off x="1799585" y="4275460"/>
                <a:ext cx="1313180" cy="473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核心步骤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6" name="组合 5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13" name="矩形 12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4" name="矩形 13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6" name="矩形: 圆角 11"/>
            <p:cNvSpPr/>
            <p:nvPr/>
          </p:nvSpPr>
          <p:spPr>
            <a:xfrm>
              <a:off x="394686" y="1663817"/>
              <a:ext cx="4187679" cy="2884819"/>
            </a:xfrm>
            <a:prstGeom prst="roundRect">
              <a:avLst>
                <a:gd name="adj" fmla="val 10597"/>
              </a:avLst>
            </a:prstGeom>
            <a:solidFill>
              <a:schemeClr val="accent4">
                <a:lumMod val="20000"/>
                <a:lumOff val="80000"/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4" name="文本框 23"/>
          <p:cNvSpPr txBox="1"/>
          <p:nvPr/>
        </p:nvSpPr>
        <p:spPr>
          <a:xfrm>
            <a:off x="396240" y="4100830"/>
            <a:ext cx="840486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初始化：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从一个初始星座出发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可行性检查：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基于当前给定星座，检查星座的当前状态是否满足生存性和性能要求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调参：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基于可行性检查结果，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lvl="1" indent="0">
              <a:lnSpc>
                <a:spcPct val="150000"/>
              </a:lnSpc>
              <a:buNone/>
            </a:pP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3.1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若当前星座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可行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，使用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Shrink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方法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减少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卫星数量；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lvl="1" indent="0">
              <a:lnSpc>
                <a:spcPct val="150000"/>
              </a:lnSpc>
              <a:buNone/>
            </a:pP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3.2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若当前星座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不可行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，使用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 Expand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方法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提升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卫星数量；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342900" indent="-342900">
              <a:lnSpc>
                <a:spcPct val="150000"/>
              </a:lnSpc>
              <a:buAutoNum type="arabicPeriod"/>
            </a:pPr>
            <a:r>
              <a:rPr lang="zh-CN" altLang="en-US" sz="1600" b="1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解搜索：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迭代可行性检查和调参过程，在所有可行的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设计中，输出卫星最少的结果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7" name="图片 26" descr="{E0531C9B-C8CB-41D8-8CAF-8EB0027711FC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53585" y="3101340"/>
            <a:ext cx="3652520" cy="14039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算法流程</a:t>
            </a:r>
            <a:r>
              <a:rPr lang="en-US" altLang="zh-CN" dirty="0"/>
              <a:t>(I) </a:t>
            </a:r>
            <a:endParaRPr lang="zh-CN" altLang="en-US" dirty="0"/>
          </a:p>
        </p:txBody>
      </p:sp>
      <p:pic>
        <p:nvPicPr>
          <p:cNvPr id="8" name="图片 7" descr="{C68C2305-66D4-43EA-B7DE-C356253CF296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569085"/>
            <a:ext cx="4906010" cy="461010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381000" y="127000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1. 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主搜索过程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5525770" y="2199005"/>
                <a:ext cx="3048000" cy="2656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：轨道数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：单个轨道上的卫星数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：卫星与相邻轨道面之间的间隔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：需求集合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：生存性要求集合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：时延要求集合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𝑁</m:t>
                    </m:r>
                    <m:r>
                      <a:rPr lang="en-US" altLang="zh-CN" sz="1400" i="1" baseline="-2500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𝑚𝑖𝑛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：保证每个小区在服务时段和传播范围内至少存在的卫星数</a:t>
                </a:r>
                <a:endParaRPr lang="zh-CN" altLang="en-US" sz="14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  <a:p>
                <a:pPr marL="0" indent="0" latinLnBrk="0">
                  <a:lnSpc>
                    <a:spcPts val="2000"/>
                  </a:lnSpc>
                </a:pP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𝑁</m:t>
                    </m:r>
                    <m:r>
                      <a:rPr lang="en-US" altLang="zh-CN" sz="1400" i="1" baseline="-25000">
                        <a:latin typeface="Cambria Math" panose="02040503050406030204" pitchFamily="18" charset="0"/>
                        <a:cs typeface="Cambria Math" panose="02040503050406030204" pitchFamily="18" charset="0"/>
                      </a:rPr>
                      <m:t>𝑚𝑎𝑥</m:t>
                    </m:r>
                  </m:oMath>
                </a14:m>
                <a:r>
                  <a:rPr lang="zh-CN" altLang="en-US" sz="1400">
                    <a:latin typeface="Cambria Math" panose="02040503050406030204" pitchFamily="18" charset="0"/>
                    <a:cs typeface="Cambria Math" panose="02040503050406030204" pitchFamily="18" charset="0"/>
                  </a:rPr>
                  <a:t>：给定星座的卫星数量</a:t>
                </a:r>
                <a:endParaRPr lang="zh-CN" altLang="en-US" sz="1400" baseline="-25000">
                  <a:latin typeface="Cambria Math" panose="02040503050406030204" pitchFamily="18" charset="0"/>
                  <a:cs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25770" y="2199005"/>
                <a:ext cx="3048000" cy="265620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图片 11" descr="{DCA8997F-6ADB-4B9D-BDF9-079239529944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7010" y="2199005"/>
            <a:ext cx="3533140" cy="292481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5286375" y="5259705"/>
                <a:ext cx="3716020" cy="1417955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r>
                  <a:rPr lang="zh-CN" altLang="en-US" sz="1400" b="1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目的：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让 </a:t>
                </a: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和 </a:t>
                </a:r>
                <a14:m>
                  <m:oMath xmlns:m="http://schemas.openxmlformats.org/officeDocument/2006/math">
                    <m:r>
                      <a:rPr lang="en-US" altLang="zh-CN" sz="1400" i="1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更加接近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pPr indent="457200"/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这一原则来自被广泛使用的 Walker Delta 星座的一条重要洞察：任意两颗通信卫星之间最短路径的最大跳数为 </a:t>
                </a:r>
                <a14:m>
                  <m:oMath xmlns:m="http://schemas.openxmlformats.org/officeDocument/2006/math">
                    <m:d>
                      <m:dPr>
                        <m:begChr m:val="⌈"/>
                        <m:endChr m:val="⌉"/>
                        <m:ctrlP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𝑂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𝑀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)/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微软雅黑" panose="020B0503020204020204" pitchFamily="34" charset="-122"/>
                            <a:cs typeface="Cambria Math" panose="02040503050406030204" pitchFamily="18" charset="0"/>
                          </a:rPr>
                          <m:t>2</m:t>
                        </m:r>
                      </m:e>
                    </m:d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，它在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O</m:t>
                    </m:r>
                    <m: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M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时取得最小值。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6375" y="5259705"/>
                <a:ext cx="3716020" cy="141795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xit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" presetClass="entr" presetSubtype="1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0" grpId="1"/>
      <p:bldP spid="13" grpId="0"/>
      <p:bldP spid="13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算法流程</a:t>
            </a:r>
            <a:r>
              <a:rPr lang="en-US" altLang="zh-CN" dirty="0"/>
              <a:t>(II)</a:t>
            </a:r>
            <a:endParaRPr lang="zh-CN" altLang="en-US" dirty="0"/>
          </a:p>
        </p:txBody>
      </p:sp>
      <p:sp>
        <p:nvSpPr>
          <p:cNvPr id="11" name="文本框 10"/>
          <p:cNvSpPr txBox="1"/>
          <p:nvPr/>
        </p:nvSpPr>
        <p:spPr>
          <a:xfrm>
            <a:off x="605155" y="1943735"/>
            <a:ext cx="793369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18845" y="1163320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2. 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可行性分析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4" name="图片 3" descr="{1AC91849-26B1-4E15-93F8-640BC715EE8F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710" y="1531620"/>
            <a:ext cx="4486275" cy="5181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表格 5"/>
              <p:cNvGraphicFramePr/>
              <p:nvPr>
                <p:custDataLst>
                  <p:tags r:id="rId2"/>
                </p:custDataLst>
              </p:nvPr>
            </p:nvGraphicFramePr>
            <p:xfrm>
              <a:off x="5493385" y="2090420"/>
              <a:ext cx="3337560" cy="34340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96340"/>
                    <a:gridCol w="2141220"/>
                  </a:tblGrid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𝐷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需求集合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𝑅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生存性需求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𝐿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时延需求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cs typeface="Cambria Math" panose="02040503050406030204" pitchFamily="18" charset="0"/>
                                  </a:rPr>
                                  <m:t>𝑇</m:t>
                                </m:r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时隙集合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𝐺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𝑑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en-US" altLang="zh-CN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有向分层图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limLoc m:val="undOvr"/>
                                    <m:supHide m:val="on"/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MS Mincho" charset="0"/>
                                        <a:cs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/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bSup>
                                  </m:e>
                                </m:nary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pitchFamily="18" charset="0"/>
                                  </a:rPr>
                                  <m:t>∙</m:t>
                                </m:r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某个小区 </a:t>
                          </a:r>
                          <a14:m>
                            <m:oMath xmlns:m="http://schemas.openxmlformats.org/officeDocument/2006/math">
                              <m:r>
                                <m:rPr>
                                  <m:sty m:val="p"/>
                                </m:rPr>
                                <a:rPr lang="en-US" altLang="zh-CN" sz="1200">
                                  <a:latin typeface="Cambria Math" panose="02040503050406030204" pitchFamily="18" charset="0"/>
                                  <a:cs typeface="Cambria Math" panose="02040503050406030204" pitchFamily="18" charset="0"/>
                                </a:rPr>
                                <m:t>j</m:t>
                              </m:r>
                            </m:oMath>
                          </a14:m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在时隙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t 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的总可达下行容量</a:t>
                          </a:r>
                          <a:endParaRPr lang="zh-CN" altLang="en-US" sz="1200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  <a:p>
                          <a:pPr algn="l">
                            <a:buNone/>
                          </a:pP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nary>
                                  <m:naryPr>
                                    <m:chr m:val="∑"/>
                                    <m:limLoc m:val="undOvr"/>
                                    <m:supHide m:val="on"/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ea typeface="MS Mincho" charset="0"/>
                                        <a:cs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𝑆</m:t>
                                    </m:r>
                                  </m:sub>
                                  <m:sup/>
                                  <m:e>
                                    <m:sSubSup>
                                      <m:sSubSupPr>
                                        <m:ctrlP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𝑗𝑖</m:t>
                                        </m:r>
                                      </m:sub>
                                      <m:sup>
                                        <m:r>
                                          <a:rPr lang="en-US" altLang="zh-CN" sz="1200" i="1">
                                            <a:latin typeface="Cambria Math" panose="02040503050406030204" pitchFamily="18" charset="0"/>
                                            <a:cs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p>
                                    </m:sSubSup>
                                  </m:e>
                                </m:nary>
                                <m:r>
                                  <a:rPr lang="en-US" altLang="zh-CN" sz="1200" i="1">
                                    <a:latin typeface="Cambria Math" panose="02040503050406030204" pitchFamily="18" charset="0"/>
                                    <a:ea typeface="MS Mincho" charset="0"/>
                                    <a:cs typeface="Cambria Math" panose="02040503050406030204" pitchFamily="18" charset="0"/>
                                  </a:rPr>
                                  <m:t>∙</m:t>
                                </m:r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𝑗𝑖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某个小区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j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在时隙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t 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的总可达上行容量</a:t>
                          </a:r>
                          <a:endParaRPr lang="zh-CN" altLang="en-US" sz="1200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  <a:p>
                          <a:pPr algn="l">
                            <a:buNone/>
                          </a:pP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𝐴𝑣𝑎𝑖𝐶𝑎𝑝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𝑢𝑝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上行链路可获得容量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p>
                          <a:pPr algn="r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𝐴𝑣𝑎𝑖𝐶𝑎𝑝</m:t>
                                    </m:r>
                                  </m:e>
                                  <m:sub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en-US" altLang="zh-CN" sz="1200" i="1">
                                        <a:latin typeface="Cambria Math" panose="02040503050406030204" pitchFamily="18" charset="0"/>
                                        <a:cs typeface="Cambria Math" panose="02040503050406030204" pitchFamily="18" charset="0"/>
                                      </a:rPr>
                                      <m:t>𝑑𝑜𝑤𝑛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下行链路可获得容量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表格 5"/>
              <p:cNvGraphicFramePr/>
              <p:nvPr>
                <p:custDataLst>
                  <p:tags r:id="rId3"/>
                </p:custDataLst>
              </p:nvPr>
            </p:nvGraphicFramePr>
            <p:xfrm>
              <a:off x="5493385" y="2090420"/>
              <a:ext cx="3337560" cy="3434080"/>
            </p:xfrm>
            <a:graphic>
              <a:graphicData uri="http://schemas.openxmlformats.org/drawingml/2006/table">
                <a:tbl>
                  <a:tblPr firstRow="1" bandRow="1">
                    <a:tableStyleId>{5940675A-B579-460E-94D1-54222C63F5DA}</a:tableStyleId>
                  </a:tblPr>
                  <a:tblGrid>
                    <a:gridCol w="1196340"/>
                    <a:gridCol w="2141220"/>
                  </a:tblGrid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需求集合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生存性需求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时延需求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时隙集合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27432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有向分层图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640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</a:tr>
                  <a:tr h="640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某个小区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j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在时隙</a:t>
                          </a:r>
                          <a:r>
                            <a:rPr lang="en-US" altLang="zh-CN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 t </a:t>
                          </a:r>
                          <a:r>
                            <a:rPr lang="zh-CN" altLang="en-US" sz="1200">
                              <a:latin typeface="Cambria Math" panose="02040503050406030204" pitchFamily="18" charset="0"/>
                              <a:cs typeface="Cambria Math" panose="02040503050406030204" pitchFamily="18" charset="0"/>
                              <a:sym typeface="+mn-ea"/>
                            </a:rPr>
                            <a:t>的总可达上行容量</a:t>
                          </a:r>
                          <a:endParaRPr lang="zh-CN" altLang="en-US" sz="1200">
                            <a:latin typeface="Cambria Math" panose="02040503050406030204" pitchFamily="18" charset="0"/>
                            <a:cs typeface="Cambria Math" panose="02040503050406030204" pitchFamily="18" charset="0"/>
                          </a:endParaRPr>
                        </a:p>
                        <a:p>
                          <a:pPr algn="l">
                            <a:buNone/>
                          </a:pP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上行链路可获得容量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  <a:tr h="3911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blipFill>
                          <a:blip r:embed="rId4"/>
                        </a:blipFill>
                      </a:tcPr>
                    </a:tc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zh-CN" altLang="en-US" sz="1200"/>
                            <a:t>下行链路可获得容量</a:t>
                          </a:r>
                          <a:endParaRPr lang="zh-CN" altLang="en-US" sz="1200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</a:tcPr>
                    </a:tc>
                  </a:tr>
                </a:tbl>
              </a:graphicData>
            </a:graphic>
          </p:graphicFrame>
        </mc:Fallback>
      </mc:AlternateContent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1936750" y="3006725"/>
            <a:ext cx="1075055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03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2998470" y="3006725"/>
            <a:ext cx="4581525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实验结果与分析</a:t>
            </a: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000" y="386715"/>
            <a:ext cx="3068320" cy="577215"/>
          </a:xfrm>
        </p:spPr>
        <p:txBody>
          <a:bodyPr/>
          <a:lstStyle/>
          <a:p>
            <a:r>
              <a:rPr lang="zh-CN" altLang="en-US" dirty="0"/>
              <a:t>实验结果与分析</a:t>
            </a:r>
            <a:r>
              <a:rPr lang="en-US" altLang="zh-CN" dirty="0"/>
              <a:t>(I)</a:t>
            </a:r>
            <a:endParaRPr lang="zh-CN" altLang="en-US" dirty="0"/>
          </a:p>
        </p:txBody>
      </p:sp>
      <p:grpSp>
        <p:nvGrpSpPr>
          <p:cNvPr id="102" name="组合 101"/>
          <p:cNvGrpSpPr/>
          <p:nvPr/>
        </p:nvGrpSpPr>
        <p:grpSpPr>
          <a:xfrm rot="0">
            <a:off x="407670" y="2625725"/>
            <a:ext cx="3888578" cy="4065151"/>
            <a:chOff x="331224" y="1127812"/>
            <a:chExt cx="3888584" cy="3800251"/>
          </a:xfrm>
        </p:grpSpPr>
        <p:grpSp>
          <p:nvGrpSpPr>
            <p:cNvPr id="100" name="组合 99"/>
            <p:cNvGrpSpPr/>
            <p:nvPr/>
          </p:nvGrpSpPr>
          <p:grpSpPr>
            <a:xfrm>
              <a:off x="331224" y="1127812"/>
              <a:ext cx="3597434" cy="401881"/>
              <a:chOff x="331224" y="1127812"/>
              <a:chExt cx="3597434" cy="401881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430923" y="1127812"/>
                <a:ext cx="3497735" cy="401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</a:t>
                </a:r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1——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生存性要求</a:t>
                </a:r>
                <a:r>
                  <a:rPr lang="en-US" altLang="zh-CN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331224" y="1318725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01" name="组合 100"/>
            <p:cNvGrpSpPr/>
            <p:nvPr/>
          </p:nvGrpSpPr>
          <p:grpSpPr>
            <a:xfrm>
              <a:off x="355827" y="3328848"/>
              <a:ext cx="3863981" cy="1599215"/>
              <a:chOff x="355827" y="3328848"/>
              <a:chExt cx="3863981" cy="1599215"/>
            </a:xfrm>
          </p:grpSpPr>
          <p:sp>
            <p:nvSpPr>
              <p:cNvPr id="32" name="矩形: 圆角 31"/>
              <p:cNvSpPr/>
              <p:nvPr/>
            </p:nvSpPr>
            <p:spPr>
              <a:xfrm>
                <a:off x="355827" y="3328848"/>
                <a:ext cx="3863981" cy="1599215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439653" y="3353597"/>
                <a:ext cx="1198933" cy="315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实验表明：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321945" y="1085215"/>
                <a:ext cx="8549005" cy="14452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800" b="1" dirty="0">
                    <a:solidFill>
                      <a:srgbClr val="053CAF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  <a:cs typeface="+mj-cs"/>
                  </a:rPr>
                  <a:t>实验设置</a:t>
                </a:r>
                <a:endParaRPr lang="zh-CN" altLang="en-US" sz="1800" b="1" dirty="0">
                  <a:solidFill>
                    <a:srgbClr val="053CA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+mj-cs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仿真器：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StarPerf</a:t>
                </a:r>
                <a:endParaRPr lang="en-US" altLang="zh-CN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优化器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：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Gurobi 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和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SkyField</a:t>
                </a:r>
                <a:endParaRPr lang="en-US" altLang="zh-CN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参数配置：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每条激光 ISL 的容量设为 20 Gbps、每条共享 GSL 的容量设为 4 Gbps、最大</a:t>
                </a:r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ISL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链路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zh-CN" sz="1400" i="1">
                            <a:latin typeface="Cambria Math" panose="02040503050406030204" pitchFamily="18" charset="0"/>
                            <a:cs typeface="Cambria Math" panose="02040503050406030204" pitchFamily="18" charset="0"/>
                          </a:rPr>
                          <m:t>𝐼𝑆𝐿</m:t>
                        </m:r>
                      </m:sub>
                    </m:sSub>
                  </m:oMath>
                </a14:m>
                <a:r>
                  <a:rPr lang="en-US" altLang="zh-CN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 4</a:t>
                </a:r>
                <a:endParaRPr lang="zh-CN" altLang="en-US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lnSpc>
                    <a:spcPct val="125000"/>
                  </a:lnSpc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zh-CN" altLang="en-US" sz="1400" b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星座：</a:t>
                </a:r>
                <a:r>
                  <a:rPr lang="zh-CN" altLang="en-US" sz="140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Starlink，Kuiper ，基于人口的流量模型</a:t>
                </a:r>
                <a:endParaRPr lang="zh-CN" altLang="en-US" sz="140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945" y="1085215"/>
                <a:ext cx="8549005" cy="14452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图片 3" descr="{0433310D-FA58-459B-A2C8-1420F34359E9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490" y="3032760"/>
            <a:ext cx="3658870" cy="18611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506730" y="5321935"/>
                <a:ext cx="3716020" cy="11684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       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随着生存性需求提高，所需要的卫星数动态增加。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  <a:p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</a:t>
                </a:r>
                <a:r>
                  <a:rPr lang="en-US" altLang="zh-CN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      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即使在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400" baseline="-250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min</m:t>
                    </m:r>
                    <m: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=</m:t>
                    </m:r>
                    <m:r>
                      <a:rPr lang="en-US" altLang="zh-CN" sz="1400">
                        <a:latin typeface="Cambria Math" panose="02040503050406030204" pitchFamily="18" charset="0"/>
                        <a:ea typeface="微软雅黑" panose="020B0503020204020204" pitchFamily="34" charset="-122"/>
                        <a:cs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时，M</a:t>
                </a:r>
                <a:r>
                  <a:rPr lang="en-US" altLang="zh-CN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egaReduce</a:t>
                </a:r>
                <a:r>
                  <a:rPr lang="zh-CN" altLang="en-US" sz="1400">
                    <a:latin typeface="Times New Roman" panose="02020603050405020304" pitchFamily="18" charset="0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 也能为 Starlink 与 Kuiper 分别减少 20.05% 与 21.88% 的所需卫星总数。</a:t>
                </a:r>
                <a:endParaRPr lang="zh-CN" altLang="en-US" sz="1400">
                  <a:latin typeface="Times New Roman" panose="02020603050405020304" pitchFamily="18" charset="0"/>
                  <a:ea typeface="微软雅黑" panose="020B0503020204020204" pitchFamily="34" charset="-122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730" y="5321935"/>
                <a:ext cx="3716020" cy="116840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图片 11" descr="{1488BD40-7FF2-4C04-8AA5-2FC9FE3EA684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0285" y="3140710"/>
            <a:ext cx="3657600" cy="178439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4980309" y="2620645"/>
            <a:ext cx="349773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2——</a:t>
            </a:r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容量要求</a:t>
            </a:r>
            <a:r>
              <a:rPr lang="en-US" altLang="zh-CN" sz="22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endParaRPr lang="zh-CN" altLang="en-US" sz="2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: 圆角 31"/>
          <p:cNvSpPr/>
          <p:nvPr/>
        </p:nvSpPr>
        <p:spPr>
          <a:xfrm>
            <a:off x="4717253" y="4971296"/>
            <a:ext cx="3863975" cy="1710690"/>
          </a:xfrm>
          <a:prstGeom prst="roundRect">
            <a:avLst>
              <a:gd name="adj" fmla="val 10597"/>
            </a:avLst>
          </a:prstGeom>
          <a:solidFill>
            <a:schemeClr val="accent4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4801079" y="4997771"/>
            <a:ext cx="119893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实验表明：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4801235" y="5344160"/>
            <a:ext cx="3716020" cy="8604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  所需卫星数随每小区容量需求的增加而增加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。同时体现出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egaReduce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具备动态优化星座规模的能力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。</a:t>
            </a:r>
            <a:endParaRPr lang="zh-CN" altLang="en-US" sz="14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8" name="矩形 17"/>
          <p:cNvSpPr/>
          <p:nvPr/>
        </p:nvSpPr>
        <p:spPr>
          <a:xfrm>
            <a:off x="4822190" y="2829946"/>
            <a:ext cx="108744" cy="116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矩形 18"/>
          <p:cNvSpPr/>
          <p:nvPr/>
        </p:nvSpPr>
        <p:spPr>
          <a:xfrm>
            <a:off x="433374" y="2856762"/>
            <a:ext cx="58605" cy="6269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4863769" y="2856762"/>
            <a:ext cx="58605" cy="6269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81000" y="386715"/>
            <a:ext cx="3182620" cy="577215"/>
          </a:xfrm>
        </p:spPr>
        <p:txBody>
          <a:bodyPr/>
          <a:lstStyle/>
          <a:p>
            <a:r>
              <a:rPr lang="zh-CN" altLang="en-US" dirty="0"/>
              <a:t>实验结果与分析</a:t>
            </a:r>
            <a:r>
              <a:rPr lang="en-US" altLang="zh-CN" dirty="0"/>
              <a:t>(II)</a:t>
            </a:r>
            <a:endParaRPr lang="zh-CN" altLang="en-US" dirty="0"/>
          </a:p>
        </p:txBody>
      </p:sp>
      <p:grpSp>
        <p:nvGrpSpPr>
          <p:cNvPr id="102" name="组合 101"/>
          <p:cNvGrpSpPr/>
          <p:nvPr/>
        </p:nvGrpSpPr>
        <p:grpSpPr>
          <a:xfrm rot="0">
            <a:off x="281305" y="1062990"/>
            <a:ext cx="3888578" cy="3579377"/>
            <a:chOff x="331224" y="1127812"/>
            <a:chExt cx="3888584" cy="3346132"/>
          </a:xfrm>
        </p:grpSpPr>
        <p:grpSp>
          <p:nvGrpSpPr>
            <p:cNvPr id="100" name="组合 99"/>
            <p:cNvGrpSpPr/>
            <p:nvPr/>
          </p:nvGrpSpPr>
          <p:grpSpPr>
            <a:xfrm>
              <a:off x="331224" y="1127812"/>
              <a:ext cx="3597434" cy="401881"/>
              <a:chOff x="331224" y="1127812"/>
              <a:chExt cx="3597434" cy="401881"/>
            </a:xfrm>
          </p:grpSpPr>
          <p:sp>
            <p:nvSpPr>
              <p:cNvPr id="7" name="文本框 6"/>
              <p:cNvSpPr txBox="1"/>
              <p:nvPr/>
            </p:nvSpPr>
            <p:spPr>
              <a:xfrm>
                <a:off x="430923" y="1127812"/>
                <a:ext cx="3497735" cy="401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</a:t>
                </a:r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3——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时延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要求</a:t>
                </a:r>
                <a:r>
                  <a:rPr lang="en-US" altLang="zh-CN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3" name="组合 2"/>
              <p:cNvGrpSpPr/>
              <p:nvPr/>
            </p:nvGrpSpPr>
            <p:grpSpPr>
              <a:xfrm>
                <a:off x="331224" y="1318725"/>
                <a:ext cx="108744" cy="108744"/>
                <a:chOff x="1715911" y="4436533"/>
                <a:chExt cx="108744" cy="108744"/>
              </a:xfrm>
            </p:grpSpPr>
            <p:sp>
              <p:nvSpPr>
                <p:cNvPr id="4" name="矩形 3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5" name="矩形 4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01" name="组合 100"/>
            <p:cNvGrpSpPr/>
            <p:nvPr/>
          </p:nvGrpSpPr>
          <p:grpSpPr>
            <a:xfrm>
              <a:off x="355827" y="3378119"/>
              <a:ext cx="3863981" cy="1095825"/>
              <a:chOff x="355827" y="3378119"/>
              <a:chExt cx="3863981" cy="1095825"/>
            </a:xfrm>
          </p:grpSpPr>
          <p:sp>
            <p:nvSpPr>
              <p:cNvPr id="6" name="矩形: 圆角 31"/>
              <p:cNvSpPr/>
              <p:nvPr/>
            </p:nvSpPr>
            <p:spPr>
              <a:xfrm>
                <a:off x="355827" y="3378119"/>
                <a:ext cx="3863981" cy="1095825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439653" y="3430768"/>
                <a:ext cx="1198933" cy="315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实验表明：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pic>
        <p:nvPicPr>
          <p:cNvPr id="15" name="图片 14" descr="{0E138FAF-6962-4542-9F54-7A5EE1FFD3D1}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000" y="1509395"/>
            <a:ext cx="3657600" cy="1891862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389890" y="3946525"/>
            <a:ext cx="360108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400">
                <a:latin typeface="微软雅黑" panose="020B0503020204020204" pitchFamily="34" charset="-122"/>
                <a:ea typeface="微软雅黑" panose="020B0503020204020204" pitchFamily="34" charset="-122"/>
              </a:rPr>
              <a:t> 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时延需求越宽松时，所需卫星数越少，同时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MegaReduce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优化能力明显。</a:t>
            </a:r>
            <a:endParaRPr lang="zh-CN" altLang="en-US" sz="14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grpSp>
        <p:nvGrpSpPr>
          <p:cNvPr id="17" name="组合 16"/>
          <p:cNvGrpSpPr/>
          <p:nvPr/>
        </p:nvGrpSpPr>
        <p:grpSpPr>
          <a:xfrm rot="0">
            <a:off x="4477385" y="1089025"/>
            <a:ext cx="3888578" cy="3680341"/>
            <a:chOff x="331224" y="1127812"/>
            <a:chExt cx="3888584" cy="3440517"/>
          </a:xfrm>
        </p:grpSpPr>
        <p:grpSp>
          <p:nvGrpSpPr>
            <p:cNvPr id="18" name="组合 17"/>
            <p:cNvGrpSpPr/>
            <p:nvPr/>
          </p:nvGrpSpPr>
          <p:grpSpPr>
            <a:xfrm>
              <a:off x="331224" y="1127812"/>
              <a:ext cx="3597434" cy="401881"/>
              <a:chOff x="331224" y="1127812"/>
              <a:chExt cx="3597434" cy="401881"/>
            </a:xfrm>
          </p:grpSpPr>
          <p:sp>
            <p:nvSpPr>
              <p:cNvPr id="19" name="文本框 18"/>
              <p:cNvSpPr txBox="1"/>
              <p:nvPr/>
            </p:nvSpPr>
            <p:spPr>
              <a:xfrm>
                <a:off x="430923" y="1127812"/>
                <a:ext cx="3497735" cy="4018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</a:t>
                </a:r>
                <a:r>
                  <a:rPr lang="en-US" altLang="zh-CN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4——</a:t>
                </a:r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韧性分析</a:t>
                </a:r>
                <a:r>
                  <a:rPr lang="en-US" altLang="zh-CN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20" name="组合 19"/>
              <p:cNvGrpSpPr/>
              <p:nvPr/>
            </p:nvGrpSpPr>
            <p:grpSpPr>
              <a:xfrm>
                <a:off x="331224" y="1318725"/>
                <a:ext cx="108744" cy="108744"/>
                <a:chOff x="1715911" y="4436533"/>
                <a:chExt cx="108744" cy="108744"/>
              </a:xfrm>
            </p:grpSpPr>
            <p:sp>
              <p:nvSpPr>
                <p:cNvPr id="24" name="矩形 23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6" name="矩形 25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7" name="组合 26"/>
            <p:cNvGrpSpPr/>
            <p:nvPr/>
          </p:nvGrpSpPr>
          <p:grpSpPr>
            <a:xfrm>
              <a:off x="355827" y="3328848"/>
              <a:ext cx="3863981" cy="1239481"/>
              <a:chOff x="355827" y="3328848"/>
              <a:chExt cx="3863981" cy="1239481"/>
            </a:xfrm>
          </p:grpSpPr>
          <p:sp>
            <p:nvSpPr>
              <p:cNvPr id="34" name="矩形: 圆角 31"/>
              <p:cNvSpPr/>
              <p:nvPr/>
            </p:nvSpPr>
            <p:spPr>
              <a:xfrm>
                <a:off x="355827" y="3328848"/>
                <a:ext cx="3863981" cy="1239481"/>
              </a:xfrm>
              <a:prstGeom prst="roundRect">
                <a:avLst>
                  <a:gd name="adj" fmla="val 10597"/>
                </a:avLst>
              </a:prstGeom>
              <a:solidFill>
                <a:schemeClr val="accent4">
                  <a:lumMod val="20000"/>
                  <a:lumOff val="80000"/>
                  <a:alpha val="7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6" name="文本框 35"/>
              <p:cNvSpPr txBox="1"/>
              <p:nvPr/>
            </p:nvSpPr>
            <p:spPr>
              <a:xfrm>
                <a:off x="414888" y="3341131"/>
                <a:ext cx="1198933" cy="31521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 sz="16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实验表明：</a:t>
                </a:r>
                <a:endParaRPr lang="zh-CN" altLang="en-US" sz="16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38" name="文本框 37"/>
          <p:cNvSpPr txBox="1"/>
          <p:nvPr/>
        </p:nvSpPr>
        <p:spPr>
          <a:xfrm>
            <a:off x="4585970" y="3776980"/>
            <a:ext cx="3780155" cy="8553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400">
                <a:ea typeface="微软雅黑" panose="020B0503020204020204" pitchFamily="34" charset="-122"/>
              </a:rPr>
              <a:t>      随着被摧毁卫星数与失效率上升，可达通信对的总量下降。</a:t>
            </a:r>
            <a:endParaRPr lang="en-US" altLang="zh-CN" sz="1400">
              <a:ea typeface="微软雅黑" panose="020B0503020204020204" pitchFamily="34" charset="-122"/>
            </a:endParaRPr>
          </a:p>
          <a:p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    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在相同星座规模下，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zh-CN" altLang="en-US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通过取得更高的可达率优于 Ultra-Dense（对比论文）。</a:t>
            </a:r>
            <a:endParaRPr lang="zh-CN" altLang="en-US" sz="14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39" name="图片 38" descr="{DF0A99AE-F00A-48EA-A1C3-EB3C9C961395}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5970" y="1492885"/>
            <a:ext cx="3427095" cy="1880870"/>
          </a:xfrm>
          <a:prstGeom prst="rect">
            <a:avLst/>
          </a:prstGeom>
        </p:spPr>
      </p:pic>
      <p:pic>
        <p:nvPicPr>
          <p:cNvPr id="41" name="图片 40" descr="{7451B9F2-0E51-47B0-8423-1DFCAED544C7}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0965" y="4897120"/>
            <a:ext cx="3215005" cy="1850390"/>
          </a:xfrm>
          <a:prstGeom prst="rect">
            <a:avLst/>
          </a:prstGeom>
        </p:spPr>
      </p:pic>
      <p:sp>
        <p:nvSpPr>
          <p:cNvPr id="42" name="文本框 41"/>
          <p:cNvSpPr txBox="1"/>
          <p:nvPr/>
        </p:nvSpPr>
        <p:spPr>
          <a:xfrm>
            <a:off x="306705" y="4897120"/>
            <a:ext cx="1201420" cy="46482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</a:t>
            </a: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分期部署与星座调整 </a:t>
            </a:r>
            <a:endParaRPr lang="zh-CN" altLang="en-US" sz="22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265430" y="5070861"/>
            <a:ext cx="108744" cy="11632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矩形 49"/>
          <p:cNvSpPr/>
          <p:nvPr/>
        </p:nvSpPr>
        <p:spPr>
          <a:xfrm>
            <a:off x="307009" y="5097677"/>
            <a:ext cx="58605" cy="6269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1" name="矩形: 圆角 31"/>
          <p:cNvSpPr/>
          <p:nvPr/>
        </p:nvSpPr>
        <p:spPr>
          <a:xfrm>
            <a:off x="4629150" y="5093335"/>
            <a:ext cx="3863975" cy="1654175"/>
          </a:xfrm>
          <a:prstGeom prst="roundRect">
            <a:avLst>
              <a:gd name="adj" fmla="val 10597"/>
            </a:avLst>
          </a:prstGeom>
          <a:solidFill>
            <a:schemeClr val="accent4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2" name="文本框 51"/>
          <p:cNvSpPr txBox="1"/>
          <p:nvPr/>
        </p:nvSpPr>
        <p:spPr>
          <a:xfrm>
            <a:off x="4708369" y="5160330"/>
            <a:ext cx="119893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实验表明：</a:t>
            </a:r>
            <a:endParaRPr lang="zh-CN" altLang="en-US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4725670" y="5471795"/>
            <a:ext cx="3767455" cy="11169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indent="0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ea typeface="微软雅黑" panose="020B0503020204020204" pitchFamily="34" charset="-122"/>
              </a:rPr>
              <a:t>      在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en-US" altLang="zh-CN" sz="1400">
                <a:ea typeface="微软雅黑" panose="020B0503020204020204" pitchFamily="34" charset="-122"/>
              </a:rPr>
              <a:t>的指导下，星座即便在分期部署的早期阶段也能取得更高的生存性。</a:t>
            </a:r>
            <a:endParaRPr lang="en-US" altLang="zh-CN" sz="1400">
              <a:ea typeface="微软雅黑" panose="020B0503020204020204" pitchFamily="34" charset="-122"/>
            </a:endParaRPr>
          </a:p>
          <a:p>
            <a:pPr marL="0" indent="0" latinLnBrk="0">
              <a:lnSpc>
                <a:spcPts val="2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zh-CN" sz="1400">
                <a:ea typeface="微软雅黑" panose="020B0503020204020204" pitchFamily="34" charset="-122"/>
              </a:rPr>
              <a:t>      当卫星数下降时，运营商按照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en-US" altLang="zh-CN" sz="1400">
                <a:ea typeface="微软雅黑" panose="020B0503020204020204" pitchFamily="34" charset="-122"/>
              </a:rPr>
              <a:t>的解及时调整 </a:t>
            </a:r>
            <a:r>
              <a:rPr lang="en-US" altLang="zh-CN" sz="14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LSN </a:t>
            </a:r>
            <a:r>
              <a:rPr lang="en-US" altLang="zh-CN" sz="1400">
                <a:ea typeface="微软雅黑" panose="020B0503020204020204" pitchFamily="34" charset="-122"/>
              </a:rPr>
              <a:t>结构，生存性衰落更慢。</a:t>
            </a:r>
            <a:endParaRPr lang="en-US" altLang="zh-CN" sz="1400"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cxnSp>
        <p:nvCxnSpPr>
          <p:cNvPr id="2" name="直接连接符 1"/>
          <p:cNvCxnSpPr/>
          <p:nvPr/>
        </p:nvCxnSpPr>
        <p:spPr>
          <a:xfrm>
            <a:off x="634365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" name="直接连接符 2"/>
          <p:cNvCxnSpPr/>
          <p:nvPr/>
        </p:nvCxnSpPr>
        <p:spPr>
          <a:xfrm>
            <a:off x="638810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4" name="直接连接符 3"/>
          <p:cNvCxnSpPr/>
          <p:nvPr/>
        </p:nvCxnSpPr>
        <p:spPr>
          <a:xfrm>
            <a:off x="8464550" y="52895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8460105" y="4328795"/>
            <a:ext cx="4445" cy="1864995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/>
        </p:nvCxnSpPr>
        <p:spPr>
          <a:xfrm flipH="1">
            <a:off x="634365" y="52895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" name="直接连接符 6"/>
          <p:cNvCxnSpPr/>
          <p:nvPr/>
        </p:nvCxnSpPr>
        <p:spPr>
          <a:xfrm flipH="1">
            <a:off x="6301105" y="536575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 flipH="1">
            <a:off x="643255" y="619379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6301105" y="6186170"/>
            <a:ext cx="2159000" cy="7620"/>
          </a:xfrm>
          <a:prstGeom prst="line">
            <a:avLst/>
          </a:prstGeom>
          <a:ln w="8890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268" name="椭圆 7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2425065" y="3058795"/>
            <a:ext cx="1158240" cy="612140"/>
          </a:xfrm>
          <a:prstGeom prst="ellipse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9050">
                <a:solidFill>
                  <a:srgbClr val="000000"/>
                </a:solidFill>
                <a:round/>
              </a14:hiddenLine>
            </a:ext>
          </a:extLst>
        </p:spPr>
        <p:txBody>
          <a:bodyPr lIns="0" tIns="0" rIns="0" bIns="0" anchor="ctr"/>
          <a:lstStyle/>
          <a:p>
            <a:pPr algn="ctr" eaLnBrk="1" hangingPunct="1">
              <a:buFont typeface="Arial" panose="020B0604020202020204" pitchFamily="34" charset="0"/>
              <a:buNone/>
            </a:pPr>
            <a:r>
              <a:rPr lang="en-US" altLang="zh-CN" sz="4000" dirty="0">
                <a:solidFill>
                  <a:srgbClr val="053CAF"/>
                </a:solidFill>
                <a:latin typeface="Impact" panose="020B0806030902050204" pitchFamily="34" charset="0"/>
              </a:rPr>
              <a:t>04</a:t>
            </a:r>
            <a:endParaRPr lang="en-US" altLang="zh-CN" sz="4000" dirty="0">
              <a:solidFill>
                <a:srgbClr val="053CAF"/>
              </a:solidFill>
              <a:latin typeface="Impact" panose="020B0806030902050204" pitchFamily="34" charset="0"/>
            </a:endParaRPr>
          </a:p>
        </p:txBody>
      </p:sp>
      <p:sp>
        <p:nvSpPr>
          <p:cNvPr id="3080" name="文本框 19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486785" y="3058795"/>
            <a:ext cx="2814320" cy="6121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zh-CN" altLang="en-US" sz="4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结论与展望</a:t>
            </a:r>
            <a:endParaRPr lang="zh-CN" altLang="en-US" sz="40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: 圆角 31"/>
          <p:cNvSpPr/>
          <p:nvPr/>
        </p:nvSpPr>
        <p:spPr>
          <a:xfrm>
            <a:off x="496570" y="1580515"/>
            <a:ext cx="8249920" cy="1550670"/>
          </a:xfrm>
          <a:prstGeom prst="roundRect">
            <a:avLst>
              <a:gd name="adj" fmla="val 10597"/>
            </a:avLst>
          </a:prstGeom>
          <a:solidFill>
            <a:schemeClr val="accent4">
              <a:lumMod val="20000"/>
              <a:lumOff val="8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结论与展望</a:t>
            </a:r>
            <a:endParaRPr lang="zh-CN" altLang="en-US" dirty="0"/>
          </a:p>
        </p:txBody>
      </p:sp>
      <p:grpSp>
        <p:nvGrpSpPr>
          <p:cNvPr id="18" name="组合 17"/>
          <p:cNvGrpSpPr/>
          <p:nvPr/>
        </p:nvGrpSpPr>
        <p:grpSpPr>
          <a:xfrm>
            <a:off x="496324" y="1157654"/>
            <a:ext cx="7771376" cy="866892"/>
            <a:chOff x="496324" y="1157654"/>
            <a:chExt cx="7771376" cy="866892"/>
          </a:xfrm>
        </p:grpSpPr>
        <p:grpSp>
          <p:nvGrpSpPr>
            <p:cNvPr id="3" name="组合 2"/>
            <p:cNvGrpSpPr/>
            <p:nvPr/>
          </p:nvGrpSpPr>
          <p:grpSpPr>
            <a:xfrm>
              <a:off x="496324" y="1157654"/>
              <a:ext cx="1413039" cy="430887"/>
              <a:chOff x="1699726" y="4275460"/>
              <a:chExt cx="1413039" cy="430887"/>
            </a:xfrm>
          </p:grpSpPr>
          <p:sp>
            <p:nvSpPr>
              <p:cNvPr id="4" name="文本框 3"/>
              <p:cNvSpPr txBox="1"/>
              <p:nvPr/>
            </p:nvSpPr>
            <p:spPr>
              <a:xfrm>
                <a:off x="1799585" y="4275460"/>
                <a:ext cx="131318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研究结论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5" name="组合 4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6" name="矩形 5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7" name="矩形 6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8" name="文本框 7"/>
            <p:cNvSpPr txBox="1"/>
            <p:nvPr/>
          </p:nvSpPr>
          <p:spPr>
            <a:xfrm>
              <a:off x="605068" y="1573696"/>
              <a:ext cx="7662632" cy="4508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endPara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7" name="组合 16"/>
          <p:cNvGrpSpPr/>
          <p:nvPr/>
        </p:nvGrpSpPr>
        <p:grpSpPr>
          <a:xfrm>
            <a:off x="496324" y="4941860"/>
            <a:ext cx="8042608" cy="854386"/>
            <a:chOff x="496324" y="5068860"/>
            <a:chExt cx="8042608" cy="854386"/>
          </a:xfrm>
        </p:grpSpPr>
        <p:grpSp>
          <p:nvGrpSpPr>
            <p:cNvPr id="11" name="组合 10"/>
            <p:cNvGrpSpPr/>
            <p:nvPr/>
          </p:nvGrpSpPr>
          <p:grpSpPr>
            <a:xfrm>
              <a:off x="496324" y="5068860"/>
              <a:ext cx="1413039" cy="430887"/>
              <a:chOff x="1699726" y="4275460"/>
              <a:chExt cx="1413039" cy="430887"/>
            </a:xfrm>
          </p:grpSpPr>
          <p:sp>
            <p:nvSpPr>
              <p:cNvPr id="12" name="文本框 11"/>
              <p:cNvSpPr txBox="1"/>
              <p:nvPr/>
            </p:nvSpPr>
            <p:spPr>
              <a:xfrm>
                <a:off x="1799585" y="4275460"/>
                <a:ext cx="1313180" cy="43088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未来工作</a:t>
                </a:r>
                <a:endPara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grpSp>
            <p:nvGrpSpPr>
              <p:cNvPr id="13" name="组合 12"/>
              <p:cNvGrpSpPr/>
              <p:nvPr/>
            </p:nvGrpSpPr>
            <p:grpSpPr>
              <a:xfrm>
                <a:off x="1699726" y="4436531"/>
                <a:ext cx="108744" cy="108744"/>
                <a:chOff x="1715911" y="4436533"/>
                <a:chExt cx="108744" cy="108744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1715911" y="4436533"/>
                  <a:ext cx="108744" cy="108744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15" name="矩形 14"/>
                <p:cNvSpPr/>
                <p:nvPr/>
              </p:nvSpPr>
              <p:spPr>
                <a:xfrm>
                  <a:off x="1740980" y="4461602"/>
                  <a:ext cx="58605" cy="58605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</p:grpSp>
        <p:sp>
          <p:nvSpPr>
            <p:cNvPr id="16" name="文本框 15"/>
            <p:cNvSpPr txBox="1"/>
            <p:nvPr/>
          </p:nvSpPr>
          <p:spPr>
            <a:xfrm>
              <a:off x="579998" y="5472396"/>
              <a:ext cx="7958934" cy="45085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indent="0">
                <a:lnSpc>
                  <a:spcPct val="130000"/>
                </a:lnSpc>
                <a:buFont typeface="Arial" panose="020B0604020202020204" pitchFamily="34" charset="0"/>
                <a:buNone/>
              </a:pPr>
              <a:endParaRPr lang="zh-CN" altLang="en-US" b="1" dirty="0">
                <a:solidFill>
                  <a:srgbClr val="053CA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496570" y="3242945"/>
            <a:ext cx="1695450" cy="431165"/>
            <a:chOff x="1699726" y="4275460"/>
            <a:chExt cx="1695168" cy="430887"/>
          </a:xfrm>
        </p:grpSpPr>
        <p:sp>
          <p:nvSpPr>
            <p:cNvPr id="20" name="文本框 19"/>
            <p:cNvSpPr txBox="1"/>
            <p:nvPr/>
          </p:nvSpPr>
          <p:spPr>
            <a:xfrm>
              <a:off x="1799585" y="4275460"/>
              <a:ext cx="159530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优势与劣势</a:t>
              </a:r>
              <a:endParaRPr lang="zh-CN" altLang="en-US" sz="2200" b="1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grpSp>
          <p:nvGrpSpPr>
            <p:cNvPr id="21" name="组合 20"/>
            <p:cNvGrpSpPr/>
            <p:nvPr/>
          </p:nvGrpSpPr>
          <p:grpSpPr>
            <a:xfrm>
              <a:off x="1699726" y="4436531"/>
              <a:ext cx="108744" cy="108744"/>
              <a:chOff x="1715911" y="4436533"/>
              <a:chExt cx="108744" cy="108744"/>
            </a:xfrm>
          </p:grpSpPr>
          <p:sp>
            <p:nvSpPr>
              <p:cNvPr id="22" name="矩形 21"/>
              <p:cNvSpPr/>
              <p:nvPr/>
            </p:nvSpPr>
            <p:spPr>
              <a:xfrm>
                <a:off x="1715911" y="4436533"/>
                <a:ext cx="108744" cy="108744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1740980" y="4461602"/>
                <a:ext cx="58605" cy="58605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sp>
        <p:nvSpPr>
          <p:cNvPr id="9" name="文本框 8"/>
          <p:cNvSpPr txBox="1"/>
          <p:nvPr/>
        </p:nvSpPr>
        <p:spPr>
          <a:xfrm>
            <a:off x="555625" y="1649730"/>
            <a:ext cx="8190865" cy="143764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本文首先形式化了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可生存且高性能（</a:t>
            </a:r>
            <a:r>
              <a:rPr lang="en-US" altLang="zh-CN" sz="1600" b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SPLD</a:t>
            </a:r>
            <a:r>
              <a:rPr lang="zh-CN" altLang="en-US" sz="1600" b="1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）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设计问题，目标是满足各项约束的同时找到所需的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最少卫星数</a:t>
            </a:r>
            <a:endParaRPr lang="zh-CN" altLang="en-US" sz="1600" b="1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提出了一种</a:t>
            </a:r>
            <a:r>
              <a:rPr lang="zh-CN" altLang="en-US" sz="1600" b="1">
                <a:solidFill>
                  <a:schemeClr val="accent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需求驱动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、成本有效的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LSN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设计方法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MegaReduce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，能在多项式时间内计算出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SPLD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的近最优解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  <a:sym typeface="+mn-ea"/>
              </a:rPr>
              <a:t>MegaReduce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方案在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Starlink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和</a:t>
            </a:r>
            <a:r>
              <a:rPr lang="en-US" altLang="zh-CN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Kuiper </a:t>
            </a:r>
            <a:r>
              <a:rPr lang="zh-CN" altLang="en-US" sz="1600"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上验证了有效性和可行性</a:t>
            </a:r>
            <a:endParaRPr lang="zh-CN" altLang="en-US" sz="1600"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635000" y="3741420"/>
            <a:ext cx="2550160" cy="4502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生存性与性能协同优化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圆角矩形 23"/>
          <p:cNvSpPr/>
          <p:nvPr/>
        </p:nvSpPr>
        <p:spPr>
          <a:xfrm>
            <a:off x="3608705" y="3739515"/>
            <a:ext cx="1924050" cy="4502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有向分层图机制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5955665" y="3728720"/>
            <a:ext cx="1403350" cy="45021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运营商友好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754380" y="4377055"/>
            <a:ext cx="1580515" cy="459105"/>
          </a:xfrm>
          <a:prstGeom prst="roundRect">
            <a:avLst/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跳数当延迟</a:t>
            </a:r>
            <a:endParaRPr lang="zh-CN" altLang="en-US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2651760" y="4377055"/>
            <a:ext cx="2788285" cy="459105"/>
          </a:xfrm>
          <a:prstGeom prst="roundRect">
            <a:avLst/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不考虑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 GEO </a:t>
            </a:r>
            <a:r>
              <a:rPr lang="zh-CN" altLang="en-US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的多层方案</a:t>
            </a:r>
            <a:endParaRPr lang="zh-CN" altLang="en-US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5756910" y="4377055"/>
            <a:ext cx="1800860" cy="459105"/>
          </a:xfrm>
          <a:prstGeom prst="roundRect">
            <a:avLst/>
          </a:prstGeom>
          <a:solidFill>
            <a:srgbClr val="FFB7B7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容量只算</a:t>
            </a:r>
            <a:r>
              <a:rPr lang="en-US" altLang="zh-CN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ea typeface="微软雅黑" panose="020B0503020204020204" pitchFamily="34" charset="-122"/>
                <a:cs typeface="Times New Roman" panose="02020603050405020304" pitchFamily="18" charset="0"/>
              </a:rPr>
              <a:t>GSL</a:t>
            </a:r>
            <a:endParaRPr lang="en-US" altLang="zh-CN">
              <a:solidFill>
                <a:schemeClr val="tx1"/>
              </a:solidFill>
              <a:latin typeface="Times New Roman" panose="02020603050405020304" pitchFamily="18" charset="0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90550" y="5445125"/>
            <a:ext cx="786447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真实传播时延替代跳数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与路由</a:t>
            </a: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t>调度结合</a:t>
            </a:r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>
            <a:spLocks noChangeArrowheads="1"/>
          </p:cNvSpPr>
          <p:nvPr/>
        </p:nvSpPr>
        <p:spPr bwMode="auto">
          <a:xfrm>
            <a:off x="797719" y="2783785"/>
            <a:ext cx="7927181" cy="1410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lnSpc>
                <a:spcPct val="130000"/>
              </a:lnSpc>
            </a:pPr>
            <a:r>
              <a:rPr lang="zh-CN" altLang="en-US" sz="33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谢谢大家！</a:t>
            </a:r>
            <a:endParaRPr lang="en-US" altLang="zh-CN" sz="33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hangingPunct="1">
              <a:lnSpc>
                <a:spcPct val="130000"/>
              </a:lnSpc>
            </a:pPr>
            <a:r>
              <a:rPr lang="en-US" altLang="zh-CN" sz="3300" b="1" dirty="0">
                <a:solidFill>
                  <a:schemeClr val="bg1"/>
                </a:solidFill>
                <a:latin typeface="Consolas" panose="020B0609020204030204" charset="0"/>
                <a:ea typeface="微软雅黑" panose="020B0503020204020204" pitchFamily="34" charset="-122"/>
                <a:cs typeface="Consolas" panose="020B0609020204030204" charset="0"/>
              </a:rPr>
              <a:t>Thank you!</a:t>
            </a:r>
            <a:endParaRPr lang="zh-CN" altLang="en-US" sz="3300" b="1" dirty="0">
              <a:solidFill>
                <a:schemeClr val="bg1"/>
              </a:solidFill>
              <a:latin typeface="Consolas" panose="020B0609020204030204" charset="0"/>
              <a:ea typeface="微软雅黑" panose="020B0503020204020204" pitchFamily="34" charset="-122"/>
              <a:cs typeface="Consolas" panose="020B0609020204030204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3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4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5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6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7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8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9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0.xml><?xml version="1.0" encoding="utf-8"?>
<p:tagLst xmlns:p="http://schemas.openxmlformats.org/presentationml/2006/main">
  <p:tag name="KSO_WM_DIAGRAM_VIRTUALLY_FRAME" val="{&quot;height&quot;:292.04803149606295,&quot;left&quot;:8.49763779527559,&quot;top&quot;:188.41881889763778,&quot;width&quot;:709.7128346456693}"/>
</p:tagLst>
</file>

<file path=ppt/tags/tag11.xml><?xml version="1.0" encoding="utf-8"?>
<p:tagLst xmlns:p="http://schemas.openxmlformats.org/presentationml/2006/main">
  <p:tag name="KSO_WM_DIAGRAM_VIRTUALLY_FRAME" val="{&quot;height&quot;:292.04803149606295,&quot;left&quot;:8.49763779527559,&quot;top&quot;:188.41881889763778,&quot;width&quot;:709.7128346456693}"/>
</p:tagLst>
</file>

<file path=ppt/tags/tag12.xml><?xml version="1.0" encoding="utf-8"?>
<p:tagLst xmlns:p="http://schemas.openxmlformats.org/presentationml/2006/main">
  <p:tag name="KSO_WM_DIAGRAM_VIRTUALLY_FRAME" val="{&quot;height&quot;:292.04803149606295,&quot;left&quot;:8.49763779527559,&quot;top&quot;:188.41881889763778,&quot;width&quot;:709.7128346456693}"/>
</p:tagLst>
</file>

<file path=ppt/tags/tag13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4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5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6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17.xml><?xml version="1.0" encoding="utf-8"?>
<p:tagLst xmlns:p="http://schemas.openxmlformats.org/presentationml/2006/main">
  <p:tag name="TABLE_ENDDRAG_ORIGIN_RECT" val="433*50"/>
  <p:tag name="TABLE_ENDDRAG_RECT" val="59*212*433*50"/>
</p:tagLst>
</file>

<file path=ppt/tags/tag18.xml><?xml version="1.0" encoding="utf-8"?>
<p:tagLst xmlns:p="http://schemas.openxmlformats.org/presentationml/2006/main">
  <p:tag name="TABLE_ENDDRAG_ORIGIN_RECT" val="433*50"/>
  <p:tag name="TABLE_ENDDRAG_RECT" val="59*212*433*50"/>
</p:tagLst>
</file>

<file path=ppt/tags/tag19.xml><?xml version="1.0" encoding="utf-8"?>
<p:tagLst xmlns:p="http://schemas.openxmlformats.org/presentationml/2006/main">
  <p:tag name="TABLE_ENDDRAG_ORIGIN_RECT" val="629*99"/>
  <p:tag name="TABLE_ENDDRAG_RECT" val="70*140*629*99"/>
</p:tagLst>
</file>

<file path=ppt/tags/tag20.xml><?xml version="1.0" encoding="utf-8"?>
<p:tagLst xmlns:p="http://schemas.openxmlformats.org/presentationml/2006/main">
  <p:tag name="TABLE_ENDDRAG_ORIGIN_RECT" val="629*99"/>
  <p:tag name="TABLE_ENDDRAG_RECT" val="70*140*629*99"/>
</p:tagLst>
</file>

<file path=ppt/tags/tag21.xml><?xml version="1.0" encoding="utf-8"?>
<p:tagLst xmlns:p="http://schemas.openxmlformats.org/presentationml/2006/main">
  <p:tag name="TABLE_ENDDRAG_ORIGIN_RECT" val="188*215"/>
  <p:tag name="TABLE_ENDDRAG_RECT" val="447*94*188*215"/>
</p:tagLst>
</file>

<file path=ppt/tags/tag22.xml><?xml version="1.0" encoding="utf-8"?>
<p:tagLst xmlns:p="http://schemas.openxmlformats.org/presentationml/2006/main">
  <p:tag name="TABLE_ENDDRAG_ORIGIN_RECT" val="188*215"/>
  <p:tag name="TABLE_ENDDRAG_RECT" val="447*94*188*215"/>
</p:tagLst>
</file>

<file path=ppt/tags/tag23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4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5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6.xml><?xml version="1.0" encoding="utf-8"?>
<p:tagLst xmlns:p="http://schemas.openxmlformats.org/presentationml/2006/main">
  <p:tag name="KSO_WM_DIAGRAM_VIRTUALLY_FRAME" val="{&quot;height&quot;:337.548031496063,&quot;left&quot;:8.49763779527559,&quot;top&quot;:142.91881889763778,&quot;width&quot;:709.7128346456693}"/>
</p:tagLst>
</file>

<file path=ppt/tags/tag27.xml><?xml version="1.0" encoding="utf-8"?>
<p:tagLst xmlns:p="http://schemas.openxmlformats.org/presentationml/2006/main">
  <p:tag name="COMMONDATA" val="eyJoZGlkIjoiN2U2MDEyMzcwNDcyN2RhZGI3YzgyMDlhNzY5Y2U0MmEifQ=="/>
</p:tagLst>
</file>

<file path=ppt/theme/theme1.xml><?xml version="1.0" encoding="utf-8"?>
<a:theme xmlns:a="http://schemas.openxmlformats.org/drawingml/2006/main" name="Office 主题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3631</Words>
  <Application>WPS 演示</Application>
  <PresentationFormat>全屏显示(4:3)</PresentationFormat>
  <Paragraphs>308</Paragraphs>
  <Slides>18</Slides>
  <Notes>13</Notes>
  <HiddenSlides>0</HiddenSlides>
  <MMClips>0</MMClips>
  <ScaleCrop>false</ScaleCrop>
  <HeadingPairs>
    <vt:vector size="8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9</vt:i4>
      </vt:variant>
      <vt:variant>
        <vt:lpstr>幻灯片标题</vt:lpstr>
      </vt:variant>
      <vt:variant>
        <vt:i4>18</vt:i4>
      </vt:variant>
    </vt:vector>
  </HeadingPairs>
  <TitlesOfParts>
    <vt:vector size="48" baseType="lpstr">
      <vt:lpstr>Arial</vt:lpstr>
      <vt:lpstr>宋体</vt:lpstr>
      <vt:lpstr>Wingdings</vt:lpstr>
      <vt:lpstr>Calibri</vt:lpstr>
      <vt:lpstr>幼圆</vt:lpstr>
      <vt:lpstr>Times New Roman</vt:lpstr>
      <vt:lpstr>微软雅黑</vt:lpstr>
      <vt:lpstr>方正大标宋_GBK</vt:lpstr>
      <vt:lpstr>华文楷体</vt:lpstr>
      <vt:lpstr>Impact</vt:lpstr>
      <vt:lpstr>华文中宋</vt:lpstr>
      <vt:lpstr>Cambria Math</vt:lpstr>
      <vt:lpstr>楷体</vt:lpstr>
      <vt:lpstr>MS Mincho</vt:lpstr>
      <vt:lpstr>Consolas</vt:lpstr>
      <vt:lpstr>Arial Unicode MS</vt:lpstr>
      <vt:lpstr>等线 Light</vt:lpstr>
      <vt:lpstr>Calibri Light</vt:lpstr>
      <vt:lpstr>等线</vt:lpstr>
      <vt:lpstr>Segoe Print</vt:lpstr>
      <vt:lpstr>Office 主题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PowerPoint 演示文稿</vt:lpstr>
      <vt:lpstr>PowerPoint 演示文稿</vt:lpstr>
      <vt:lpstr>PowerPoint 演示文稿</vt:lpstr>
      <vt:lpstr>研究背景与问题分析</vt:lpstr>
      <vt:lpstr>研究目标和创新点</vt:lpstr>
      <vt:lpstr>PowerPoint 演示文稿</vt:lpstr>
      <vt:lpstr>SPLD 问题建模</vt:lpstr>
      <vt:lpstr>生存性要求</vt:lpstr>
      <vt:lpstr>时延要求（有向分层图 转化）</vt:lpstr>
      <vt:lpstr>MegaReduce 模型定义</vt:lpstr>
      <vt:lpstr>算法流程(I) </vt:lpstr>
      <vt:lpstr>算法流程(II)</vt:lpstr>
      <vt:lpstr>PowerPoint 演示文稿</vt:lpstr>
      <vt:lpstr>实验结果与分析(I)</vt:lpstr>
      <vt:lpstr>实验结果与分析(II)</vt:lpstr>
      <vt:lpstr>PowerPoint 演示文稿</vt:lpstr>
      <vt:lpstr>结论与展望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匿名用户</dc:creator>
  <cp:lastModifiedBy>Administrator</cp:lastModifiedBy>
  <cp:revision>2442</cp:revision>
  <cp:lastPrinted>2015-02-11T06:26:00Z</cp:lastPrinted>
  <dcterms:created xsi:type="dcterms:W3CDTF">2015-01-23T00:15:00Z</dcterms:created>
  <dcterms:modified xsi:type="dcterms:W3CDTF">2026-10-23T07:44:20Z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47E1995FD5194BC3BCC66F719D8E0CC9_12</vt:lpwstr>
  </property>
  <property fmtid="{D5CDD505-2E9C-101B-9397-08002B2CF9AE}" pid="3" name="KSOProductBuildVer">
    <vt:lpwstr>2052-12.8.2.17838</vt:lpwstr>
  </property>
</Properties>
</file>